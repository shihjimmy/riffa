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3"/>
  </p:notesMasterIdLst>
  <p:sldIdLst>
    <p:sldId id="256" r:id="rId2"/>
    <p:sldId id="257" r:id="rId3"/>
    <p:sldId id="323" r:id="rId4"/>
    <p:sldId id="258" r:id="rId5"/>
    <p:sldId id="259" r:id="rId6"/>
    <p:sldId id="260" r:id="rId7"/>
    <p:sldId id="261" r:id="rId8"/>
    <p:sldId id="262" r:id="rId9"/>
    <p:sldId id="324" r:id="rId10"/>
    <p:sldId id="325" r:id="rId11"/>
    <p:sldId id="263" r:id="rId12"/>
    <p:sldId id="264" r:id="rId13"/>
    <p:sldId id="265" r:id="rId14"/>
    <p:sldId id="271" r:id="rId15"/>
    <p:sldId id="610" r:id="rId16"/>
    <p:sldId id="272" r:id="rId17"/>
    <p:sldId id="268" r:id="rId18"/>
    <p:sldId id="318" r:id="rId19"/>
    <p:sldId id="321" r:id="rId20"/>
    <p:sldId id="319" r:id="rId21"/>
    <p:sldId id="320" r:id="rId22"/>
    <p:sldId id="317" r:id="rId23"/>
    <p:sldId id="267" r:id="rId24"/>
    <p:sldId id="266" r:id="rId25"/>
    <p:sldId id="322" r:id="rId26"/>
    <p:sldId id="303" r:id="rId27"/>
    <p:sldId id="304" r:id="rId28"/>
    <p:sldId id="306" r:id="rId29"/>
    <p:sldId id="305" r:id="rId30"/>
    <p:sldId id="288" r:id="rId31"/>
    <p:sldId id="273" r:id="rId32"/>
    <p:sldId id="326" r:id="rId33"/>
    <p:sldId id="270" r:id="rId34"/>
    <p:sldId id="274" r:id="rId35"/>
    <p:sldId id="275" r:id="rId36"/>
    <p:sldId id="276" r:id="rId37"/>
    <p:sldId id="277" r:id="rId38"/>
    <p:sldId id="278" r:id="rId39"/>
    <p:sldId id="279" r:id="rId40"/>
    <p:sldId id="327" r:id="rId41"/>
    <p:sldId id="316" r:id="rId42"/>
    <p:sldId id="280" r:id="rId43"/>
    <p:sldId id="281" r:id="rId44"/>
    <p:sldId id="282" r:id="rId45"/>
    <p:sldId id="283" r:id="rId46"/>
    <p:sldId id="284" r:id="rId47"/>
    <p:sldId id="285" r:id="rId48"/>
    <p:sldId id="313" r:id="rId49"/>
    <p:sldId id="314" r:id="rId50"/>
    <p:sldId id="269" r:id="rId51"/>
    <p:sldId id="315" r:id="rId52"/>
    <p:sldId id="289" r:id="rId53"/>
    <p:sldId id="612" r:id="rId54"/>
    <p:sldId id="328" r:id="rId55"/>
    <p:sldId id="611" r:id="rId56"/>
    <p:sldId id="568" r:id="rId57"/>
    <p:sldId id="566" r:id="rId58"/>
    <p:sldId id="569" r:id="rId59"/>
    <p:sldId id="602" r:id="rId60"/>
    <p:sldId id="600" r:id="rId61"/>
    <p:sldId id="601" r:id="rId62"/>
    <p:sldId id="570" r:id="rId63"/>
    <p:sldId id="603" r:id="rId64"/>
    <p:sldId id="604" r:id="rId65"/>
    <p:sldId id="571" r:id="rId66"/>
    <p:sldId id="605" r:id="rId67"/>
    <p:sldId id="606" r:id="rId68"/>
    <p:sldId id="573" r:id="rId69"/>
    <p:sldId id="595" r:id="rId70"/>
    <p:sldId id="607" r:id="rId71"/>
    <p:sldId id="608" r:id="rId72"/>
    <p:sldId id="609" r:id="rId73"/>
    <p:sldId id="574" r:id="rId74"/>
    <p:sldId id="591" r:id="rId75"/>
    <p:sldId id="578" r:id="rId76"/>
    <p:sldId id="579" r:id="rId77"/>
    <p:sldId id="597" r:id="rId78"/>
    <p:sldId id="599" r:id="rId79"/>
    <p:sldId id="598" r:id="rId80"/>
    <p:sldId id="592" r:id="rId81"/>
    <p:sldId id="575" r:id="rId82"/>
    <p:sldId id="580" r:id="rId83"/>
    <p:sldId id="581" r:id="rId84"/>
    <p:sldId id="582" r:id="rId85"/>
    <p:sldId id="583" r:id="rId86"/>
    <p:sldId id="565" r:id="rId87"/>
    <p:sldId id="593" r:id="rId88"/>
    <p:sldId id="561" r:id="rId89"/>
    <p:sldId id="562" r:id="rId90"/>
    <p:sldId id="589" r:id="rId91"/>
    <p:sldId id="554" r:id="rId92"/>
    <p:sldId id="290" r:id="rId93"/>
    <p:sldId id="291" r:id="rId94"/>
    <p:sldId id="292" r:id="rId95"/>
    <p:sldId id="293" r:id="rId96"/>
    <p:sldId id="294" r:id="rId97"/>
    <p:sldId id="295" r:id="rId98"/>
    <p:sldId id="296" r:id="rId99"/>
    <p:sldId id="300" r:id="rId100"/>
    <p:sldId id="301" r:id="rId101"/>
    <p:sldId id="302" r:id="rId10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4" roundtripDataSignature="AMtx7mjPHx5ICzX41c+FY5QJMD3/bVHtB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F158DB1-E632-4587-992C-7FC52A8DE03A}">
  <a:tblStyle styleId="{3F158DB1-E632-4587-992C-7FC52A8DE03A}"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A529AEC-49ED-4D0A-81CD-03B23D9B34B1}" styleName="Table_1">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97" autoAdjust="0"/>
    <p:restoredTop sz="95801" autoAdjust="0"/>
  </p:normalViewPr>
  <p:slideViewPr>
    <p:cSldViewPr snapToGrid="0">
      <p:cViewPr>
        <p:scale>
          <a:sx n="100" d="100"/>
          <a:sy n="100" d="100"/>
        </p:scale>
        <p:origin x="893"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customschemas.google.com/relationships/presentationmetadata" Target="meta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7778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2" name="Google Shape;102;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28" name="Google Shape;128;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57356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3" name="Google Shape;153;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8295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1" name="Google Shape;621;p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4" name="Google Shape;634;p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6" name="Google Shape;656;p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1" name="Google Shape;481;p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55964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15484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1617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0" name="Google Shape;390;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6" name="Google Shape;416;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E854811A-CEF7-BD24-1A05-9D30B4FCEAF1}"/>
            </a:ext>
          </a:extLst>
        </p:cNvPr>
        <p:cNvGrpSpPr/>
        <p:nvPr/>
      </p:nvGrpSpPr>
      <p:grpSpPr>
        <a:xfrm>
          <a:off x="0" y="0"/>
          <a:ext cx="0" cy="0"/>
          <a:chOff x="0" y="0"/>
          <a:chExt cx="0" cy="0"/>
        </a:xfrm>
      </p:grpSpPr>
      <p:sp>
        <p:nvSpPr>
          <p:cNvPr id="442" name="Google Shape;442;p30:notes">
            <a:extLst>
              <a:ext uri="{FF2B5EF4-FFF2-40B4-BE49-F238E27FC236}">
                <a16:creationId xmlns:a16="http://schemas.microsoft.com/office/drawing/2014/main" id="{37535CF7-3A1B-9719-94CF-01560334D33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30:notes">
            <a:extLst>
              <a:ext uri="{FF2B5EF4-FFF2-40B4-BE49-F238E27FC236}">
                <a16:creationId xmlns:a16="http://schemas.microsoft.com/office/drawing/2014/main" id="{2858F84A-1FA8-401D-9C21-45ED95AC09B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17178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DEF7EEA5-8B57-968E-592E-5BEC6670872C}"/>
            </a:ext>
          </a:extLst>
        </p:cNvPr>
        <p:cNvGrpSpPr/>
        <p:nvPr/>
      </p:nvGrpSpPr>
      <p:grpSpPr>
        <a:xfrm>
          <a:off x="0" y="0"/>
          <a:ext cx="0" cy="0"/>
          <a:chOff x="0" y="0"/>
          <a:chExt cx="0" cy="0"/>
        </a:xfrm>
      </p:grpSpPr>
      <p:sp>
        <p:nvSpPr>
          <p:cNvPr id="442" name="Google Shape;442;p30:notes">
            <a:extLst>
              <a:ext uri="{FF2B5EF4-FFF2-40B4-BE49-F238E27FC236}">
                <a16:creationId xmlns:a16="http://schemas.microsoft.com/office/drawing/2014/main" id="{D4857989-C284-16C0-B909-DB8DE0CE208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30:notes">
            <a:extLst>
              <a:ext uri="{FF2B5EF4-FFF2-40B4-BE49-F238E27FC236}">
                <a16:creationId xmlns:a16="http://schemas.microsoft.com/office/drawing/2014/main" id="{AE70D596-AAC0-BF6D-781C-DC53CBF79D7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11429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F4A2239C-90D6-B09D-69C0-73147D9A6612}"/>
            </a:ext>
          </a:extLst>
        </p:cNvPr>
        <p:cNvGrpSpPr/>
        <p:nvPr/>
      </p:nvGrpSpPr>
      <p:grpSpPr>
        <a:xfrm>
          <a:off x="0" y="0"/>
          <a:ext cx="0" cy="0"/>
          <a:chOff x="0" y="0"/>
          <a:chExt cx="0" cy="0"/>
        </a:xfrm>
      </p:grpSpPr>
      <p:sp>
        <p:nvSpPr>
          <p:cNvPr id="442" name="Google Shape;442;p30:notes">
            <a:extLst>
              <a:ext uri="{FF2B5EF4-FFF2-40B4-BE49-F238E27FC236}">
                <a16:creationId xmlns:a16="http://schemas.microsoft.com/office/drawing/2014/main" id="{C04FAE46-8C88-F269-0B42-D4A84CEED64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30:notes">
            <a:extLst>
              <a:ext uri="{FF2B5EF4-FFF2-40B4-BE49-F238E27FC236}">
                <a16:creationId xmlns:a16="http://schemas.microsoft.com/office/drawing/2014/main" id="{E6EC6B5F-8F60-A91C-F225-A18BDEAB1DD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03484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p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279446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631065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56</a:t>
            </a:fld>
            <a:endParaRPr lang="zh-TW" altLang="en-US"/>
          </a:p>
        </p:txBody>
      </p:sp>
    </p:spTree>
    <p:extLst>
      <p:ext uri="{BB962C8B-B14F-4D97-AF65-F5344CB8AC3E}">
        <p14:creationId xmlns:p14="http://schemas.microsoft.com/office/powerpoint/2010/main" val="14113081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EMIF</a:t>
            </a:r>
            <a:r>
              <a:rPr lang="zh-TW" altLang="en-US" dirty="0"/>
              <a:t>（</a:t>
            </a:r>
            <a:r>
              <a:rPr lang="en-US" altLang="zh-TW" dirty="0"/>
              <a:t>External Memory Interface</a:t>
            </a:r>
            <a:r>
              <a:rPr lang="zh-TW" altLang="en-US" dirty="0"/>
              <a:t>）是一個由 </a:t>
            </a:r>
            <a:r>
              <a:rPr lang="en-US" altLang="zh-TW" dirty="0"/>
              <a:t>Intel Quartus </a:t>
            </a:r>
            <a:r>
              <a:rPr lang="zh-TW" altLang="en-US" dirty="0"/>
              <a:t>自動產生的 </a:t>
            </a:r>
            <a:r>
              <a:rPr lang="en-US" altLang="zh-TW" dirty="0"/>
              <a:t>IP</a:t>
            </a:r>
            <a:r>
              <a:rPr lang="zh-TW" altLang="en-US" dirty="0"/>
              <a:t>，功能是：</a:t>
            </a:r>
          </a:p>
          <a:p>
            <a:pPr>
              <a:buFont typeface="Arial" panose="020B0604020202020204" pitchFamily="34" charset="0"/>
              <a:buChar char="•"/>
            </a:pPr>
            <a:r>
              <a:rPr lang="zh-TW" altLang="en-US" b="1" dirty="0"/>
              <a:t>對外提供 </a:t>
            </a:r>
            <a:r>
              <a:rPr lang="en-US" altLang="zh-TW" b="1" dirty="0"/>
              <a:t>Avalon-MM Slave </a:t>
            </a:r>
            <a:r>
              <a:rPr lang="zh-TW" altLang="en-US" b="1" dirty="0"/>
              <a:t>接口</a:t>
            </a:r>
            <a:endParaRPr lang="zh-TW" altLang="en-US" dirty="0"/>
          </a:p>
          <a:p>
            <a:pPr>
              <a:buFont typeface="Arial" panose="020B0604020202020204" pitchFamily="34" charset="0"/>
              <a:buChar char="•"/>
            </a:pPr>
            <a:r>
              <a:rPr lang="zh-TW" altLang="en-US" b="1" dirty="0"/>
              <a:t>對內翻譯成 </a:t>
            </a:r>
            <a:r>
              <a:rPr lang="en-US" altLang="zh-TW" b="1" dirty="0"/>
              <a:t>DDR </a:t>
            </a:r>
            <a:r>
              <a:rPr lang="zh-TW" altLang="en-US" b="1" dirty="0"/>
              <a:t>或 </a:t>
            </a:r>
            <a:r>
              <a:rPr lang="en-US" altLang="zh-TW" b="1" dirty="0"/>
              <a:t>DDR4 </a:t>
            </a:r>
            <a:r>
              <a:rPr lang="zh-TW" altLang="en-US" b="1" dirty="0"/>
              <a:t>的實體信號</a:t>
            </a:r>
            <a:r>
              <a:rPr lang="zh-TW" altLang="en-US" dirty="0"/>
              <a:t>（</a:t>
            </a:r>
            <a:r>
              <a:rPr lang="en-US" altLang="zh-TW" dirty="0"/>
              <a:t>DQS</a:t>
            </a:r>
            <a:r>
              <a:rPr lang="zh-TW" altLang="en-US" dirty="0"/>
              <a:t>、</a:t>
            </a:r>
            <a:r>
              <a:rPr lang="en-US" altLang="zh-TW" dirty="0"/>
              <a:t>DQ</a:t>
            </a:r>
            <a:r>
              <a:rPr lang="zh-TW" altLang="en-US" dirty="0"/>
              <a:t>、</a:t>
            </a:r>
            <a:r>
              <a:rPr lang="en-US" altLang="zh-TW" dirty="0"/>
              <a:t>ADDR</a:t>
            </a:r>
            <a:r>
              <a:rPr lang="zh-TW" altLang="en-US" dirty="0"/>
              <a:t>、</a:t>
            </a:r>
            <a:r>
              <a:rPr lang="en-US" altLang="zh-TW" dirty="0"/>
              <a:t>BA</a:t>
            </a:r>
            <a:r>
              <a:rPr lang="zh-TW" altLang="en-US" dirty="0"/>
              <a:t>、</a:t>
            </a:r>
            <a:r>
              <a:rPr lang="en-US" altLang="zh-TW" dirty="0"/>
              <a:t>CK </a:t>
            </a:r>
            <a:r>
              <a:rPr lang="zh-TW" altLang="en-US" dirty="0"/>
              <a:t>等）</a:t>
            </a:r>
          </a:p>
          <a:p>
            <a:pPr>
              <a:buFont typeface="Arial" panose="020B0604020202020204" pitchFamily="34" charset="0"/>
              <a:buChar char="•"/>
            </a:pPr>
            <a:r>
              <a:rPr lang="zh-TW" altLang="en-US" dirty="0"/>
              <a:t>你只要用 </a:t>
            </a:r>
            <a:r>
              <a:rPr lang="en-US" altLang="zh-TW" dirty="0"/>
              <a:t>Avalon-MM </a:t>
            </a:r>
            <a:r>
              <a:rPr lang="zh-TW" altLang="en-US" dirty="0"/>
              <a:t>對他送 </a:t>
            </a:r>
            <a:r>
              <a:rPr lang="en-US" altLang="zh-TW" dirty="0"/>
              <a:t>request</a:t>
            </a:r>
            <a:r>
              <a:rPr lang="zh-TW" altLang="en-US" dirty="0"/>
              <a:t>，他會幫你做 </a:t>
            </a:r>
            <a:r>
              <a:rPr lang="en-US" altLang="zh-TW" dirty="0"/>
              <a:t>timing + protocol </a:t>
            </a:r>
            <a:r>
              <a:rPr lang="zh-TW" altLang="en-US" dirty="0"/>
              <a:t>轉換</a:t>
            </a:r>
            <a:endParaRPr lang="en-US" altLang="zh-TW" dirty="0"/>
          </a:p>
          <a:p>
            <a:pPr>
              <a:buFont typeface="Arial" panose="020B0604020202020204" pitchFamily="34" charset="0"/>
              <a:buChar char="•"/>
            </a:pPr>
            <a:endParaRPr lang="en-US" altLang="zh-TW" dirty="0"/>
          </a:p>
          <a:p>
            <a:pPr>
              <a:buFont typeface="Arial" panose="020B0604020202020204" pitchFamily="34" charset="0"/>
              <a:buChar char="•"/>
            </a:pPr>
            <a:r>
              <a:rPr lang="en-US" altLang="zh-TW" dirty="0"/>
              <a:t>[</a:t>
            </a:r>
            <a:r>
              <a:rPr lang="zh-TW" altLang="en-US" dirty="0"/>
              <a:t>你的模組（</a:t>
            </a:r>
            <a:r>
              <a:rPr lang="en-US" altLang="zh-TW" dirty="0"/>
              <a:t>Master</a:t>
            </a:r>
            <a:r>
              <a:rPr lang="zh-TW" altLang="en-US" dirty="0"/>
              <a:t>）</a:t>
            </a:r>
            <a:r>
              <a:rPr lang="en-US" altLang="zh-TW" dirty="0"/>
              <a:t>]</a:t>
            </a:r>
          </a:p>
          <a:p>
            <a:pPr>
              <a:buFont typeface="Arial" panose="020B0604020202020204" pitchFamily="34" charset="0"/>
              <a:buChar char="•"/>
            </a:pPr>
            <a:r>
              <a:rPr lang="en-US" altLang="zh-TW" dirty="0"/>
              <a:t>     │</a:t>
            </a:r>
          </a:p>
          <a:p>
            <a:pPr>
              <a:buFont typeface="Arial" panose="020B0604020202020204" pitchFamily="34" charset="0"/>
              <a:buChar char="•"/>
            </a:pPr>
            <a:r>
              <a:rPr lang="en-US" altLang="zh-TW" dirty="0"/>
              <a:t>     ▼</a:t>
            </a:r>
          </a:p>
          <a:p>
            <a:pPr>
              <a:buFont typeface="Arial" panose="020B0604020202020204" pitchFamily="34" charset="0"/>
              <a:buChar char="•"/>
            </a:pPr>
            <a:r>
              <a:rPr lang="en-US" altLang="zh-TW" dirty="0"/>
              <a:t>[Avalon-MM </a:t>
            </a:r>
            <a:r>
              <a:rPr lang="zh-TW" altLang="en-US" dirty="0"/>
              <a:t>信號</a:t>
            </a:r>
            <a:r>
              <a:rPr lang="en-US" altLang="zh-TW" dirty="0"/>
              <a:t>]</a:t>
            </a:r>
          </a:p>
          <a:p>
            <a:pPr>
              <a:buFont typeface="Arial" panose="020B0604020202020204" pitchFamily="34" charset="0"/>
              <a:buChar char="•"/>
            </a:pPr>
            <a:r>
              <a:rPr lang="en-US" altLang="zh-TW" dirty="0"/>
              <a:t>     │</a:t>
            </a:r>
          </a:p>
          <a:p>
            <a:pPr>
              <a:buFont typeface="Arial" panose="020B0604020202020204" pitchFamily="34" charset="0"/>
              <a:buChar char="•"/>
            </a:pPr>
            <a:r>
              <a:rPr lang="en-US" altLang="zh-TW" dirty="0"/>
              <a:t>     ▼</a:t>
            </a:r>
          </a:p>
          <a:p>
            <a:pPr>
              <a:buFont typeface="Arial" panose="020B0604020202020204" pitchFamily="34" charset="0"/>
              <a:buChar char="•"/>
            </a:pPr>
            <a:r>
              <a:rPr lang="en-US" altLang="zh-TW" dirty="0"/>
              <a:t>[EMIF IP</a:t>
            </a:r>
            <a:r>
              <a:rPr lang="zh-TW" altLang="en-US" dirty="0"/>
              <a:t>（</a:t>
            </a:r>
            <a:r>
              <a:rPr lang="en-US" altLang="zh-TW" dirty="0"/>
              <a:t>Slave</a:t>
            </a:r>
            <a:r>
              <a:rPr lang="zh-TW" altLang="en-US" dirty="0"/>
              <a:t>）</a:t>
            </a:r>
            <a:r>
              <a:rPr lang="en-US" altLang="zh-TW" dirty="0"/>
              <a:t>]</a:t>
            </a:r>
          </a:p>
          <a:p>
            <a:pPr>
              <a:buFont typeface="Arial" panose="020B0604020202020204" pitchFamily="34" charset="0"/>
              <a:buChar char="•"/>
            </a:pPr>
            <a:r>
              <a:rPr lang="en-US" altLang="zh-TW" dirty="0"/>
              <a:t>     │</a:t>
            </a:r>
          </a:p>
          <a:p>
            <a:pPr>
              <a:buFont typeface="Arial" panose="020B0604020202020204" pitchFamily="34" charset="0"/>
              <a:buChar char="•"/>
            </a:pPr>
            <a:r>
              <a:rPr lang="en-US" altLang="zh-TW" dirty="0"/>
              <a:t>     ▼</a:t>
            </a:r>
          </a:p>
          <a:p>
            <a:pPr>
              <a:buFont typeface="Arial" panose="020B0604020202020204" pitchFamily="34" charset="0"/>
              <a:buChar char="•"/>
            </a:pPr>
            <a:r>
              <a:rPr lang="en-US" altLang="zh-TW" dirty="0"/>
              <a:t>[</a:t>
            </a:r>
            <a:r>
              <a:rPr lang="zh-TW" altLang="en-US" dirty="0"/>
              <a:t>實體 </a:t>
            </a:r>
            <a:r>
              <a:rPr lang="en-US" altLang="zh-TW" dirty="0"/>
              <a:t>DDR4 DRAM]</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57</a:t>
            </a:fld>
            <a:endParaRPr lang="zh-TW" altLang="en-US"/>
          </a:p>
        </p:txBody>
      </p:sp>
    </p:spTree>
    <p:extLst>
      <p:ext uri="{BB962C8B-B14F-4D97-AF65-F5344CB8AC3E}">
        <p14:creationId xmlns:p14="http://schemas.microsoft.com/office/powerpoint/2010/main" val="7362543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 master is an interface that initiates read and write transactions. A slave is an interface that responds to read and write transactions.”</a:t>
            </a:r>
            <a:br>
              <a:rPr lang="en-US" altLang="zh-TW" dirty="0"/>
            </a:br>
            <a:r>
              <a:rPr lang="en-US" altLang="zh-TW" dirty="0"/>
              <a:t>—《mnl_avalon_spec.pdf》§1.1, Avalon-MM Interface </a:t>
            </a:r>
            <a:r>
              <a:rPr lang="zh-TW" altLang="en-US" dirty="0"/>
              <a:t>概述</a:t>
            </a:r>
            <a:endParaRPr lang="en-US" altLang="zh-TW" dirty="0"/>
          </a:p>
          <a:p>
            <a:endParaRPr lang="en-US" altLang="zh-TW" dirty="0"/>
          </a:p>
          <a:p>
            <a:r>
              <a:rPr lang="en-US" altLang="zh-TW" dirty="0"/>
              <a:t>The interconnect fabric connects master interfaces to slave interfaces…”</a:t>
            </a:r>
          </a:p>
          <a:p>
            <a:r>
              <a:rPr lang="zh-TW" altLang="en-US" dirty="0"/>
              <a:t>也就是說，系統中會有「</a:t>
            </a:r>
            <a:r>
              <a:rPr lang="en-US" altLang="zh-TW" dirty="0"/>
              <a:t>Master → Fabric → Slave</a:t>
            </a:r>
            <a:r>
              <a:rPr lang="zh-TW" altLang="en-US" dirty="0"/>
              <a:t>」的單向控制關係，你是主控端</a:t>
            </a:r>
            <a:endParaRPr lang="en-US" altLang="zh-TW" dirty="0"/>
          </a:p>
          <a:p>
            <a:endParaRPr lang="en-US" altLang="zh-TW" dirty="0"/>
          </a:p>
          <a:p>
            <a:r>
              <a:rPr lang="zh-TW" altLang="en-US" dirty="0"/>
              <a:t>你是 </a:t>
            </a:r>
            <a:r>
              <a:rPr lang="en-US" altLang="zh-TW" dirty="0"/>
              <a:t>Avalon-MM </a:t>
            </a:r>
            <a:r>
              <a:rPr lang="zh-TW" altLang="en-US" dirty="0"/>
              <a:t>的 </a:t>
            </a:r>
            <a:r>
              <a:rPr lang="en-US" altLang="zh-TW" b="1" dirty="0"/>
              <a:t>Master</a:t>
            </a:r>
            <a:r>
              <a:rPr lang="zh-TW" altLang="en-US" dirty="0"/>
              <a:t>，你只要發出請求給 </a:t>
            </a:r>
            <a:r>
              <a:rPr lang="en-US" altLang="zh-TW" b="1" dirty="0"/>
              <a:t>Interconnect Fabric</a:t>
            </a:r>
            <a:r>
              <a:rPr lang="zh-TW" altLang="en-US" dirty="0"/>
              <a:t>（這個會自動連線），實際負責回應的是 </a:t>
            </a:r>
            <a:r>
              <a:rPr lang="en-US" altLang="zh-TW" b="1" dirty="0"/>
              <a:t>Slave</a:t>
            </a:r>
            <a:r>
              <a:rPr lang="zh-TW" altLang="en-US" b="1" dirty="0"/>
              <a:t>，也就是 </a:t>
            </a:r>
            <a:r>
              <a:rPr lang="en-US" altLang="zh-TW" b="1" dirty="0"/>
              <a:t>EMIF IP</a:t>
            </a:r>
            <a:r>
              <a:rPr lang="zh-TW" altLang="en-US" dirty="0"/>
              <a:t>，</a:t>
            </a:r>
            <a:r>
              <a:rPr lang="zh-TW" altLang="en-US" b="1" dirty="0"/>
              <a:t>你不需要實作 </a:t>
            </a:r>
            <a:r>
              <a:rPr lang="en-US" altLang="zh-TW" b="1" dirty="0"/>
              <a:t>Slave</a:t>
            </a:r>
            <a:r>
              <a:rPr lang="zh-TW" altLang="en-US" b="1" dirty="0"/>
              <a:t>！</a:t>
            </a:r>
            <a:endParaRPr lang="en-US" altLang="zh-TW" b="1" dirty="0"/>
          </a:p>
          <a:p>
            <a:endParaRPr lang="en-US" altLang="zh-TW" b="1" dirty="0"/>
          </a:p>
          <a:p>
            <a:r>
              <a:rPr lang="en-US" altLang="zh-TW" b="1" dirty="0"/>
              <a:t>EMIF </a:t>
            </a:r>
            <a:r>
              <a:rPr lang="zh-TW" altLang="en-US" b="1" dirty="0"/>
              <a:t>是現成的 </a:t>
            </a:r>
            <a:r>
              <a:rPr lang="en-US" altLang="zh-TW" b="1" dirty="0"/>
              <a:t>Avalon-MM Slave IP</a:t>
            </a:r>
            <a:r>
              <a:rPr lang="zh-TW" altLang="en-US" dirty="0"/>
              <a:t>，你在 </a:t>
            </a:r>
            <a:r>
              <a:rPr lang="en-US" altLang="zh-TW" dirty="0"/>
              <a:t>Platform Designer/Qsys </a:t>
            </a:r>
            <a:r>
              <a:rPr lang="zh-TW" altLang="en-US" dirty="0"/>
              <a:t>裡面拖拉進來就好了</a:t>
            </a:r>
            <a:endParaRPr lang="en-US" altLang="zh-TW" b="1" dirty="0"/>
          </a:p>
          <a:p>
            <a:endParaRPr lang="en-US" altLang="zh-TW" b="1" dirty="0"/>
          </a:p>
          <a:p>
            <a:r>
              <a:rPr lang="zh-TW" altLang="en-US" b="1" dirty="0"/>
              <a:t>在模擬或單元測試情境中：</a:t>
            </a:r>
          </a:p>
          <a:p>
            <a:pPr rtl="0"/>
            <a:r>
              <a:rPr lang="zh-TW" altLang="en-US" dirty="0"/>
              <a:t>你的 </a:t>
            </a:r>
            <a:r>
              <a:rPr lang="en-US" altLang="zh-TW" dirty="0"/>
              <a:t>Master</a:t>
            </a:r>
            <a:r>
              <a:rPr lang="zh-TW" altLang="en-US" dirty="0"/>
              <a:t>（</a:t>
            </a:r>
            <a:r>
              <a:rPr lang="en-US" altLang="zh-TW" dirty="0" err="1"/>
              <a:t>dut</a:t>
            </a:r>
            <a:r>
              <a:rPr lang="zh-TW" altLang="en-US" dirty="0"/>
              <a:t>） → 自己寫的 </a:t>
            </a:r>
            <a:r>
              <a:rPr lang="en-US" altLang="zh-TW" dirty="0"/>
              <a:t>fake </a:t>
            </a:r>
            <a:r>
              <a:rPr lang="en-US" altLang="zh-TW" dirty="0" err="1"/>
              <a:t>amm_slave</a:t>
            </a:r>
            <a:r>
              <a:rPr lang="zh-TW" altLang="en-US" dirty="0"/>
              <a:t>（模擬 </a:t>
            </a:r>
            <a:r>
              <a:rPr lang="en-US" altLang="zh-TW" dirty="0"/>
              <a:t>EMIF</a:t>
            </a:r>
            <a:r>
              <a:rPr lang="zh-TW" altLang="en-US" dirty="0"/>
              <a:t>） </a:t>
            </a:r>
          </a:p>
          <a:p>
            <a:r>
              <a:rPr lang="zh-TW" altLang="en-US" dirty="0"/>
              <a:t>你為了模擬整個 </a:t>
            </a:r>
            <a:r>
              <a:rPr lang="en-US" altLang="zh-TW" dirty="0"/>
              <a:t>DRAM </a:t>
            </a:r>
            <a:r>
              <a:rPr lang="zh-TW" altLang="en-US" dirty="0"/>
              <a:t>系統：</a:t>
            </a:r>
          </a:p>
          <a:p>
            <a:pPr>
              <a:buFont typeface="Arial" panose="020B0604020202020204" pitchFamily="34" charset="0"/>
              <a:buChar char="•"/>
            </a:pPr>
            <a:r>
              <a:rPr lang="zh-TW" altLang="en-US" dirty="0"/>
              <a:t>自己先寫了一個 </a:t>
            </a:r>
            <a:r>
              <a:rPr lang="en-US" altLang="zh-TW" dirty="0" err="1"/>
              <a:t>amm_slave</a:t>
            </a:r>
            <a:r>
              <a:rPr lang="en-US" altLang="zh-TW" dirty="0"/>
              <a:t> </a:t>
            </a:r>
            <a:r>
              <a:rPr lang="zh-TW" altLang="en-US" dirty="0"/>
              <a:t>來回應你 </a:t>
            </a:r>
            <a:r>
              <a:rPr lang="en-US" altLang="zh-TW" dirty="0"/>
              <a:t>master </a:t>
            </a:r>
            <a:r>
              <a:rPr lang="zh-TW" altLang="en-US" dirty="0"/>
              <a:t>發出的 </a:t>
            </a:r>
            <a:r>
              <a:rPr lang="en-US" altLang="zh-TW" dirty="0"/>
              <a:t>Avalon-MM </a:t>
            </a:r>
            <a:r>
              <a:rPr lang="zh-TW" altLang="en-US" dirty="0"/>
              <a:t>交易</a:t>
            </a:r>
          </a:p>
          <a:p>
            <a:pPr>
              <a:buFont typeface="Arial" panose="020B0604020202020204" pitchFamily="34" charset="0"/>
              <a:buChar char="•"/>
            </a:pPr>
            <a:r>
              <a:rPr lang="zh-TW" altLang="en-US" dirty="0"/>
              <a:t>模擬行為可能只是延遲幾拍後回傳資料、或者存一個簡單記憶體陣列</a:t>
            </a:r>
          </a:p>
          <a:p>
            <a:r>
              <a:rPr lang="zh-TW" altLang="en-US" dirty="0"/>
              <a:t>這樣可以幫助你驗證：</a:t>
            </a:r>
          </a:p>
          <a:p>
            <a:pPr>
              <a:buFont typeface="Arial" panose="020B0604020202020204" pitchFamily="34" charset="0"/>
              <a:buChar char="•"/>
            </a:pPr>
            <a:r>
              <a:rPr lang="zh-TW" altLang="en-US" dirty="0"/>
              <a:t>你的 </a:t>
            </a:r>
            <a:r>
              <a:rPr lang="en-US" altLang="zh-TW" dirty="0"/>
              <a:t>master FSM </a:t>
            </a:r>
            <a:r>
              <a:rPr lang="zh-TW" altLang="en-US" dirty="0"/>
              <a:t>有沒有正確處理 </a:t>
            </a:r>
            <a:r>
              <a:rPr lang="en-US" altLang="zh-TW" dirty="0" err="1"/>
              <a:t>amm_wait</a:t>
            </a:r>
            <a:r>
              <a:rPr lang="en-US" altLang="zh-TW" dirty="0"/>
              <a:t> </a:t>
            </a:r>
            <a:r>
              <a:rPr lang="zh-TW" altLang="en-US" dirty="0"/>
              <a:t>和 </a:t>
            </a:r>
            <a:r>
              <a:rPr lang="en-US" altLang="zh-TW" dirty="0" err="1"/>
              <a:t>amm_rvalid</a:t>
            </a:r>
            <a:endParaRPr lang="en-US" altLang="zh-TW" dirty="0"/>
          </a:p>
          <a:p>
            <a:pPr>
              <a:buFont typeface="Arial" panose="020B0604020202020204" pitchFamily="34" charset="0"/>
              <a:buChar char="•"/>
            </a:pPr>
            <a:r>
              <a:rPr lang="zh-TW" altLang="en-US" dirty="0"/>
              <a:t>資料搬運流程有沒有出錯</a:t>
            </a:r>
          </a:p>
          <a:p>
            <a:endParaRPr lang="zh-TW" altLang="en-US" dirty="0"/>
          </a:p>
          <a:p>
            <a:endParaRPr lang="zh-TW" altLang="en-US" dirty="0"/>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9995318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62</a:t>
            </a:fld>
            <a:endParaRPr lang="zh-TW" altLang="en-US"/>
          </a:p>
        </p:txBody>
      </p:sp>
    </p:spTree>
    <p:extLst>
      <p:ext uri="{BB962C8B-B14F-4D97-AF65-F5344CB8AC3E}">
        <p14:creationId xmlns:p14="http://schemas.microsoft.com/office/powerpoint/2010/main" val="27460728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63</a:t>
            </a:fld>
            <a:endParaRPr lang="zh-TW" altLang="en-US"/>
          </a:p>
        </p:txBody>
      </p:sp>
    </p:spTree>
    <p:extLst>
      <p:ext uri="{BB962C8B-B14F-4D97-AF65-F5344CB8AC3E}">
        <p14:creationId xmlns:p14="http://schemas.microsoft.com/office/powerpoint/2010/main" val="16068542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 </a:t>
            </a:r>
            <a:r>
              <a:rPr lang="en-US" altLang="zh-TW" dirty="0"/>
              <a:t>waitrequest == 0 </a:t>
            </a:r>
            <a:r>
              <a:rPr lang="zh-TW" altLang="en-US" dirty="0"/>
              <a:t>時才能送出新的指令</a:t>
            </a:r>
            <a:r>
              <a:rPr lang="en-US" altLang="zh-TW" dirty="0"/>
              <a:t>	</a:t>
            </a:r>
            <a:r>
              <a:rPr lang="zh-TW" altLang="en-US" dirty="0"/>
              <a:t>表示 </a:t>
            </a:r>
            <a:r>
              <a:rPr lang="en-US" altLang="zh-TW" dirty="0"/>
              <a:t>Interconnect &amp; Slave </a:t>
            </a:r>
            <a:r>
              <a:rPr lang="zh-TW" altLang="en-US" dirty="0"/>
              <a:t>都 </a:t>
            </a:r>
            <a:r>
              <a:rPr lang="en-US" altLang="zh-TW" dirty="0"/>
              <a:t>ready </a:t>
            </a:r>
            <a:r>
              <a:rPr lang="zh-TW" altLang="en-US" dirty="0"/>
              <a:t>了</a:t>
            </a:r>
            <a:endParaRPr lang="en-US" altLang="zh-TW" dirty="0"/>
          </a:p>
          <a:p>
            <a:r>
              <a:rPr lang="zh-TW" altLang="en-US" dirty="0"/>
              <a:t>送出 </a:t>
            </a:r>
            <a:r>
              <a:rPr lang="en-US" altLang="zh-TW" dirty="0"/>
              <a:t>read/write </a:t>
            </a:r>
            <a:r>
              <a:rPr lang="zh-TW" altLang="en-US" dirty="0"/>
              <a:t>時要保持訊號穩定到被 </a:t>
            </a:r>
            <a:r>
              <a:rPr lang="en-US" altLang="zh-TW" dirty="0"/>
              <a:t>accept	</a:t>
            </a:r>
            <a:r>
              <a:rPr lang="zh-TW" altLang="en-US" dirty="0"/>
              <a:t>不穩定的話 </a:t>
            </a:r>
            <a:r>
              <a:rPr lang="en-US" altLang="zh-TW" dirty="0"/>
              <a:t>Fabric </a:t>
            </a:r>
            <a:r>
              <a:rPr lang="zh-TW" altLang="en-US" dirty="0"/>
              <a:t>無法認出</a:t>
            </a:r>
            <a:endParaRPr lang="en-US" altLang="zh-TW" dirty="0"/>
          </a:p>
          <a:p>
            <a:r>
              <a:rPr lang="zh-TW" altLang="en-US" dirty="0"/>
              <a:t>讀取 </a:t>
            </a:r>
            <a:r>
              <a:rPr lang="en-US" altLang="zh-TW" dirty="0"/>
              <a:t>readdata </a:t>
            </a:r>
            <a:r>
              <a:rPr lang="zh-TW" altLang="en-US" dirty="0"/>
              <a:t>前要等 </a:t>
            </a:r>
            <a:r>
              <a:rPr lang="en-US" altLang="zh-TW" dirty="0"/>
              <a:t>readdatavalid == 1	</a:t>
            </a:r>
            <a:r>
              <a:rPr lang="zh-TW" altLang="en-US" dirty="0"/>
              <a:t>避免抓到無效資料</a:t>
            </a:r>
            <a:endParaRPr lang="en-US" altLang="zh-TW" dirty="0"/>
          </a:p>
          <a:p>
            <a:r>
              <a:rPr lang="zh-TW" altLang="en-US" dirty="0"/>
              <a:t>不要假設某筆資料一定會馬上進來</a:t>
            </a:r>
            <a:r>
              <a:rPr lang="en-US" altLang="zh-TW" dirty="0"/>
              <a:t>		Interconnect </a:t>
            </a:r>
            <a:r>
              <a:rPr lang="zh-TW" altLang="en-US" dirty="0"/>
              <a:t>和 </a:t>
            </a:r>
            <a:r>
              <a:rPr lang="en-US" altLang="zh-TW" dirty="0"/>
              <a:t>Slave </a:t>
            </a:r>
            <a:r>
              <a:rPr lang="zh-TW" altLang="en-US" dirty="0"/>
              <a:t>可能延遲很多拍</a:t>
            </a:r>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64</a:t>
            </a:fld>
            <a:endParaRPr lang="zh-TW" altLang="en-US"/>
          </a:p>
        </p:txBody>
      </p:sp>
    </p:spTree>
    <p:extLst>
      <p:ext uri="{BB962C8B-B14F-4D97-AF65-F5344CB8AC3E}">
        <p14:creationId xmlns:p14="http://schemas.microsoft.com/office/powerpoint/2010/main" val="27293833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65</a:t>
            </a:fld>
            <a:endParaRPr lang="zh-TW" altLang="en-US"/>
          </a:p>
        </p:txBody>
      </p:sp>
    </p:spTree>
    <p:extLst>
      <p:ext uri="{BB962C8B-B14F-4D97-AF65-F5344CB8AC3E}">
        <p14:creationId xmlns:p14="http://schemas.microsoft.com/office/powerpoint/2010/main" val="19506013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66</a:t>
            </a:fld>
            <a:endParaRPr lang="zh-TW" altLang="en-US"/>
          </a:p>
        </p:txBody>
      </p:sp>
    </p:spTree>
    <p:extLst>
      <p:ext uri="{BB962C8B-B14F-4D97-AF65-F5344CB8AC3E}">
        <p14:creationId xmlns:p14="http://schemas.microsoft.com/office/powerpoint/2010/main" val="9632531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67</a:t>
            </a:fld>
            <a:endParaRPr lang="zh-TW" altLang="en-US"/>
          </a:p>
        </p:txBody>
      </p:sp>
    </p:spTree>
    <p:extLst>
      <p:ext uri="{BB962C8B-B14F-4D97-AF65-F5344CB8AC3E}">
        <p14:creationId xmlns:p14="http://schemas.microsoft.com/office/powerpoint/2010/main" val="309041706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68</a:t>
            </a:fld>
            <a:endParaRPr lang="zh-TW" altLang="en-US"/>
          </a:p>
        </p:txBody>
      </p:sp>
    </p:spTree>
    <p:extLst>
      <p:ext uri="{BB962C8B-B14F-4D97-AF65-F5344CB8AC3E}">
        <p14:creationId xmlns:p14="http://schemas.microsoft.com/office/powerpoint/2010/main" val="399626426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1" dirty="0"/>
              <a:t>✅要使用 </a:t>
            </a:r>
            <a:r>
              <a:rPr lang="en-US" altLang="zh-TW" b="1" dirty="0"/>
              <a:t>DDR4 + EMIF IP</a:t>
            </a:r>
            <a:r>
              <a:rPr lang="zh-TW" altLang="en-US" b="1" dirty="0"/>
              <a:t>，那你要預設啟用 </a:t>
            </a:r>
            <a:r>
              <a:rPr lang="en-US" altLang="zh-TW" b="1" dirty="0"/>
              <a:t>Pipeline + Burst </a:t>
            </a:r>
            <a:r>
              <a:rPr lang="zh-TW" altLang="en-US" b="1" dirty="0"/>
              <a:t>嗎？</a:t>
            </a:r>
          </a:p>
          <a:p>
            <a:r>
              <a:rPr lang="zh-TW" altLang="en-US" b="1" dirty="0"/>
              <a:t>🔸答案：是的，請預設 </a:t>
            </a:r>
            <a:r>
              <a:rPr lang="en-US" altLang="zh-TW" b="1" dirty="0"/>
              <a:t>DDR4 </a:t>
            </a:r>
            <a:r>
              <a:rPr lang="zh-TW" altLang="en-US" b="1" dirty="0"/>
              <a:t>是 </a:t>
            </a:r>
            <a:r>
              <a:rPr lang="en-US" altLang="zh-TW" b="1" dirty="0"/>
              <a:t>Pipeline + Burst </a:t>
            </a:r>
            <a:r>
              <a:rPr lang="zh-TW" altLang="en-US" b="1" dirty="0"/>
              <a:t>模式。</a:t>
            </a:r>
          </a:p>
          <a:p>
            <a:r>
              <a:rPr lang="zh-TW" altLang="en-US" dirty="0"/>
              <a:t>因為：</a:t>
            </a:r>
          </a:p>
          <a:p>
            <a:r>
              <a:rPr lang="zh-TW" altLang="en-US" b="1" dirty="0"/>
              <a:t>📌 </a:t>
            </a:r>
            <a:r>
              <a:rPr lang="en-US" altLang="zh-TW" b="1" dirty="0"/>
              <a:t>DDR4 </a:t>
            </a:r>
            <a:r>
              <a:rPr lang="zh-TW" altLang="en-US" b="1" dirty="0"/>
              <a:t>本身就是：</a:t>
            </a:r>
          </a:p>
          <a:p>
            <a:pPr>
              <a:buFont typeface="Arial" panose="020B0604020202020204" pitchFamily="34" charset="0"/>
              <a:buChar char="•"/>
            </a:pPr>
            <a:r>
              <a:rPr lang="zh-TW" altLang="en-US" b="1" dirty="0"/>
              <a:t>高延遲記憶體</a:t>
            </a:r>
            <a:r>
              <a:rPr lang="zh-TW" altLang="en-US" dirty="0"/>
              <a:t> → 所有讀取都會有 </a:t>
            </a:r>
            <a:r>
              <a:rPr lang="en-US" altLang="zh-TW" dirty="0"/>
              <a:t>pipeline latency</a:t>
            </a:r>
            <a:r>
              <a:rPr lang="zh-TW" altLang="en-US" dirty="0"/>
              <a:t>（多拍後才資料有效）</a:t>
            </a:r>
          </a:p>
          <a:p>
            <a:pPr>
              <a:buFont typeface="Arial" panose="020B0604020202020204" pitchFamily="34" charset="0"/>
              <a:buChar char="•"/>
            </a:pPr>
            <a:r>
              <a:rPr lang="zh-TW" altLang="en-US" b="1" dirty="0"/>
              <a:t>以 </a:t>
            </a:r>
            <a:r>
              <a:rPr lang="en-US" altLang="zh-TW" b="1" dirty="0"/>
              <a:t>Burst </a:t>
            </a:r>
            <a:r>
              <a:rPr lang="zh-TW" altLang="en-US" b="1" dirty="0"/>
              <a:t>為單位存取</a:t>
            </a:r>
            <a:r>
              <a:rPr lang="zh-TW" altLang="en-US" dirty="0"/>
              <a:t> → </a:t>
            </a:r>
            <a:r>
              <a:rPr lang="en-US" altLang="zh-TW" dirty="0"/>
              <a:t>DDR4 </a:t>
            </a:r>
            <a:r>
              <a:rPr lang="zh-TW" altLang="en-US" dirty="0"/>
              <a:t>硬體層面每次 </a:t>
            </a:r>
            <a:r>
              <a:rPr lang="en-US" altLang="zh-TW" dirty="0"/>
              <a:t>access </a:t>
            </a:r>
            <a:r>
              <a:rPr lang="zh-TW" altLang="en-US" dirty="0"/>
              <a:t>通常是 </a:t>
            </a:r>
            <a:r>
              <a:rPr lang="en-US" altLang="zh-TW" dirty="0"/>
              <a:t>burst 4</a:t>
            </a:r>
            <a:r>
              <a:rPr lang="zh-TW" altLang="en-US" dirty="0"/>
              <a:t>、</a:t>
            </a:r>
            <a:r>
              <a:rPr lang="en-US" altLang="zh-TW" dirty="0"/>
              <a:t>8</a:t>
            </a:r>
            <a:r>
              <a:rPr lang="zh-TW" altLang="en-US" dirty="0"/>
              <a:t>、甚至 </a:t>
            </a:r>
            <a:r>
              <a:rPr lang="en-US" altLang="zh-TW" dirty="0"/>
              <a:t>16</a:t>
            </a:r>
          </a:p>
          <a:p>
            <a:r>
              <a:rPr lang="zh-TW" altLang="en-US" b="1" dirty="0"/>
              <a:t>📌 </a:t>
            </a:r>
            <a:r>
              <a:rPr lang="en-US" altLang="zh-TW" b="1" dirty="0"/>
              <a:t>EMIF Avalon-MM Slave </a:t>
            </a:r>
            <a:r>
              <a:rPr lang="zh-TW" altLang="en-US" b="1" dirty="0"/>
              <a:t>接口本身就支援：</a:t>
            </a:r>
          </a:p>
          <a:p>
            <a:pPr>
              <a:buFont typeface="Arial" panose="020B0604020202020204" pitchFamily="34" charset="0"/>
              <a:buChar char="•"/>
            </a:pPr>
            <a:r>
              <a:rPr lang="zh-TW" altLang="en-US" dirty="0"/>
              <a:t>✅ </a:t>
            </a:r>
            <a:r>
              <a:rPr lang="en-US" altLang="zh-TW" dirty="0"/>
              <a:t>readdatavalid</a:t>
            </a:r>
            <a:r>
              <a:rPr lang="zh-TW" altLang="en-US" dirty="0"/>
              <a:t>：對應 </a:t>
            </a:r>
            <a:r>
              <a:rPr lang="en-US" altLang="zh-TW" dirty="0"/>
              <a:t>Pipeline</a:t>
            </a:r>
          </a:p>
          <a:p>
            <a:pPr>
              <a:buFont typeface="Arial" panose="020B0604020202020204" pitchFamily="34" charset="0"/>
              <a:buChar char="•"/>
            </a:pPr>
            <a:r>
              <a:rPr lang="zh-TW" altLang="en-US" dirty="0"/>
              <a:t>✅ </a:t>
            </a:r>
            <a:r>
              <a:rPr lang="en-US" altLang="zh-TW" dirty="0" err="1"/>
              <a:t>burstcount</a:t>
            </a:r>
            <a:r>
              <a:rPr lang="en-US" altLang="zh-TW" dirty="0"/>
              <a:t> / </a:t>
            </a:r>
            <a:r>
              <a:rPr lang="en-US" altLang="zh-TW" dirty="0" err="1"/>
              <a:t>amm_burstcount</a:t>
            </a:r>
            <a:r>
              <a:rPr lang="zh-TW" altLang="en-US" dirty="0"/>
              <a:t>：對應 </a:t>
            </a:r>
            <a:r>
              <a:rPr lang="en-US" altLang="zh-TW" dirty="0"/>
              <a:t>Burst</a:t>
            </a:r>
          </a:p>
          <a:p>
            <a:pPr>
              <a:buFont typeface="Arial" panose="020B0604020202020204" pitchFamily="34" charset="0"/>
              <a:buChar char="•"/>
            </a:pPr>
            <a:r>
              <a:rPr lang="zh-TW" altLang="en-US" dirty="0"/>
              <a:t>✅ </a:t>
            </a:r>
            <a:r>
              <a:rPr lang="en-US" altLang="zh-TW" dirty="0"/>
              <a:t>waitrequest</a:t>
            </a:r>
            <a:r>
              <a:rPr lang="zh-TW" altLang="en-US" dirty="0"/>
              <a:t>：當 </a:t>
            </a:r>
            <a:r>
              <a:rPr lang="en-US" altLang="zh-TW" dirty="0"/>
              <a:t>DRAM </a:t>
            </a:r>
            <a:r>
              <a:rPr lang="zh-TW" altLang="en-US" dirty="0"/>
              <a:t>還沒 </a:t>
            </a:r>
            <a:r>
              <a:rPr lang="en-US" altLang="zh-TW" dirty="0"/>
              <a:t>ready </a:t>
            </a:r>
            <a:r>
              <a:rPr lang="zh-TW" altLang="en-US" dirty="0"/>
              <a:t>會 </a:t>
            </a:r>
            <a:r>
              <a:rPr lang="en-US" altLang="zh-TW" dirty="0"/>
              <a:t>hold </a:t>
            </a:r>
            <a:r>
              <a:rPr lang="zh-TW" altLang="en-US" dirty="0"/>
              <a:t>住你</a:t>
            </a:r>
          </a:p>
          <a:p>
            <a:r>
              <a:rPr lang="zh-TW" altLang="en-US" dirty="0"/>
              <a:t>🔍 換句話說，</a:t>
            </a:r>
            <a:r>
              <a:rPr lang="zh-TW" altLang="en-US" b="1" dirty="0"/>
              <a:t>你作為 </a:t>
            </a:r>
            <a:r>
              <a:rPr lang="en-US" altLang="zh-TW" b="1" dirty="0"/>
              <a:t>Master </a:t>
            </a:r>
            <a:r>
              <a:rPr lang="zh-TW" altLang="en-US" b="1" dirty="0"/>
              <a:t>設計者，必須要有 </a:t>
            </a:r>
            <a:r>
              <a:rPr lang="en-US" altLang="zh-TW" b="1" dirty="0"/>
              <a:t>pipeline &amp; burst-aware </a:t>
            </a:r>
            <a:r>
              <a:rPr lang="zh-TW" altLang="en-US" b="1" dirty="0"/>
              <a:t>的邏輯設計</a:t>
            </a:r>
            <a:r>
              <a:rPr lang="zh-TW" altLang="en-US" dirty="0"/>
              <a:t>，否則會讀不到資料或操作錯誤！</a:t>
            </a:r>
            <a:br>
              <a:rPr lang="en-US" altLang="zh-TW" dirty="0"/>
            </a:br>
            <a:endParaRPr lang="en-US" altLang="zh-TW" dirty="0"/>
          </a:p>
          <a:p>
            <a:endParaRPr lang="en-US" altLang="zh-TW" b="1" dirty="0"/>
          </a:p>
          <a:p>
            <a:r>
              <a:rPr lang="zh-TW" altLang="en-US" b="1" dirty="0"/>
              <a:t>✅ </a:t>
            </a:r>
            <a:r>
              <a:rPr lang="en-US" altLang="zh-TW" b="1" dirty="0"/>
              <a:t>EMIF IP </a:t>
            </a:r>
            <a:r>
              <a:rPr lang="zh-TW" altLang="en-US" b="1" dirty="0"/>
              <a:t>是不是你不用管、它會自動實作好？</a:t>
            </a:r>
          </a:p>
          <a:p>
            <a:r>
              <a:rPr lang="zh-TW" altLang="en-US" b="1" dirty="0"/>
              <a:t>🔸答案：是的，</a:t>
            </a:r>
            <a:r>
              <a:rPr lang="en-US" altLang="zh-TW" b="1" dirty="0"/>
              <a:t>EMIF </a:t>
            </a:r>
            <a:r>
              <a:rPr lang="zh-TW" altLang="en-US" b="1" dirty="0"/>
              <a:t>是一個完整黑盒 </a:t>
            </a:r>
            <a:r>
              <a:rPr lang="en-US" altLang="zh-TW" b="1" dirty="0"/>
              <a:t>Slave IP</a:t>
            </a:r>
            <a:r>
              <a:rPr lang="zh-TW" altLang="en-US" b="1" dirty="0"/>
              <a:t>，你只要遵守 </a:t>
            </a:r>
            <a:r>
              <a:rPr lang="en-US" altLang="zh-TW" b="1" dirty="0"/>
              <a:t>Avalon-MM </a:t>
            </a:r>
            <a:r>
              <a:rPr lang="zh-TW" altLang="en-US" b="1" dirty="0"/>
              <a:t>規則就好。</a:t>
            </a:r>
          </a:p>
          <a:p>
            <a:r>
              <a:rPr lang="zh-TW" altLang="en-US" b="1" dirty="0"/>
              <a:t>你「不用」去設計以下東西：</a:t>
            </a:r>
          </a:p>
          <a:p>
            <a:pPr>
              <a:buFont typeface="Arial" panose="020B0604020202020204" pitchFamily="34" charset="0"/>
              <a:buChar char="•"/>
            </a:pPr>
            <a:r>
              <a:rPr lang="zh-TW" altLang="en-US" dirty="0"/>
              <a:t>❌ 不需要自己去排 </a:t>
            </a:r>
            <a:r>
              <a:rPr lang="en-US" altLang="zh-TW" dirty="0"/>
              <a:t>DRAM </a:t>
            </a:r>
            <a:r>
              <a:rPr lang="zh-TW" altLang="en-US" dirty="0"/>
              <a:t>時序（</a:t>
            </a:r>
            <a:r>
              <a:rPr lang="en-US" altLang="zh-TW" dirty="0"/>
              <a:t>Activate</a:t>
            </a:r>
            <a:r>
              <a:rPr lang="zh-TW" altLang="en-US" dirty="0"/>
              <a:t>、</a:t>
            </a:r>
            <a:r>
              <a:rPr lang="en-US" altLang="zh-TW" dirty="0" err="1"/>
              <a:t>Precharge</a:t>
            </a:r>
            <a:r>
              <a:rPr lang="zh-TW" altLang="en-US" dirty="0"/>
              <a:t>、</a:t>
            </a:r>
            <a:r>
              <a:rPr lang="en-US" altLang="zh-TW" dirty="0"/>
              <a:t>CAS</a:t>
            </a:r>
            <a:r>
              <a:rPr lang="zh-TW" altLang="en-US" dirty="0"/>
              <a:t>、</a:t>
            </a:r>
            <a:r>
              <a:rPr lang="en-US" altLang="zh-TW" dirty="0"/>
              <a:t>RAS</a:t>
            </a:r>
            <a:r>
              <a:rPr lang="zh-TW" altLang="en-US" dirty="0"/>
              <a:t>）</a:t>
            </a:r>
          </a:p>
          <a:p>
            <a:pPr>
              <a:buFont typeface="Arial" panose="020B0604020202020204" pitchFamily="34" charset="0"/>
              <a:buChar char="•"/>
            </a:pPr>
            <a:r>
              <a:rPr lang="zh-TW" altLang="en-US" dirty="0"/>
              <a:t>❌ 不需要管 </a:t>
            </a:r>
            <a:r>
              <a:rPr lang="en-US" altLang="zh-TW" dirty="0"/>
              <a:t>DRAM </a:t>
            </a:r>
            <a:r>
              <a:rPr lang="zh-TW" altLang="en-US" dirty="0"/>
              <a:t>裡有幾個 </a:t>
            </a:r>
            <a:r>
              <a:rPr lang="en-US" altLang="zh-TW" dirty="0"/>
              <a:t>bank</a:t>
            </a:r>
            <a:r>
              <a:rPr lang="zh-TW" altLang="en-US" dirty="0"/>
              <a:t>，或行列位址</a:t>
            </a:r>
          </a:p>
          <a:p>
            <a:pPr>
              <a:buFont typeface="Arial" panose="020B0604020202020204" pitchFamily="34" charset="0"/>
              <a:buChar char="•"/>
            </a:pPr>
            <a:r>
              <a:rPr lang="zh-TW" altLang="en-US" dirty="0"/>
              <a:t>❌ 不需要自己排 </a:t>
            </a:r>
            <a:r>
              <a:rPr lang="en-US" altLang="zh-TW" dirty="0"/>
              <a:t>burst mapping</a:t>
            </a:r>
          </a:p>
          <a:p>
            <a:r>
              <a:rPr lang="zh-TW" altLang="en-US" dirty="0"/>
              <a:t>這些都由 </a:t>
            </a:r>
            <a:r>
              <a:rPr lang="en-US" altLang="zh-TW" dirty="0"/>
              <a:t>EMIF IP </a:t>
            </a:r>
            <a:r>
              <a:rPr lang="zh-TW" altLang="en-US" dirty="0"/>
              <a:t>裡的 </a:t>
            </a:r>
            <a:r>
              <a:rPr lang="en-US" altLang="zh-TW" dirty="0"/>
              <a:t>Controller </a:t>
            </a:r>
            <a:r>
              <a:rPr lang="zh-TW" altLang="en-US" dirty="0"/>
              <a:t>內部幫你轉成 </a:t>
            </a:r>
            <a:r>
              <a:rPr lang="en-US" altLang="zh-TW" dirty="0"/>
              <a:t>DRAM command protocol</a:t>
            </a:r>
            <a:r>
              <a:rPr lang="zh-TW" altLang="en-US" dirty="0"/>
              <a:t>。</a:t>
            </a:r>
          </a:p>
          <a:p>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69</a:t>
            </a:fld>
            <a:endParaRPr lang="zh-TW" altLang="en-US"/>
          </a:p>
        </p:txBody>
      </p:sp>
    </p:spTree>
    <p:extLst>
      <p:ext uri="{BB962C8B-B14F-4D97-AF65-F5344CB8AC3E}">
        <p14:creationId xmlns:p14="http://schemas.microsoft.com/office/powerpoint/2010/main" val="124545492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74</a:t>
            </a:fld>
            <a:endParaRPr lang="zh-TW" altLang="en-US"/>
          </a:p>
        </p:txBody>
      </p:sp>
    </p:spTree>
    <p:extLst>
      <p:ext uri="{BB962C8B-B14F-4D97-AF65-F5344CB8AC3E}">
        <p14:creationId xmlns:p14="http://schemas.microsoft.com/office/powerpoint/2010/main" val="23171603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75</a:t>
            </a:fld>
            <a:endParaRPr lang="zh-TW" altLang="en-US"/>
          </a:p>
        </p:txBody>
      </p:sp>
    </p:spTree>
    <p:extLst>
      <p:ext uri="{BB962C8B-B14F-4D97-AF65-F5344CB8AC3E}">
        <p14:creationId xmlns:p14="http://schemas.microsoft.com/office/powerpoint/2010/main" val="416875644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76</a:t>
            </a:fld>
            <a:endParaRPr lang="zh-TW" altLang="en-US"/>
          </a:p>
        </p:txBody>
      </p:sp>
    </p:spTree>
    <p:extLst>
      <p:ext uri="{BB962C8B-B14F-4D97-AF65-F5344CB8AC3E}">
        <p14:creationId xmlns:p14="http://schemas.microsoft.com/office/powerpoint/2010/main" val="2856726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F4E2A-A9A9-8C1A-9AC0-2DF8EFC9F89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820C1C8-588A-4A35-CFCB-3B7B7E9879D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6483F8B-2D23-98E2-D280-B207C025ED22}"/>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BB0943F9-E9BA-06D1-470C-25089C5C9C64}"/>
              </a:ext>
            </a:extLst>
          </p:cNvPr>
          <p:cNvSpPr>
            <a:spLocks noGrp="1"/>
          </p:cNvSpPr>
          <p:nvPr>
            <p:ph type="sldNum" sz="quarter" idx="5"/>
          </p:nvPr>
        </p:nvSpPr>
        <p:spPr/>
        <p:txBody>
          <a:bodyPr/>
          <a:lstStyle/>
          <a:p>
            <a:fld id="{479B0D48-F60E-44AF-BBCD-29181D6E5027}" type="slidenum">
              <a:rPr lang="zh-TW" altLang="en-US" smtClean="0"/>
              <a:t>77</a:t>
            </a:fld>
            <a:endParaRPr lang="zh-TW" altLang="en-US"/>
          </a:p>
        </p:txBody>
      </p:sp>
    </p:spTree>
    <p:extLst>
      <p:ext uri="{BB962C8B-B14F-4D97-AF65-F5344CB8AC3E}">
        <p14:creationId xmlns:p14="http://schemas.microsoft.com/office/powerpoint/2010/main" val="134279452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D4D52-1373-1ED8-2115-7690B5534C3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F2F3438-5D5A-C07B-2221-31AD8B13507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9CA9ED5-5EF6-8B60-DDD7-40A2BAC02FBD}"/>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4EED3F8F-E331-943C-94FB-FB6ED3F82016}"/>
              </a:ext>
            </a:extLst>
          </p:cNvPr>
          <p:cNvSpPr>
            <a:spLocks noGrp="1"/>
          </p:cNvSpPr>
          <p:nvPr>
            <p:ph type="sldNum" sz="quarter" idx="5"/>
          </p:nvPr>
        </p:nvSpPr>
        <p:spPr/>
        <p:txBody>
          <a:bodyPr/>
          <a:lstStyle/>
          <a:p>
            <a:fld id="{479B0D48-F60E-44AF-BBCD-29181D6E5027}" type="slidenum">
              <a:rPr lang="zh-TW" altLang="en-US" smtClean="0"/>
              <a:t>78</a:t>
            </a:fld>
            <a:endParaRPr lang="zh-TW" altLang="en-US"/>
          </a:p>
        </p:txBody>
      </p:sp>
    </p:spTree>
    <p:extLst>
      <p:ext uri="{BB962C8B-B14F-4D97-AF65-F5344CB8AC3E}">
        <p14:creationId xmlns:p14="http://schemas.microsoft.com/office/powerpoint/2010/main" val="25539133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81</a:t>
            </a:fld>
            <a:endParaRPr lang="zh-TW" altLang="en-US"/>
          </a:p>
        </p:txBody>
      </p:sp>
    </p:spTree>
    <p:extLst>
      <p:ext uri="{BB962C8B-B14F-4D97-AF65-F5344CB8AC3E}">
        <p14:creationId xmlns:p14="http://schemas.microsoft.com/office/powerpoint/2010/main" val="344358509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82</a:t>
            </a:fld>
            <a:endParaRPr lang="zh-TW" altLang="en-US"/>
          </a:p>
        </p:txBody>
      </p:sp>
    </p:spTree>
    <p:extLst>
      <p:ext uri="{BB962C8B-B14F-4D97-AF65-F5344CB8AC3E}">
        <p14:creationId xmlns:p14="http://schemas.microsoft.com/office/powerpoint/2010/main" val="417065567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83</a:t>
            </a:fld>
            <a:endParaRPr lang="zh-TW" altLang="en-US"/>
          </a:p>
        </p:txBody>
      </p:sp>
    </p:spTree>
    <p:extLst>
      <p:ext uri="{BB962C8B-B14F-4D97-AF65-F5344CB8AC3E}">
        <p14:creationId xmlns:p14="http://schemas.microsoft.com/office/powerpoint/2010/main" val="193625833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84</a:t>
            </a:fld>
            <a:endParaRPr lang="zh-TW" altLang="en-US"/>
          </a:p>
        </p:txBody>
      </p:sp>
    </p:spTree>
    <p:extLst>
      <p:ext uri="{BB962C8B-B14F-4D97-AF65-F5344CB8AC3E}">
        <p14:creationId xmlns:p14="http://schemas.microsoft.com/office/powerpoint/2010/main" val="45270969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85</a:t>
            </a:fld>
            <a:endParaRPr lang="zh-TW" altLang="en-US"/>
          </a:p>
        </p:txBody>
      </p:sp>
    </p:spTree>
    <p:extLst>
      <p:ext uri="{BB962C8B-B14F-4D97-AF65-F5344CB8AC3E}">
        <p14:creationId xmlns:p14="http://schemas.microsoft.com/office/powerpoint/2010/main" val="194172084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86</a:t>
            </a:fld>
            <a:endParaRPr lang="zh-TW" altLang="en-US"/>
          </a:p>
        </p:txBody>
      </p:sp>
    </p:spTree>
    <p:extLst>
      <p:ext uri="{BB962C8B-B14F-4D97-AF65-F5344CB8AC3E}">
        <p14:creationId xmlns:p14="http://schemas.microsoft.com/office/powerpoint/2010/main" val="355134992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88</a:t>
            </a:fld>
            <a:endParaRPr lang="zh-TW" altLang="en-US"/>
          </a:p>
        </p:txBody>
      </p:sp>
    </p:spTree>
    <p:extLst>
      <p:ext uri="{BB962C8B-B14F-4D97-AF65-F5344CB8AC3E}">
        <p14:creationId xmlns:p14="http://schemas.microsoft.com/office/powerpoint/2010/main" val="338626544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89</a:t>
            </a:fld>
            <a:endParaRPr lang="zh-TW" altLang="en-US"/>
          </a:p>
        </p:txBody>
      </p:sp>
    </p:spTree>
    <p:extLst>
      <p:ext uri="{BB962C8B-B14F-4D97-AF65-F5344CB8AC3E}">
        <p14:creationId xmlns:p14="http://schemas.microsoft.com/office/powerpoint/2010/main" val="10261921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90</a:t>
            </a:fld>
            <a:endParaRPr lang="zh-TW" altLang="en-US"/>
          </a:p>
        </p:txBody>
      </p:sp>
    </p:spTree>
    <p:extLst>
      <p:ext uri="{BB962C8B-B14F-4D97-AF65-F5344CB8AC3E}">
        <p14:creationId xmlns:p14="http://schemas.microsoft.com/office/powerpoint/2010/main" val="22732228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79B0D48-F60E-44AF-BBCD-29181D6E5027}" type="slidenum">
              <a:rPr lang="zh-TW" altLang="en-US" smtClean="0"/>
              <a:t>91</a:t>
            </a:fld>
            <a:endParaRPr lang="zh-TW" altLang="en-US"/>
          </a:p>
        </p:txBody>
      </p:sp>
    </p:spTree>
    <p:extLst>
      <p:ext uri="{BB962C8B-B14F-4D97-AF65-F5344CB8AC3E}">
        <p14:creationId xmlns:p14="http://schemas.microsoft.com/office/powerpoint/2010/main" val="181196454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4" name="Google Shape;514;p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1" name="Google Shape;521;p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0" name="Google Shape;540;p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p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p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9" name="Google Shape;609;p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type="title">
  <p:cSld name="TITLE">
    <p:spTree>
      <p:nvGrpSpPr>
        <p:cNvPr id="1" name="Shape 15"/>
        <p:cNvGrpSpPr/>
        <p:nvPr/>
      </p:nvGrpSpPr>
      <p:grpSpPr>
        <a:xfrm>
          <a:off x="0" y="0"/>
          <a:ext cx="0" cy="0"/>
          <a:chOff x="0" y="0"/>
          <a:chExt cx="0" cy="0"/>
        </a:xfrm>
      </p:grpSpPr>
      <p:sp>
        <p:nvSpPr>
          <p:cNvPr id="16" name="Google Shape;16;p59"/>
          <p:cNvSpPr txBox="1">
            <a:spLocks noGrp="1"/>
          </p:cNvSpPr>
          <p:nvPr>
            <p:ph type="ctrTitle"/>
          </p:nvPr>
        </p:nvSpPr>
        <p:spPr>
          <a:xfrm>
            <a:off x="685800" y="1039985"/>
            <a:ext cx="7772400" cy="2774134"/>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400"/>
              <a:buFont typeface="Times New Roman"/>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9"/>
          <p:cNvSpPr txBox="1">
            <a:spLocks noGrp="1"/>
          </p:cNvSpPr>
          <p:nvPr>
            <p:ph type="subTitle" idx="1"/>
          </p:nvPr>
        </p:nvSpPr>
        <p:spPr>
          <a:xfrm>
            <a:off x="1143000" y="4135394"/>
            <a:ext cx="6858000" cy="143544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標題及物件" type="obj">
  <p:cSld name="OBJECT">
    <p:spTree>
      <p:nvGrpSpPr>
        <p:cNvPr id="1" name="Shape 21"/>
        <p:cNvGrpSpPr/>
        <p:nvPr/>
      </p:nvGrpSpPr>
      <p:grpSpPr>
        <a:xfrm>
          <a:off x="0" y="0"/>
          <a:ext cx="0" cy="0"/>
          <a:chOff x="0" y="0"/>
          <a:chExt cx="0" cy="0"/>
        </a:xfrm>
      </p:grpSpPr>
      <p:sp>
        <p:nvSpPr>
          <p:cNvPr id="22" name="Google Shape;22;p60"/>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60"/>
          <p:cNvSpPr txBox="1">
            <a:spLocks noGrp="1"/>
          </p:cNvSpPr>
          <p:nvPr>
            <p:ph type="body" idx="1"/>
          </p:nvPr>
        </p:nvSpPr>
        <p:spPr>
          <a:xfrm>
            <a:off x="477795" y="1252152"/>
            <a:ext cx="8254313" cy="4924812"/>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1"/>
              </a:buClr>
              <a:buSzPts val="2000"/>
              <a:buChar char="•"/>
              <a:defRPr sz="2000"/>
            </a:lvl1pPr>
            <a:lvl2pPr marL="914400" lvl="1" indent="-342900" algn="l">
              <a:lnSpc>
                <a:spcPct val="90000"/>
              </a:lnSpc>
              <a:spcBef>
                <a:spcPts val="500"/>
              </a:spcBef>
              <a:spcAft>
                <a:spcPts val="0"/>
              </a:spcAft>
              <a:buClr>
                <a:schemeClr val="dk1"/>
              </a:buClr>
              <a:buSzPts val="1800"/>
              <a:buFont typeface="Calibri"/>
              <a:buChar char="˗"/>
              <a:defRPr sz="1800"/>
            </a:lvl2pPr>
            <a:lvl3pPr marL="1371600" lvl="2" indent="-330200" algn="l">
              <a:lnSpc>
                <a:spcPct val="90000"/>
              </a:lnSpc>
              <a:spcBef>
                <a:spcPts val="500"/>
              </a:spcBef>
              <a:spcAft>
                <a:spcPts val="0"/>
              </a:spcAft>
              <a:buClr>
                <a:schemeClr val="dk1"/>
              </a:buClr>
              <a:buSzPts val="1600"/>
              <a:buFont typeface="Calibri"/>
              <a:buChar char="˗"/>
              <a:defRPr sz="1600"/>
            </a:lvl3pPr>
            <a:lvl4pPr marL="1828800" lvl="3" indent="-317500" algn="l">
              <a:lnSpc>
                <a:spcPct val="90000"/>
              </a:lnSpc>
              <a:spcBef>
                <a:spcPts val="500"/>
              </a:spcBef>
              <a:spcAft>
                <a:spcPts val="0"/>
              </a:spcAft>
              <a:buClr>
                <a:schemeClr val="dk1"/>
              </a:buClr>
              <a:buSzPts val="1400"/>
              <a:buFont typeface="Calibri"/>
              <a:buChar char="˗"/>
              <a:defRPr sz="1400"/>
            </a:lvl4pPr>
            <a:lvl5pPr marL="2286000" lvl="4" indent="-304800" algn="l">
              <a:lnSpc>
                <a:spcPct val="90000"/>
              </a:lnSpc>
              <a:spcBef>
                <a:spcPts val="500"/>
              </a:spcBef>
              <a:spcAft>
                <a:spcPts val="0"/>
              </a:spcAft>
              <a:buClr>
                <a:schemeClr val="dk1"/>
              </a:buClr>
              <a:buSzPts val="1200"/>
              <a:buFont typeface="Calibri"/>
              <a:buChar char="˗"/>
              <a:defRPr sz="1200"/>
            </a:lvl5pPr>
            <a:lvl6pPr marL="2743200" lvl="5" indent="-298450" algn="l">
              <a:lnSpc>
                <a:spcPct val="90000"/>
              </a:lnSpc>
              <a:spcBef>
                <a:spcPts val="500"/>
              </a:spcBef>
              <a:spcAft>
                <a:spcPts val="0"/>
              </a:spcAft>
              <a:buClr>
                <a:schemeClr val="dk1"/>
              </a:buClr>
              <a:buSzPts val="1100"/>
              <a:buFont typeface="Calibri"/>
              <a:buChar char="‐"/>
              <a:defRPr sz="1100"/>
            </a:lvl6pPr>
            <a:lvl7pPr marL="3200400" lvl="6" indent="-298450" algn="l">
              <a:lnSpc>
                <a:spcPct val="90000"/>
              </a:lnSpc>
              <a:spcBef>
                <a:spcPts val="500"/>
              </a:spcBef>
              <a:spcAft>
                <a:spcPts val="0"/>
              </a:spcAft>
              <a:buClr>
                <a:schemeClr val="dk1"/>
              </a:buClr>
              <a:buSzPts val="1100"/>
              <a:buFont typeface="Calibri"/>
              <a:buChar char="‐"/>
              <a:defRPr sz="1100"/>
            </a:lvl7pPr>
            <a:lvl8pPr marL="3657600" lvl="7" indent="-298450" algn="l">
              <a:lnSpc>
                <a:spcPct val="90000"/>
              </a:lnSpc>
              <a:spcBef>
                <a:spcPts val="500"/>
              </a:spcBef>
              <a:spcAft>
                <a:spcPts val="0"/>
              </a:spcAft>
              <a:buClr>
                <a:schemeClr val="dk1"/>
              </a:buClr>
              <a:buSzPts val="1100"/>
              <a:buFont typeface="Calibri"/>
              <a:buChar char="‐"/>
              <a:defRPr sz="1100"/>
            </a:lvl8pPr>
            <a:lvl9pPr marL="4114800" lvl="8" indent="-298450" algn="l">
              <a:lnSpc>
                <a:spcPct val="90000"/>
              </a:lnSpc>
              <a:spcBef>
                <a:spcPts val="500"/>
              </a:spcBef>
              <a:spcAft>
                <a:spcPts val="0"/>
              </a:spcAft>
              <a:buClr>
                <a:schemeClr val="dk1"/>
              </a:buClr>
              <a:buSzPts val="1100"/>
              <a:buFont typeface="Calibri"/>
              <a:buChar char="‐"/>
              <a:defRPr sz="1100"/>
            </a:lvl9pPr>
          </a:lstStyle>
          <a:p>
            <a:endParaRPr/>
          </a:p>
        </p:txBody>
      </p:sp>
      <p:sp>
        <p:nvSpPr>
          <p:cNvPr id="24" name="Google Shape;24;p60"/>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6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60"/>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章節標題" type="secHead">
  <p:cSld name="SECTION_HEADER">
    <p:spTree>
      <p:nvGrpSpPr>
        <p:cNvPr id="1" name="Shape 27"/>
        <p:cNvGrpSpPr/>
        <p:nvPr/>
      </p:nvGrpSpPr>
      <p:grpSpPr>
        <a:xfrm>
          <a:off x="0" y="0"/>
          <a:ext cx="0" cy="0"/>
          <a:chOff x="0" y="0"/>
          <a:chExt cx="0" cy="0"/>
        </a:xfrm>
      </p:grpSpPr>
      <p:sp>
        <p:nvSpPr>
          <p:cNvPr id="28" name="Google Shape;28;p61"/>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Times New Roman"/>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61"/>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6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6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兩項物件" type="twoObj">
  <p:cSld name="TWO_OBJECTS">
    <p:spTree>
      <p:nvGrpSpPr>
        <p:cNvPr id="1" name="Shape 33"/>
        <p:cNvGrpSpPr/>
        <p:nvPr/>
      </p:nvGrpSpPr>
      <p:grpSpPr>
        <a:xfrm>
          <a:off x="0" y="0"/>
          <a:ext cx="0" cy="0"/>
          <a:chOff x="0" y="0"/>
          <a:chExt cx="0" cy="0"/>
        </a:xfrm>
      </p:grpSpPr>
      <p:sp>
        <p:nvSpPr>
          <p:cNvPr id="34" name="Google Shape;34;p6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2"/>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62"/>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6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對" type="twoTxTwoObj">
  <p:cSld name="TWO_OBJECTS_WITH_TEXT">
    <p:spTree>
      <p:nvGrpSpPr>
        <p:cNvPr id="1" name="Shape 40"/>
        <p:cNvGrpSpPr/>
        <p:nvPr/>
      </p:nvGrpSpPr>
      <p:grpSpPr>
        <a:xfrm>
          <a:off x="0" y="0"/>
          <a:ext cx="0" cy="0"/>
          <a:chOff x="0" y="0"/>
          <a:chExt cx="0" cy="0"/>
        </a:xfrm>
      </p:grpSpPr>
      <p:sp>
        <p:nvSpPr>
          <p:cNvPr id="41" name="Google Shape;41;p6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只有標題" type="titleOnly">
  <p:cSld name="TITLE_ONLY">
    <p:spTree>
      <p:nvGrpSpPr>
        <p:cNvPr id="1" name="Shape 49"/>
        <p:cNvGrpSpPr/>
        <p:nvPr/>
      </p:nvGrpSpPr>
      <p:grpSpPr>
        <a:xfrm>
          <a:off x="0" y="0"/>
          <a:ext cx="0" cy="0"/>
          <a:chOff x="0" y="0"/>
          <a:chExt cx="0" cy="0"/>
        </a:xfrm>
      </p:grpSpPr>
      <p:sp>
        <p:nvSpPr>
          <p:cNvPr id="50" name="Google Shape;50;p6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6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4"/>
        <p:cNvGrpSpPr/>
        <p:nvPr/>
      </p:nvGrpSpPr>
      <p:grpSpPr>
        <a:xfrm>
          <a:off x="0" y="0"/>
          <a:ext cx="0" cy="0"/>
          <a:chOff x="0" y="0"/>
          <a:chExt cx="0" cy="0"/>
        </a:xfrm>
      </p:grpSpPr>
      <p:sp>
        <p:nvSpPr>
          <p:cNvPr id="55" name="Google Shape;55;p6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6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含標題的內容" type="objTx">
  <p:cSld name="OBJECT_WITH_CAPTION_TEXT">
    <p:spTree>
      <p:nvGrpSpPr>
        <p:cNvPr id="1" name="Shape 58"/>
        <p:cNvGrpSpPr/>
        <p:nvPr/>
      </p:nvGrpSpPr>
      <p:grpSpPr>
        <a:xfrm>
          <a:off x="0" y="0"/>
          <a:ext cx="0" cy="0"/>
          <a:chOff x="0" y="0"/>
          <a:chExt cx="0" cy="0"/>
        </a:xfrm>
      </p:grpSpPr>
      <p:sp>
        <p:nvSpPr>
          <p:cNvPr id="59" name="Google Shape;59;p6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66"/>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66"/>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6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6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6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含標題的圖片" type="picTx">
  <p:cSld name="PICTURE_WITH_CAPTION_TEXT">
    <p:spTree>
      <p:nvGrpSpPr>
        <p:cNvPr id="1" name="Shape 65"/>
        <p:cNvGrpSpPr/>
        <p:nvPr/>
      </p:nvGrpSpPr>
      <p:grpSpPr>
        <a:xfrm>
          <a:off x="0" y="0"/>
          <a:ext cx="0" cy="0"/>
          <a:chOff x="0" y="0"/>
          <a:chExt cx="0" cy="0"/>
        </a:xfrm>
      </p:grpSpPr>
      <p:sp>
        <p:nvSpPr>
          <p:cNvPr id="66" name="Google Shape;66;p67"/>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67"/>
          <p:cNvSpPr>
            <a:spLocks noGrp="1"/>
          </p:cNvSpPr>
          <p:nvPr>
            <p:ph type="pic" idx="2"/>
          </p:nvPr>
        </p:nvSpPr>
        <p:spPr>
          <a:xfrm>
            <a:off x="3887391" y="987426"/>
            <a:ext cx="4629150" cy="4873625"/>
          </a:xfrm>
          <a:prstGeom prst="rect">
            <a:avLst/>
          </a:prstGeom>
          <a:noFill/>
          <a:ln>
            <a:noFill/>
          </a:ln>
        </p:spPr>
      </p:sp>
      <p:sp>
        <p:nvSpPr>
          <p:cNvPr id="68" name="Google Shape;68;p67"/>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6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6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標題及直排文字" type="vertTx">
  <p:cSld name="VERTICAL_TEXT">
    <p:spTree>
      <p:nvGrpSpPr>
        <p:cNvPr id="1" name="Shape 72"/>
        <p:cNvGrpSpPr/>
        <p:nvPr/>
      </p:nvGrpSpPr>
      <p:grpSpPr>
        <a:xfrm>
          <a:off x="0" y="0"/>
          <a:ext cx="0" cy="0"/>
          <a:chOff x="0" y="0"/>
          <a:chExt cx="0" cy="0"/>
        </a:xfrm>
      </p:grpSpPr>
      <p:sp>
        <p:nvSpPr>
          <p:cNvPr id="73" name="Google Shape;73;p6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68"/>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6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6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直排標題及文字" type="vertTitleAndTx">
  <p:cSld name="VERTICAL_TITLE_AND_VERTICAL_TEXT">
    <p:spTree>
      <p:nvGrpSpPr>
        <p:cNvPr id="1" name="Shape 78"/>
        <p:cNvGrpSpPr/>
        <p:nvPr/>
      </p:nvGrpSpPr>
      <p:grpSpPr>
        <a:xfrm>
          <a:off x="0" y="0"/>
          <a:ext cx="0" cy="0"/>
          <a:chOff x="0" y="0"/>
          <a:chExt cx="0" cy="0"/>
        </a:xfrm>
      </p:grpSpPr>
      <p:sp>
        <p:nvSpPr>
          <p:cNvPr id="79" name="Google Shape;79;p69"/>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69"/>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6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mt="7000"/>
          </a:blip>
          <a:tile tx="0" ty="0" sx="25000" sy="25000" flip="none" algn="ctr"/>
        </a:blipFill>
        <a:effectLst/>
      </p:bgPr>
    </p:bg>
    <p:spTree>
      <p:nvGrpSpPr>
        <p:cNvPr id="1" name="Shape 9"/>
        <p:cNvGrpSpPr/>
        <p:nvPr/>
      </p:nvGrpSpPr>
      <p:grpSpPr>
        <a:xfrm>
          <a:off x="0" y="0"/>
          <a:ext cx="0" cy="0"/>
          <a:chOff x="0" y="0"/>
          <a:chExt cx="0" cy="0"/>
        </a:xfrm>
      </p:grpSpPr>
      <p:sp>
        <p:nvSpPr>
          <p:cNvPr id="10" name="Google Shape;10;p5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200"/>
              <a:buFont typeface="Times New Roman"/>
              <a:buNone/>
              <a:defRPr sz="3200" b="0" i="0" u="none" strike="noStrike" cap="non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terasic.com.tw/cgi-bin/page/archive.pl?Language=Taiwan&amp;CategoryNo=159&amp;No=726"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terasic.com.tw/cgi-bin/page/archive.pl?Language=Taiwan&amp;CategoryNo=229&amp;No=1138"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bl430fpga.notion.site/bl430fpga/BL430-FPGA-bc15283eff644dbb99361cf0e3277a40"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hyperlink" Target="https://available-soursop-b6e.notion.site/Server-78a8b54198244cdca3d603d70ed0397c"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hackmd.io/@VdgkdLfjTJqoAqqkM8zAvA/rk10ItfPR"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hyperlink" Target="https://www.intel.com/content/www/us/en/docs/programmable/683819/25-1/faq.html"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hyperlink" Target="http://kastner.ucsd.edu/wp-content/uploads/2014/04/admin/fpl-riffa2.pdf"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8.jpg"/><Relationship Id="rId4" Type="http://schemas.openxmlformats.org/officeDocument/2006/relationships/hyperlink" Target="https://github.com/KastnerRG/riffa"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4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5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5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http://www1.cs.columbia.edu/~sedwards/classes/2009/4840/mnl_avalon_spec.pdf" TargetMode="External"/><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hyperlink" Target="http://www.innovateasia.com/asia/download/document/knowledge_11_Taiwan.pdf" TargetMode="External"/></Relationships>
</file>

<file path=ppt/slides/_rels/slide7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7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7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hyperlink" Target="https://www.terasic.com.tw/cgi-bin/page/archive.pl?Language=Taiwan&amp;CategoryNo=159&amp;No=726&amp;PartNo=4"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hyperlink" Target="https://www.terasic.com.tw/cgi-bin/page/archive.pl?Language=Taiwan&amp;CategoryNo=2&amp;No=1138&amp;PartNo=4" TargetMode="Externa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png"/></Relationships>
</file>

<file path=ppt/slides/_rels/slide8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9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10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10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685800" y="136524"/>
            <a:ext cx="7909560" cy="277413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dirty="0">
                <a:latin typeface="Times New Roman"/>
                <a:ea typeface="Times New Roman"/>
                <a:cs typeface="Times New Roman"/>
                <a:sym typeface="Times New Roman"/>
              </a:rPr>
              <a:t>RIFFA 2.2.2 for dummy</a:t>
            </a:r>
            <a:endParaRPr sz="3200" dirty="0">
              <a:latin typeface="Times New Roman"/>
              <a:ea typeface="Times New Roman"/>
              <a:cs typeface="Times New Roman"/>
              <a:sym typeface="Times New Roman"/>
            </a:endParaRPr>
          </a:p>
        </p:txBody>
      </p:sp>
      <p:sp>
        <p:nvSpPr>
          <p:cNvPr id="89" name="Google Shape;89;p1"/>
          <p:cNvSpPr txBox="1">
            <a:spLocks noGrp="1"/>
          </p:cNvSpPr>
          <p:nvPr>
            <p:ph type="subTitle" idx="1"/>
          </p:nvPr>
        </p:nvSpPr>
        <p:spPr>
          <a:xfrm>
            <a:off x="685800" y="3104763"/>
            <a:ext cx="7315200" cy="3057482"/>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2400"/>
              <a:buNone/>
            </a:pPr>
            <a:r>
              <a:rPr lang="en-US" dirty="0">
                <a:latin typeface="Times New Roman"/>
                <a:ea typeface="Times New Roman"/>
                <a:cs typeface="Times New Roman"/>
                <a:sym typeface="Times New Roman"/>
              </a:rPr>
              <a:t>2018/04/09 v1.0 Sheng Jui, Huang</a:t>
            </a:r>
            <a:endParaRPr dirty="0"/>
          </a:p>
          <a:p>
            <a:pPr marL="0" lvl="0" indent="0" algn="l" rtl="0">
              <a:lnSpc>
                <a:spcPct val="90000"/>
              </a:lnSpc>
              <a:spcBef>
                <a:spcPts val="1000"/>
              </a:spcBef>
              <a:spcAft>
                <a:spcPts val="0"/>
              </a:spcAft>
              <a:buClr>
                <a:schemeClr val="dk1"/>
              </a:buClr>
              <a:buSzPts val="2400"/>
              <a:buNone/>
            </a:pPr>
            <a:r>
              <a:rPr lang="en-US" dirty="0">
                <a:latin typeface="Times New Roman"/>
                <a:ea typeface="Times New Roman"/>
                <a:cs typeface="Times New Roman"/>
                <a:sym typeface="Times New Roman"/>
              </a:rPr>
              <a:t>2019/07/17 v2.0 Shih Wei, Hsieh</a:t>
            </a:r>
            <a:endParaRPr dirty="0"/>
          </a:p>
          <a:p>
            <a:pPr marL="0" lvl="0" indent="0" algn="l" rtl="0">
              <a:lnSpc>
                <a:spcPct val="90000"/>
              </a:lnSpc>
              <a:spcBef>
                <a:spcPts val="1000"/>
              </a:spcBef>
              <a:spcAft>
                <a:spcPts val="0"/>
              </a:spcAft>
              <a:buClr>
                <a:schemeClr val="dk1"/>
              </a:buClr>
              <a:buSzPts val="2400"/>
              <a:buNone/>
            </a:pPr>
            <a:r>
              <a:rPr lang="en-US" dirty="0">
                <a:latin typeface="Times New Roman"/>
                <a:ea typeface="Times New Roman"/>
                <a:cs typeface="Times New Roman"/>
                <a:sym typeface="Times New Roman"/>
              </a:rPr>
              <a:t>2021/07/30 v3.0 Yan Lun, Wu &amp; Shu Fan, Wu</a:t>
            </a:r>
            <a:endParaRPr dirty="0"/>
          </a:p>
          <a:p>
            <a:pPr marL="0" lvl="0" indent="0" algn="l" rtl="0">
              <a:lnSpc>
                <a:spcPct val="90000"/>
              </a:lnSpc>
              <a:spcBef>
                <a:spcPts val="1000"/>
              </a:spcBef>
              <a:spcAft>
                <a:spcPts val="0"/>
              </a:spcAft>
              <a:buClr>
                <a:schemeClr val="dk1"/>
              </a:buClr>
              <a:buSzPts val="2400"/>
              <a:buNone/>
            </a:pPr>
            <a:r>
              <a:rPr lang="en-US" dirty="0">
                <a:latin typeface="Times New Roman"/>
                <a:ea typeface="Times New Roman"/>
                <a:cs typeface="Times New Roman"/>
                <a:sym typeface="Times New Roman"/>
              </a:rPr>
              <a:t>2022/08/12 v4.0 Shu Fan, Wu &amp;  Shih Hao, Huang</a:t>
            </a:r>
            <a:endParaRPr dirty="0"/>
          </a:p>
          <a:p>
            <a:pPr marL="0" lvl="0" indent="0" algn="l" rtl="0">
              <a:lnSpc>
                <a:spcPct val="90000"/>
              </a:lnSpc>
              <a:spcBef>
                <a:spcPts val="1000"/>
              </a:spcBef>
              <a:spcAft>
                <a:spcPts val="0"/>
              </a:spcAft>
              <a:buClr>
                <a:schemeClr val="dk1"/>
              </a:buClr>
              <a:buSzPts val="2400"/>
              <a:buNone/>
            </a:pPr>
            <a:r>
              <a:rPr lang="en-US" dirty="0">
                <a:latin typeface="Times New Roman"/>
                <a:ea typeface="Times New Roman"/>
                <a:cs typeface="Times New Roman"/>
                <a:sym typeface="Times New Roman"/>
              </a:rPr>
              <a:t>2023/08/17 v5.0 Ke Fan, Lin</a:t>
            </a:r>
            <a:endParaRPr dirty="0"/>
          </a:p>
          <a:p>
            <a:pPr marL="0" lvl="0" indent="0" algn="l" rtl="0">
              <a:lnSpc>
                <a:spcPct val="90000"/>
              </a:lnSpc>
              <a:spcBef>
                <a:spcPts val="1000"/>
              </a:spcBef>
              <a:spcAft>
                <a:spcPts val="0"/>
              </a:spcAft>
              <a:buClr>
                <a:schemeClr val="dk1"/>
              </a:buClr>
              <a:buSzPts val="2400"/>
              <a:buNone/>
            </a:pPr>
            <a:r>
              <a:rPr lang="en-US" dirty="0">
                <a:latin typeface="Times New Roman"/>
                <a:ea typeface="Times New Roman"/>
                <a:cs typeface="Times New Roman"/>
                <a:sym typeface="Times New Roman"/>
              </a:rPr>
              <a:t>2024/07/32 v5.1 Catfish, Yan</a:t>
            </a:r>
          </a:p>
          <a:p>
            <a:pPr marL="0" lvl="0" indent="0" algn="l" rtl="0">
              <a:lnSpc>
                <a:spcPct val="90000"/>
              </a:lnSpc>
              <a:spcBef>
                <a:spcPts val="1000"/>
              </a:spcBef>
              <a:spcAft>
                <a:spcPts val="0"/>
              </a:spcAft>
              <a:buClr>
                <a:schemeClr val="dk1"/>
              </a:buClr>
              <a:buSzPts val="2400"/>
              <a:buNone/>
            </a:pPr>
            <a:r>
              <a:rPr lang="en-US" dirty="0">
                <a:latin typeface="Times New Roman" panose="02020603050405020304" pitchFamily="18" charset="0"/>
                <a:cs typeface="Times New Roman" panose="02020603050405020304" pitchFamily="18" charset="0"/>
              </a:rPr>
              <a:t>2025/07/31 v99.0 Jimmy, Shih</a:t>
            </a:r>
            <a:endParaRPr dirty="0">
              <a:latin typeface="Times New Roman" panose="02020603050405020304" pitchFamily="18" charset="0"/>
              <a:cs typeface="Times New Roman" panose="02020603050405020304" pitchFamily="18" charset="0"/>
            </a:endParaRPr>
          </a:p>
          <a:p>
            <a:pPr marL="0" lvl="0" indent="0" algn="l" rtl="0">
              <a:lnSpc>
                <a:spcPct val="90000"/>
              </a:lnSpc>
              <a:spcBef>
                <a:spcPts val="1000"/>
              </a:spcBef>
              <a:spcAft>
                <a:spcPts val="0"/>
              </a:spcAft>
              <a:buClr>
                <a:schemeClr val="dk1"/>
              </a:buClr>
              <a:buSzPts val="2400"/>
              <a:buNone/>
            </a:pPr>
            <a:endParaRPr dirty="0">
              <a:latin typeface="Times New Roman"/>
              <a:ea typeface="Times New Roman"/>
              <a:cs typeface="Times New Roman"/>
              <a:sym typeface="Times New Roman"/>
            </a:endParaRPr>
          </a:p>
        </p:txBody>
      </p:sp>
      <p:sp>
        <p:nvSpPr>
          <p:cNvPr id="90" name="Google Shape;90;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91" name="Google Shape;91;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77795" y="365126"/>
            <a:ext cx="8254313" cy="7155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sz="3200">
                <a:latin typeface="Times New Roman"/>
                <a:ea typeface="Times New Roman"/>
                <a:cs typeface="Times New Roman"/>
                <a:sym typeface="Times New Roman"/>
              </a:rPr>
              <a:t>Outline</a:t>
            </a:r>
            <a:endParaRPr sz="3200">
              <a:latin typeface="Times New Roman"/>
              <a:ea typeface="Times New Roman"/>
              <a:cs typeface="Times New Roman"/>
              <a:sym typeface="Times New Roman"/>
            </a:endParaRPr>
          </a:p>
        </p:txBody>
      </p:sp>
      <p:sp>
        <p:nvSpPr>
          <p:cNvPr id="97" name="Google Shape;97;p2"/>
          <p:cNvSpPr txBox="1">
            <a:spLocks noGrp="1"/>
          </p:cNvSpPr>
          <p:nvPr>
            <p:ph type="body" idx="1"/>
          </p:nvPr>
        </p:nvSpPr>
        <p:spPr>
          <a:xfrm>
            <a:off x="477795" y="1221972"/>
            <a:ext cx="8254313" cy="495499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latin typeface="Times New Roman"/>
                <a:ea typeface="Times New Roman"/>
                <a:cs typeface="Times New Roman"/>
                <a:sym typeface="Times New Roman"/>
              </a:rPr>
              <a:t>FPGA introduction</a:t>
            </a:r>
            <a:endParaRPr dirty="0"/>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What is RIFFA</a:t>
            </a:r>
            <a:endParaRPr dirty="0"/>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Practice </a:t>
            </a:r>
            <a:endParaRPr dirty="0"/>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Other useful utilities</a:t>
            </a:r>
            <a:endParaRPr dirty="0">
              <a:latin typeface="Times New Roman"/>
              <a:ea typeface="Times New Roman"/>
              <a:cs typeface="Times New Roman"/>
              <a:sym typeface="Times New Roman"/>
            </a:endParaRPr>
          </a:p>
        </p:txBody>
      </p:sp>
      <p:sp>
        <p:nvSpPr>
          <p:cNvPr id="98" name="Google Shape;98;p2"/>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99" name="Google Shape;99;p2"/>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77795" y="365126"/>
            <a:ext cx="8254313" cy="7155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sz="3200">
                <a:latin typeface="Times New Roman"/>
                <a:ea typeface="Times New Roman"/>
                <a:cs typeface="Times New Roman"/>
                <a:sym typeface="Times New Roman"/>
              </a:rPr>
              <a:t>Outline</a:t>
            </a:r>
            <a:endParaRPr sz="3200">
              <a:latin typeface="Times New Roman"/>
              <a:ea typeface="Times New Roman"/>
              <a:cs typeface="Times New Roman"/>
              <a:sym typeface="Times New Roman"/>
            </a:endParaRPr>
          </a:p>
        </p:txBody>
      </p:sp>
      <p:sp>
        <p:nvSpPr>
          <p:cNvPr id="97" name="Google Shape;97;p2"/>
          <p:cNvSpPr txBox="1">
            <a:spLocks noGrp="1"/>
          </p:cNvSpPr>
          <p:nvPr>
            <p:ph type="body" idx="1"/>
          </p:nvPr>
        </p:nvSpPr>
        <p:spPr>
          <a:xfrm>
            <a:off x="477795" y="1221972"/>
            <a:ext cx="8254313" cy="495499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latin typeface="Times New Roman"/>
                <a:ea typeface="Times New Roman"/>
                <a:cs typeface="Times New Roman"/>
                <a:sym typeface="Times New Roman"/>
              </a:rPr>
              <a:t>FPGA introduction</a:t>
            </a:r>
            <a:endParaRPr dirty="0"/>
          </a:p>
          <a:p>
            <a:pPr marL="228600" lvl="0" indent="-228600" algn="l" rtl="0">
              <a:lnSpc>
                <a:spcPct val="90000"/>
              </a:lnSpc>
              <a:spcBef>
                <a:spcPts val="1000"/>
              </a:spcBef>
              <a:spcAft>
                <a:spcPts val="0"/>
              </a:spcAft>
              <a:buClr>
                <a:schemeClr val="dk1"/>
              </a:buClr>
              <a:buSzPts val="2000"/>
              <a:buChar char="•"/>
            </a:pPr>
            <a:r>
              <a:rPr lang="en-US" dirty="0">
                <a:solidFill>
                  <a:schemeClr val="tx2"/>
                </a:solidFill>
                <a:latin typeface="Times New Roman"/>
                <a:ea typeface="Times New Roman"/>
                <a:cs typeface="Times New Roman"/>
                <a:sym typeface="Times New Roman"/>
              </a:rPr>
              <a:t>What is RIFFA</a:t>
            </a:r>
            <a:endParaRPr dirty="0">
              <a:solidFill>
                <a:schemeClr val="tx2"/>
              </a:solidFill>
            </a:endParaRPr>
          </a:p>
          <a:p>
            <a:pPr marL="228600" lvl="0" indent="-228600" algn="l" rtl="0">
              <a:lnSpc>
                <a:spcPct val="90000"/>
              </a:lnSpc>
              <a:spcBef>
                <a:spcPts val="1000"/>
              </a:spcBef>
              <a:spcAft>
                <a:spcPts val="0"/>
              </a:spcAft>
              <a:buClr>
                <a:schemeClr val="dk1"/>
              </a:buClr>
              <a:buSzPts val="2000"/>
              <a:buChar char="•"/>
            </a:pPr>
            <a:r>
              <a:rPr lang="en-US" dirty="0">
                <a:solidFill>
                  <a:schemeClr val="tx2"/>
                </a:solidFill>
                <a:latin typeface="Times New Roman"/>
                <a:ea typeface="Times New Roman"/>
                <a:cs typeface="Times New Roman"/>
                <a:sym typeface="Times New Roman"/>
              </a:rPr>
              <a:t>Practice </a:t>
            </a:r>
            <a:endParaRPr dirty="0">
              <a:solidFill>
                <a:schemeClr val="tx2"/>
              </a:solidFill>
            </a:endParaRPr>
          </a:p>
          <a:p>
            <a:pPr marL="228600" lvl="0" indent="-228600" algn="l" rtl="0">
              <a:lnSpc>
                <a:spcPct val="90000"/>
              </a:lnSpc>
              <a:spcBef>
                <a:spcPts val="1000"/>
              </a:spcBef>
              <a:spcAft>
                <a:spcPts val="0"/>
              </a:spcAft>
              <a:buClr>
                <a:schemeClr val="dk1"/>
              </a:buClr>
              <a:buSzPts val="2000"/>
              <a:buChar char="•"/>
            </a:pPr>
            <a:r>
              <a:rPr lang="en-US" dirty="0">
                <a:solidFill>
                  <a:schemeClr val="tx2"/>
                </a:solidFill>
                <a:latin typeface="Times New Roman"/>
                <a:ea typeface="Times New Roman"/>
                <a:cs typeface="Times New Roman"/>
                <a:sym typeface="Times New Roman"/>
              </a:rPr>
              <a:t>Other useful utilities</a:t>
            </a:r>
            <a:endParaRPr dirty="0">
              <a:solidFill>
                <a:schemeClr val="tx2"/>
              </a:solidFill>
              <a:latin typeface="Times New Roman"/>
              <a:ea typeface="Times New Roman"/>
              <a:cs typeface="Times New Roman"/>
              <a:sym typeface="Times New Roman"/>
            </a:endParaRPr>
          </a:p>
        </p:txBody>
      </p:sp>
      <p:sp>
        <p:nvSpPr>
          <p:cNvPr id="98" name="Google Shape;98;p2"/>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99" name="Google Shape;99;p2"/>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Tree>
    <p:extLst>
      <p:ext uri="{BB962C8B-B14F-4D97-AF65-F5344CB8AC3E}">
        <p14:creationId xmlns:p14="http://schemas.microsoft.com/office/powerpoint/2010/main" val="4076867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t>Terasic FPGA</a:t>
            </a:r>
            <a:r>
              <a:rPr lang="zh-TW" altLang="en-US" dirty="0"/>
              <a:t> </a:t>
            </a:r>
            <a:r>
              <a:rPr lang="en-US" altLang="zh-TW" dirty="0"/>
              <a:t>(Intel)</a:t>
            </a:r>
            <a:endParaRPr dirty="0"/>
          </a:p>
        </p:txBody>
      </p:sp>
      <p:sp>
        <p:nvSpPr>
          <p:cNvPr id="105" name="Google Shape;105;p3"/>
          <p:cNvSpPr txBox="1">
            <a:spLocks noGrp="1"/>
          </p:cNvSpPr>
          <p:nvPr>
            <p:ph type="body" idx="1"/>
          </p:nvPr>
        </p:nvSpPr>
        <p:spPr>
          <a:xfrm>
            <a:off x="477795" y="1034637"/>
            <a:ext cx="8254313" cy="49248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t>DE5-Net FPGA Development Kit</a:t>
            </a:r>
            <a:endParaRPr dirty="0"/>
          </a:p>
          <a:p>
            <a:pPr marL="685800" lvl="1" indent="-228600" algn="l" rtl="0">
              <a:lnSpc>
                <a:spcPct val="90000"/>
              </a:lnSpc>
              <a:spcBef>
                <a:spcPts val="500"/>
              </a:spcBef>
              <a:spcAft>
                <a:spcPts val="0"/>
              </a:spcAft>
              <a:buClr>
                <a:schemeClr val="dk1"/>
              </a:buClr>
              <a:buSzPts val="1800"/>
              <a:buChar char="˗"/>
            </a:pPr>
            <a:r>
              <a:rPr lang="en-US" u="sng" dirty="0">
                <a:solidFill>
                  <a:schemeClr val="hlink"/>
                </a:solidFill>
                <a:hlinkClick r:id="rId3"/>
              </a:rPr>
              <a:t>https://www.terasic.com.tw/cgi-bin/page/archive.pl?Language=Taiwan&amp;CategoryNo=159&amp;No=726</a:t>
            </a:r>
            <a:endParaRPr dirty="0"/>
          </a:p>
          <a:p>
            <a:pPr marL="685800" lvl="1" indent="-228600" algn="l" rtl="0">
              <a:lnSpc>
                <a:spcPct val="90000"/>
              </a:lnSpc>
              <a:spcBef>
                <a:spcPts val="500"/>
              </a:spcBef>
              <a:spcAft>
                <a:spcPts val="0"/>
              </a:spcAft>
              <a:buClr>
                <a:schemeClr val="dk1"/>
              </a:buClr>
              <a:buSzPts val="1800"/>
              <a:buChar char="˗"/>
            </a:pPr>
            <a:r>
              <a:rPr lang="en-US" dirty="0"/>
              <a:t>Altera Stratix® V GX FPGA (5SGXEA7N2F45C2)</a:t>
            </a:r>
            <a:endParaRPr dirty="0"/>
          </a:p>
          <a:p>
            <a:pPr marL="685800" lvl="1" indent="-228600" algn="l" rtl="0">
              <a:lnSpc>
                <a:spcPct val="90000"/>
              </a:lnSpc>
              <a:spcBef>
                <a:spcPts val="500"/>
              </a:spcBef>
              <a:spcAft>
                <a:spcPts val="0"/>
              </a:spcAft>
              <a:buClr>
                <a:schemeClr val="dk1"/>
              </a:buClr>
              <a:buSzPts val="1800"/>
              <a:buChar char="˗"/>
            </a:pPr>
            <a:r>
              <a:rPr lang="en-US" dirty="0"/>
              <a:t>Lots of resources in the web, includes user manual and CD</a:t>
            </a:r>
            <a:endParaRPr dirty="0"/>
          </a:p>
          <a:p>
            <a:pPr marL="685800" lvl="1" indent="-228600" algn="l" rtl="0">
              <a:lnSpc>
                <a:spcPct val="90000"/>
              </a:lnSpc>
              <a:spcBef>
                <a:spcPts val="500"/>
              </a:spcBef>
              <a:spcAft>
                <a:spcPts val="0"/>
              </a:spcAft>
              <a:buClr>
                <a:schemeClr val="dk1"/>
              </a:buClr>
              <a:buSzPts val="1800"/>
              <a:buChar char="˗"/>
            </a:pPr>
            <a:r>
              <a:rPr lang="en-US" dirty="0"/>
              <a:t>10 LEDs / 4 push-buttons / 4 slide switches / 2 seven-segment displays</a:t>
            </a:r>
            <a:endParaRPr dirty="0"/>
          </a:p>
          <a:p>
            <a:pPr marL="685800" lvl="1" indent="-228600" algn="l" rtl="0">
              <a:lnSpc>
                <a:spcPct val="90000"/>
              </a:lnSpc>
              <a:spcBef>
                <a:spcPts val="500"/>
              </a:spcBef>
              <a:spcAft>
                <a:spcPts val="0"/>
              </a:spcAft>
              <a:buClr>
                <a:schemeClr val="dk1"/>
              </a:buClr>
              <a:buSzPts val="1800"/>
              <a:buChar char="˗"/>
            </a:pPr>
            <a:r>
              <a:rPr lang="en-US" dirty="0"/>
              <a:t>622,000 logic elements (LEs)</a:t>
            </a:r>
            <a:endParaRPr dirty="0"/>
          </a:p>
          <a:p>
            <a:pPr marL="685800" lvl="1" indent="-228600" algn="l" rtl="0">
              <a:lnSpc>
                <a:spcPct val="90000"/>
              </a:lnSpc>
              <a:spcBef>
                <a:spcPts val="500"/>
              </a:spcBef>
              <a:spcAft>
                <a:spcPts val="0"/>
              </a:spcAft>
              <a:buClr>
                <a:schemeClr val="dk1"/>
              </a:buClr>
              <a:buSzPts val="1800"/>
              <a:buChar char="˗"/>
            </a:pPr>
            <a:r>
              <a:rPr lang="en-US" dirty="0"/>
              <a:t>50-Mbits embedded memory </a:t>
            </a:r>
            <a:r>
              <a:rPr lang="en-US" altLang="zh-TW" dirty="0"/>
              <a:t>(built-in BRAM)</a:t>
            </a:r>
          </a:p>
          <a:p>
            <a:pPr marL="685800" lvl="1" indent="-228600" algn="l" rtl="0">
              <a:lnSpc>
                <a:spcPct val="90000"/>
              </a:lnSpc>
              <a:spcBef>
                <a:spcPts val="500"/>
              </a:spcBef>
              <a:spcAft>
                <a:spcPts val="0"/>
              </a:spcAft>
              <a:buClr>
                <a:schemeClr val="dk1"/>
              </a:buClr>
              <a:buSzPts val="1800"/>
              <a:buChar char="˗"/>
            </a:pPr>
            <a:r>
              <a:rPr lang="en-US" dirty="0"/>
              <a:t>Also have internal SRAM, external DRAM on the board</a:t>
            </a:r>
          </a:p>
          <a:p>
            <a:pPr marL="685800" lvl="1" indent="-228600" algn="l" rtl="0">
              <a:lnSpc>
                <a:spcPct val="90000"/>
              </a:lnSpc>
              <a:spcBef>
                <a:spcPts val="500"/>
              </a:spcBef>
              <a:spcAft>
                <a:spcPts val="0"/>
              </a:spcAft>
              <a:buClr>
                <a:schemeClr val="dk1"/>
              </a:buClr>
              <a:buSzPts val="1800"/>
              <a:buChar char="˗"/>
            </a:pPr>
            <a:r>
              <a:rPr lang="en-US" dirty="0"/>
              <a:t>512 18-bit x 18-bit multipliers / 256 27-bit x 27-bit DSP blocks</a:t>
            </a:r>
            <a:endParaRPr dirty="0"/>
          </a:p>
        </p:txBody>
      </p:sp>
      <p:sp>
        <p:nvSpPr>
          <p:cNvPr id="106" name="Google Shape;106;p3"/>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107" name="Google Shape;107;p3"/>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pic>
        <p:nvPicPr>
          <p:cNvPr id="108" name="Google Shape;108;p3"/>
          <p:cNvPicPr preferRelativeResize="0"/>
          <p:nvPr/>
        </p:nvPicPr>
        <p:blipFill rotWithShape="1">
          <a:blip r:embed="rId4">
            <a:alphaModFix/>
          </a:blip>
          <a:srcRect/>
          <a:stretch/>
        </p:blipFill>
        <p:spPr>
          <a:xfrm>
            <a:off x="1858161" y="4105355"/>
            <a:ext cx="5427677" cy="252360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t>Terasic FPGA</a:t>
            </a:r>
            <a:endParaRPr dirty="0"/>
          </a:p>
        </p:txBody>
      </p:sp>
      <p:sp>
        <p:nvSpPr>
          <p:cNvPr id="114" name="Google Shape;114;p4"/>
          <p:cNvSpPr txBox="1">
            <a:spLocks noGrp="1"/>
          </p:cNvSpPr>
          <p:nvPr>
            <p:ph type="body" idx="1"/>
          </p:nvPr>
        </p:nvSpPr>
        <p:spPr>
          <a:xfrm>
            <a:off x="477795" y="1252152"/>
            <a:ext cx="8254313" cy="49248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a:t>PCIe</a:t>
            </a:r>
            <a:endParaRPr/>
          </a:p>
          <a:p>
            <a:pPr marL="228600" lvl="0" indent="-228600" algn="l" rtl="0">
              <a:lnSpc>
                <a:spcPct val="90000"/>
              </a:lnSpc>
              <a:spcBef>
                <a:spcPts val="1000"/>
              </a:spcBef>
              <a:spcAft>
                <a:spcPts val="0"/>
              </a:spcAft>
              <a:buClr>
                <a:schemeClr val="dk1"/>
              </a:buClr>
              <a:buSzPts val="2000"/>
              <a:buChar char="•"/>
            </a:pPr>
            <a:r>
              <a:rPr lang="en-US"/>
              <a:t>USB Blaster</a:t>
            </a:r>
            <a:endParaRPr/>
          </a:p>
          <a:p>
            <a:pPr marL="228600" lvl="0" indent="-228600" algn="l" rtl="0">
              <a:lnSpc>
                <a:spcPct val="90000"/>
              </a:lnSpc>
              <a:spcBef>
                <a:spcPts val="1000"/>
              </a:spcBef>
              <a:spcAft>
                <a:spcPts val="0"/>
              </a:spcAft>
              <a:buClr>
                <a:schemeClr val="dk1"/>
              </a:buClr>
              <a:buSzPts val="2000"/>
              <a:buChar char="•"/>
            </a:pPr>
            <a:r>
              <a:rPr lang="en-US"/>
              <a:t>12V Power Supply</a:t>
            </a:r>
            <a:endParaRPr/>
          </a:p>
        </p:txBody>
      </p:sp>
      <p:sp>
        <p:nvSpPr>
          <p:cNvPr id="115" name="Google Shape;115;p4"/>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116" name="Google Shape;116;p4"/>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pic>
        <p:nvPicPr>
          <p:cNvPr id="117" name="Google Shape;117;p4"/>
          <p:cNvPicPr preferRelativeResize="0"/>
          <p:nvPr/>
        </p:nvPicPr>
        <p:blipFill rotWithShape="1">
          <a:blip r:embed="rId3">
            <a:alphaModFix/>
          </a:blip>
          <a:srcRect/>
          <a:stretch/>
        </p:blipFill>
        <p:spPr>
          <a:xfrm>
            <a:off x="613402" y="2740298"/>
            <a:ext cx="7983098" cy="373144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5"/>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t>Terasic FPGA</a:t>
            </a:r>
            <a:endParaRPr dirty="0"/>
          </a:p>
        </p:txBody>
      </p:sp>
      <p:sp>
        <p:nvSpPr>
          <p:cNvPr id="123" name="Google Shape;123;p5"/>
          <p:cNvSpPr txBox="1">
            <a:spLocks noGrp="1"/>
          </p:cNvSpPr>
          <p:nvPr>
            <p:ph type="body" idx="1"/>
          </p:nvPr>
        </p:nvSpPr>
        <p:spPr>
          <a:xfrm>
            <a:off x="477795" y="1252152"/>
            <a:ext cx="8254313" cy="49248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b="1" dirty="0"/>
              <a:t>DE5a</a:t>
            </a:r>
            <a:r>
              <a:rPr lang="en-US" dirty="0"/>
              <a:t>-Net FPGA Development Kit</a:t>
            </a:r>
            <a:endParaRPr dirty="0"/>
          </a:p>
          <a:p>
            <a:pPr marL="685800" lvl="1" indent="-228600" algn="l" rtl="0">
              <a:lnSpc>
                <a:spcPct val="90000"/>
              </a:lnSpc>
              <a:spcBef>
                <a:spcPts val="500"/>
              </a:spcBef>
              <a:spcAft>
                <a:spcPts val="0"/>
              </a:spcAft>
              <a:buClr>
                <a:schemeClr val="dk1"/>
              </a:buClr>
              <a:buSzPts val="1800"/>
              <a:buChar char="˗"/>
            </a:pPr>
            <a:r>
              <a:rPr lang="en-US" dirty="0">
                <a:hlinkClick r:id="rId3"/>
              </a:rPr>
              <a:t>https://www.terasic.com.tw/cgi-bin/page/archive.pl?Language=Taiwan&amp;CategoryNo=229&amp;No=1138</a:t>
            </a:r>
            <a:r>
              <a:rPr lang="en-US" dirty="0"/>
              <a:t> </a:t>
            </a:r>
            <a:endParaRPr dirty="0"/>
          </a:p>
          <a:p>
            <a:pPr marL="685800" lvl="1" indent="-228600" algn="l" rtl="0">
              <a:lnSpc>
                <a:spcPct val="90000"/>
              </a:lnSpc>
              <a:spcBef>
                <a:spcPts val="500"/>
              </a:spcBef>
              <a:spcAft>
                <a:spcPts val="0"/>
              </a:spcAft>
              <a:buClr>
                <a:schemeClr val="dk1"/>
              </a:buClr>
              <a:buSzPts val="1800"/>
              <a:buChar char="˗"/>
            </a:pPr>
            <a:r>
              <a:rPr lang="en-US" dirty="0"/>
              <a:t>Arria 10 GX FPGA (10AX115N2F45E1SG) </a:t>
            </a:r>
            <a:endParaRPr dirty="0"/>
          </a:p>
          <a:p>
            <a:pPr marL="685800" lvl="1" indent="-228600" algn="l" rtl="0">
              <a:lnSpc>
                <a:spcPct val="90000"/>
              </a:lnSpc>
              <a:spcBef>
                <a:spcPts val="500"/>
              </a:spcBef>
              <a:spcAft>
                <a:spcPts val="0"/>
              </a:spcAft>
              <a:buClr>
                <a:schemeClr val="dk1"/>
              </a:buClr>
              <a:buSzPts val="1800"/>
              <a:buChar char="˗"/>
            </a:pPr>
            <a:r>
              <a:rPr lang="en-US" dirty="0"/>
              <a:t>Lots of resources in the web, includes user manual and CD</a:t>
            </a:r>
            <a:endParaRPr dirty="0"/>
          </a:p>
          <a:p>
            <a:pPr marL="685800" lvl="1" indent="-228600" algn="l" rtl="0">
              <a:lnSpc>
                <a:spcPct val="90000"/>
              </a:lnSpc>
              <a:spcBef>
                <a:spcPts val="500"/>
              </a:spcBef>
              <a:spcAft>
                <a:spcPts val="0"/>
              </a:spcAft>
              <a:buClr>
                <a:schemeClr val="dk1"/>
              </a:buClr>
              <a:buSzPts val="1800"/>
              <a:buChar char="˗"/>
            </a:pPr>
            <a:r>
              <a:rPr lang="en-US" dirty="0"/>
              <a:t>8 LEDs / 4 push-buttons / 2 slide switches / 2 seven-segment displays</a:t>
            </a:r>
            <a:endParaRPr dirty="0"/>
          </a:p>
          <a:p>
            <a:pPr marL="685800" lvl="1" indent="-228600" algn="l" rtl="0">
              <a:lnSpc>
                <a:spcPct val="90000"/>
              </a:lnSpc>
              <a:spcBef>
                <a:spcPts val="500"/>
              </a:spcBef>
              <a:spcAft>
                <a:spcPts val="0"/>
              </a:spcAft>
              <a:buClr>
                <a:schemeClr val="dk1"/>
              </a:buClr>
              <a:buSzPts val="1800"/>
              <a:buChar char="˗"/>
            </a:pPr>
            <a:r>
              <a:rPr lang="en-US" dirty="0"/>
              <a:t>1150K logic elements (LEs)</a:t>
            </a:r>
            <a:endParaRPr dirty="0"/>
          </a:p>
          <a:p>
            <a:pPr marL="685800" lvl="1" indent="-228600" algn="l" rtl="0">
              <a:lnSpc>
                <a:spcPct val="90000"/>
              </a:lnSpc>
              <a:spcBef>
                <a:spcPts val="500"/>
              </a:spcBef>
              <a:spcAft>
                <a:spcPts val="0"/>
              </a:spcAft>
              <a:buClr>
                <a:schemeClr val="dk1"/>
              </a:buClr>
              <a:buSzPts val="1800"/>
              <a:buChar char="˗"/>
            </a:pPr>
            <a:r>
              <a:rPr lang="en-US" dirty="0"/>
              <a:t>67Mbits embedded memory (50Mbits?)</a:t>
            </a:r>
            <a:endParaRPr dirty="0"/>
          </a:p>
          <a:p>
            <a:pPr marL="685800" lvl="1" indent="-228600" algn="l" rtl="0">
              <a:lnSpc>
                <a:spcPct val="90000"/>
              </a:lnSpc>
              <a:spcBef>
                <a:spcPts val="500"/>
              </a:spcBef>
              <a:spcAft>
                <a:spcPts val="0"/>
              </a:spcAft>
              <a:buClr>
                <a:schemeClr val="dk1"/>
              </a:buClr>
              <a:buSzPts val="1800"/>
              <a:buChar char="˗"/>
            </a:pPr>
            <a:r>
              <a:rPr lang="en-US" dirty="0"/>
              <a:t>3036 18-bit x 19-bit multipliers / 1518 Variable-precision DSP blocks </a:t>
            </a:r>
            <a:endParaRPr dirty="0"/>
          </a:p>
          <a:p>
            <a:pPr marL="685800" lvl="1" indent="-114300" algn="l" rtl="0">
              <a:lnSpc>
                <a:spcPct val="90000"/>
              </a:lnSpc>
              <a:spcBef>
                <a:spcPts val="500"/>
              </a:spcBef>
              <a:spcAft>
                <a:spcPts val="0"/>
              </a:spcAft>
              <a:buClr>
                <a:schemeClr val="dk1"/>
              </a:buClr>
              <a:buSzPts val="1800"/>
              <a:buNone/>
            </a:pPr>
            <a:endParaRPr dirty="0"/>
          </a:p>
        </p:txBody>
      </p:sp>
      <p:sp>
        <p:nvSpPr>
          <p:cNvPr id="124" name="Google Shape;124;p5"/>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125" name="Google Shape;125;p5"/>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6"/>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t>notion</a:t>
            </a:r>
            <a:endParaRPr/>
          </a:p>
        </p:txBody>
      </p:sp>
      <p:sp>
        <p:nvSpPr>
          <p:cNvPr id="131" name="Google Shape;131;p6"/>
          <p:cNvSpPr txBox="1">
            <a:spLocks noGrp="1"/>
          </p:cNvSpPr>
          <p:nvPr>
            <p:ph type="body" idx="1"/>
          </p:nvPr>
        </p:nvSpPr>
        <p:spPr>
          <a:xfrm>
            <a:off x="477795" y="1252152"/>
            <a:ext cx="8254313" cy="49248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u="sng" dirty="0">
                <a:solidFill>
                  <a:schemeClr val="hlink"/>
                </a:solidFill>
                <a:hlinkClick r:id="rId3"/>
              </a:rPr>
              <a:t>https://bl430fpga.notion.site/bl430fpga/BL430-FPGA-bc15283eff644dbb99361cf0e3277a40</a:t>
            </a:r>
            <a:endParaRPr dirty="0"/>
          </a:p>
          <a:p>
            <a:pPr marL="228600" lvl="0" indent="-101600" algn="l" rtl="0">
              <a:lnSpc>
                <a:spcPct val="90000"/>
              </a:lnSpc>
              <a:spcBef>
                <a:spcPts val="1000"/>
              </a:spcBef>
              <a:spcAft>
                <a:spcPts val="0"/>
              </a:spcAft>
              <a:buClr>
                <a:schemeClr val="dk1"/>
              </a:buClr>
              <a:buSzPts val="2000"/>
              <a:buNone/>
            </a:pPr>
            <a:endParaRPr dirty="0"/>
          </a:p>
        </p:txBody>
      </p:sp>
      <p:sp>
        <p:nvSpPr>
          <p:cNvPr id="132" name="Google Shape;132;p6"/>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888888"/>
              </a:buClr>
              <a:buSzPts val="1200"/>
              <a:buFont typeface="Calibri"/>
              <a:buNone/>
            </a:pPr>
            <a:r>
              <a:rPr lang="en-US"/>
              <a:t>2021/07/30</a:t>
            </a:r>
            <a:endParaRPr/>
          </a:p>
        </p:txBody>
      </p:sp>
      <p:sp>
        <p:nvSpPr>
          <p:cNvPr id="133" name="Google Shape;133;p6"/>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88888"/>
              </a:buClr>
              <a:buSzPts val="1200"/>
              <a:buFont typeface="Calibri"/>
              <a:buNone/>
            </a:pPr>
            <a:fld id="{00000000-1234-1234-1234-123412341234}" type="slidenum">
              <a:rPr lang="en-US"/>
              <a:t>7</a:t>
            </a:fld>
            <a:endParaRPr/>
          </a:p>
        </p:txBody>
      </p:sp>
      <p:pic>
        <p:nvPicPr>
          <p:cNvPr id="134" name="Google Shape;134;p6"/>
          <p:cNvPicPr preferRelativeResize="0"/>
          <p:nvPr/>
        </p:nvPicPr>
        <p:blipFill rotWithShape="1">
          <a:blip r:embed="rId4">
            <a:alphaModFix/>
          </a:blip>
          <a:srcRect/>
          <a:stretch/>
        </p:blipFill>
        <p:spPr>
          <a:xfrm>
            <a:off x="880547" y="2281159"/>
            <a:ext cx="7382905" cy="332468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t>Server list</a:t>
            </a:r>
            <a:endParaRPr/>
          </a:p>
        </p:txBody>
      </p:sp>
      <p:sp>
        <p:nvSpPr>
          <p:cNvPr id="140" name="Google Shape;140;p7"/>
          <p:cNvSpPr txBox="1">
            <a:spLocks noGrp="1"/>
          </p:cNvSpPr>
          <p:nvPr>
            <p:ph type="body" idx="1"/>
          </p:nvPr>
        </p:nvSpPr>
        <p:spPr>
          <a:xfrm>
            <a:off x="477795" y="1252152"/>
            <a:ext cx="8254313" cy="49248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t>The resources in our lab</a:t>
            </a:r>
            <a:endParaRPr dirty="0"/>
          </a:p>
          <a:p>
            <a:pPr marL="228600" lvl="0" indent="-228600" algn="l" rtl="0">
              <a:lnSpc>
                <a:spcPct val="90000"/>
              </a:lnSpc>
              <a:spcBef>
                <a:spcPts val="1000"/>
              </a:spcBef>
              <a:spcAft>
                <a:spcPts val="0"/>
              </a:spcAft>
              <a:buClr>
                <a:schemeClr val="dk1"/>
              </a:buClr>
              <a:buSzPts val="2000"/>
              <a:buChar char="•"/>
            </a:pPr>
            <a:r>
              <a:rPr lang="en-US" u="sng" dirty="0">
                <a:solidFill>
                  <a:schemeClr val="hlink"/>
                </a:solidFill>
                <a:hlinkClick r:id="rId3"/>
              </a:rPr>
              <a:t>https://available-soursop-b6e.notion.site/Server-78a8b54198244cdca3d603d70ed0397c</a:t>
            </a:r>
            <a:endParaRPr dirty="0"/>
          </a:p>
        </p:txBody>
      </p:sp>
      <p:sp>
        <p:nvSpPr>
          <p:cNvPr id="141" name="Google Shape;141;p7"/>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142" name="Google Shape;142;p7"/>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77795" y="365126"/>
            <a:ext cx="8254313" cy="7155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sz="3200">
                <a:latin typeface="Times New Roman"/>
                <a:ea typeface="Times New Roman"/>
                <a:cs typeface="Times New Roman"/>
                <a:sym typeface="Times New Roman"/>
              </a:rPr>
              <a:t>Outline</a:t>
            </a:r>
            <a:endParaRPr sz="3200">
              <a:latin typeface="Times New Roman"/>
              <a:ea typeface="Times New Roman"/>
              <a:cs typeface="Times New Roman"/>
              <a:sym typeface="Times New Roman"/>
            </a:endParaRPr>
          </a:p>
        </p:txBody>
      </p:sp>
      <p:sp>
        <p:nvSpPr>
          <p:cNvPr id="97" name="Google Shape;97;p2"/>
          <p:cNvSpPr txBox="1">
            <a:spLocks noGrp="1"/>
          </p:cNvSpPr>
          <p:nvPr>
            <p:ph type="body" idx="1"/>
          </p:nvPr>
        </p:nvSpPr>
        <p:spPr>
          <a:xfrm>
            <a:off x="477795" y="1221972"/>
            <a:ext cx="8254313" cy="495499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solidFill>
                  <a:schemeClr val="tx2"/>
                </a:solidFill>
                <a:latin typeface="Times New Roman"/>
                <a:ea typeface="Times New Roman"/>
                <a:cs typeface="Times New Roman"/>
                <a:sym typeface="Times New Roman"/>
              </a:rPr>
              <a:t>FPGA introduction</a:t>
            </a:r>
            <a:endParaRPr dirty="0">
              <a:solidFill>
                <a:schemeClr val="tx2"/>
              </a:solidFill>
            </a:endParaRPr>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What is RIFFA</a:t>
            </a:r>
            <a:endParaRPr dirty="0"/>
          </a:p>
          <a:p>
            <a:pPr marL="228600" lvl="0" indent="-228600" algn="l" rtl="0">
              <a:lnSpc>
                <a:spcPct val="90000"/>
              </a:lnSpc>
              <a:spcBef>
                <a:spcPts val="1000"/>
              </a:spcBef>
              <a:spcAft>
                <a:spcPts val="0"/>
              </a:spcAft>
              <a:buClr>
                <a:schemeClr val="dk1"/>
              </a:buClr>
              <a:buSzPts val="2000"/>
              <a:buChar char="•"/>
            </a:pPr>
            <a:r>
              <a:rPr lang="en-US" dirty="0">
                <a:solidFill>
                  <a:schemeClr val="tx2"/>
                </a:solidFill>
                <a:latin typeface="Times New Roman"/>
                <a:ea typeface="Times New Roman"/>
                <a:cs typeface="Times New Roman"/>
                <a:sym typeface="Times New Roman"/>
              </a:rPr>
              <a:t>Practice </a:t>
            </a:r>
            <a:endParaRPr dirty="0">
              <a:solidFill>
                <a:schemeClr val="tx2"/>
              </a:solidFill>
            </a:endParaRPr>
          </a:p>
          <a:p>
            <a:pPr marL="228600" lvl="0" indent="-228600" algn="l" rtl="0">
              <a:lnSpc>
                <a:spcPct val="90000"/>
              </a:lnSpc>
              <a:spcBef>
                <a:spcPts val="1000"/>
              </a:spcBef>
              <a:spcAft>
                <a:spcPts val="0"/>
              </a:spcAft>
              <a:buClr>
                <a:schemeClr val="dk1"/>
              </a:buClr>
              <a:buSzPts val="2000"/>
              <a:buChar char="•"/>
            </a:pPr>
            <a:r>
              <a:rPr lang="en-US" dirty="0">
                <a:solidFill>
                  <a:schemeClr val="tx2"/>
                </a:solidFill>
                <a:latin typeface="Times New Roman"/>
                <a:ea typeface="Times New Roman"/>
                <a:cs typeface="Times New Roman"/>
                <a:sym typeface="Times New Roman"/>
              </a:rPr>
              <a:t>Other useful utilities</a:t>
            </a:r>
            <a:endParaRPr dirty="0">
              <a:solidFill>
                <a:schemeClr val="tx2"/>
              </a:solidFill>
              <a:latin typeface="Times New Roman"/>
              <a:ea typeface="Times New Roman"/>
              <a:cs typeface="Times New Roman"/>
              <a:sym typeface="Times New Roman"/>
            </a:endParaRPr>
          </a:p>
        </p:txBody>
      </p:sp>
      <p:sp>
        <p:nvSpPr>
          <p:cNvPr id="98" name="Google Shape;98;p2"/>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99" name="Google Shape;99;p2"/>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Tree>
    <p:extLst>
      <p:ext uri="{BB962C8B-B14F-4D97-AF65-F5344CB8AC3E}">
        <p14:creationId xmlns:p14="http://schemas.microsoft.com/office/powerpoint/2010/main" val="2644156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E46BC0-19E5-4BC2-97D4-5026A078D9E7}"/>
              </a:ext>
            </a:extLst>
          </p:cNvPr>
          <p:cNvSpPr>
            <a:spLocks noGrp="1"/>
          </p:cNvSpPr>
          <p:nvPr>
            <p:ph type="title"/>
          </p:nvPr>
        </p:nvSpPr>
        <p:spPr/>
        <p:txBody>
          <a:bodyPr/>
          <a:lstStyle/>
          <a:p>
            <a:r>
              <a:rPr lang="en-US" altLang="zh-TW" dirty="0">
                <a:latin typeface="Times New Roman"/>
                <a:ea typeface="Times New Roman"/>
                <a:cs typeface="Times New Roman"/>
                <a:sym typeface="Times New Roman"/>
              </a:rPr>
              <a:t>What is RIFFA</a:t>
            </a:r>
            <a:endParaRPr lang="zh-TW" altLang="en-US" dirty="0"/>
          </a:p>
        </p:txBody>
      </p:sp>
      <p:sp>
        <p:nvSpPr>
          <p:cNvPr id="4" name="投影片編號版面配置區 3">
            <a:extLst>
              <a:ext uri="{FF2B5EF4-FFF2-40B4-BE49-F238E27FC236}">
                <a16:creationId xmlns:a16="http://schemas.microsoft.com/office/drawing/2014/main" id="{B62F7EEA-6831-4274-80B6-9B2890C392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6" name="圖片 5">
            <a:extLst>
              <a:ext uri="{FF2B5EF4-FFF2-40B4-BE49-F238E27FC236}">
                <a16:creationId xmlns:a16="http://schemas.microsoft.com/office/drawing/2014/main" id="{401CC05A-B081-49FE-BD13-0D31B62F5AA4}"/>
              </a:ext>
            </a:extLst>
          </p:cNvPr>
          <p:cNvPicPr>
            <a:picLocks noChangeAspect="1"/>
          </p:cNvPicPr>
          <p:nvPr/>
        </p:nvPicPr>
        <p:blipFill>
          <a:blip r:embed="rId2"/>
          <a:stretch>
            <a:fillRect/>
          </a:stretch>
        </p:blipFill>
        <p:spPr>
          <a:xfrm>
            <a:off x="2033287" y="1322242"/>
            <a:ext cx="5077425" cy="5389581"/>
          </a:xfrm>
          <a:prstGeom prst="rect">
            <a:avLst/>
          </a:prstGeom>
        </p:spPr>
      </p:pic>
    </p:spTree>
    <p:extLst>
      <p:ext uri="{BB962C8B-B14F-4D97-AF65-F5344CB8AC3E}">
        <p14:creationId xmlns:p14="http://schemas.microsoft.com/office/powerpoint/2010/main" val="1831141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8"/>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What is RIFFA</a:t>
            </a:r>
            <a:endParaRPr dirty="0"/>
          </a:p>
        </p:txBody>
      </p:sp>
      <p:sp>
        <p:nvSpPr>
          <p:cNvPr id="148" name="Google Shape;148;p8"/>
          <p:cNvSpPr txBox="1">
            <a:spLocks noGrp="1"/>
          </p:cNvSpPr>
          <p:nvPr>
            <p:ph type="body" idx="1"/>
          </p:nvPr>
        </p:nvSpPr>
        <p:spPr>
          <a:xfrm>
            <a:off x="477795" y="1252152"/>
            <a:ext cx="8254313" cy="499901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latin typeface="Times New Roman"/>
                <a:ea typeface="Times New Roman"/>
                <a:cs typeface="Times New Roman"/>
                <a:sym typeface="Times New Roman"/>
              </a:rPr>
              <a:t>RIFFA:</a:t>
            </a:r>
            <a:endParaRPr dirty="0"/>
          </a:p>
          <a:p>
            <a:pPr marL="685800" lvl="1" indent="-228600" algn="l" rtl="0">
              <a:lnSpc>
                <a:spcPct val="90000"/>
              </a:lnSpc>
              <a:spcBef>
                <a:spcPts val="500"/>
              </a:spcBef>
              <a:spcAft>
                <a:spcPts val="0"/>
              </a:spcAft>
              <a:buClr>
                <a:schemeClr val="dk1"/>
              </a:buClr>
              <a:buSzPts val="1800"/>
              <a:buFont typeface="Times New Roman"/>
              <a:buChar char="‐"/>
            </a:pPr>
            <a:r>
              <a:rPr lang="en-US" sz="1800" dirty="0">
                <a:latin typeface="Times New Roman"/>
                <a:ea typeface="Times New Roman"/>
                <a:cs typeface="Times New Roman"/>
                <a:sym typeface="Times New Roman"/>
              </a:rPr>
              <a:t>Reusable Integration Framework for FPGA Accelerators</a:t>
            </a:r>
            <a:endParaRPr dirty="0"/>
          </a:p>
          <a:p>
            <a:pPr marL="685800" lvl="1" indent="-228600" algn="l" rtl="0">
              <a:lnSpc>
                <a:spcPct val="90000"/>
              </a:lnSpc>
              <a:spcBef>
                <a:spcPts val="500"/>
              </a:spcBef>
              <a:spcAft>
                <a:spcPts val="0"/>
              </a:spcAft>
              <a:buClr>
                <a:schemeClr val="dk1"/>
              </a:buClr>
              <a:buSzPts val="1800"/>
              <a:buFont typeface="Times New Roman"/>
              <a:buChar char="‐"/>
            </a:pPr>
            <a:r>
              <a:rPr lang="en-US" dirty="0">
                <a:latin typeface="Times New Roman"/>
                <a:ea typeface="Times New Roman"/>
                <a:cs typeface="Times New Roman"/>
                <a:sym typeface="Times New Roman"/>
              </a:rPr>
              <a:t>Requires a </a:t>
            </a:r>
            <a:r>
              <a:rPr lang="en-US" dirty="0">
                <a:solidFill>
                  <a:srgbClr val="FF0000"/>
                </a:solidFill>
                <a:latin typeface="Times New Roman"/>
                <a:ea typeface="Times New Roman"/>
                <a:cs typeface="Times New Roman"/>
                <a:sym typeface="Times New Roman"/>
              </a:rPr>
              <a:t>PCIe enabled workstation</a:t>
            </a:r>
            <a:r>
              <a:rPr lang="en-US" dirty="0">
                <a:latin typeface="Times New Roman"/>
                <a:ea typeface="Times New Roman"/>
                <a:cs typeface="Times New Roman"/>
                <a:sym typeface="Times New Roman"/>
              </a:rPr>
              <a:t> and a </a:t>
            </a:r>
            <a:r>
              <a:rPr lang="en-US" dirty="0">
                <a:solidFill>
                  <a:srgbClr val="FF0000"/>
                </a:solidFill>
                <a:latin typeface="Times New Roman"/>
                <a:ea typeface="Times New Roman"/>
                <a:cs typeface="Times New Roman"/>
                <a:sym typeface="Times New Roman"/>
              </a:rPr>
              <a:t>FPGA</a:t>
            </a:r>
            <a:r>
              <a:rPr lang="en-US" dirty="0">
                <a:latin typeface="Times New Roman"/>
                <a:ea typeface="Times New Roman"/>
                <a:cs typeface="Times New Roman"/>
                <a:sym typeface="Times New Roman"/>
              </a:rPr>
              <a:t> board with a </a:t>
            </a:r>
            <a:r>
              <a:rPr lang="en-US" dirty="0">
                <a:solidFill>
                  <a:srgbClr val="FF0000"/>
                </a:solidFill>
                <a:latin typeface="Times New Roman"/>
                <a:ea typeface="Times New Roman"/>
                <a:cs typeface="Times New Roman"/>
                <a:sym typeface="Times New Roman"/>
              </a:rPr>
              <a:t>PCIe connector</a:t>
            </a:r>
            <a:endParaRPr sz="1800" dirty="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Pros:</a:t>
            </a:r>
            <a:endParaRPr dirty="0"/>
          </a:p>
          <a:p>
            <a:pPr marL="685800" lvl="1" indent="-228600" algn="l" rtl="0">
              <a:lnSpc>
                <a:spcPct val="90000"/>
              </a:lnSpc>
              <a:spcBef>
                <a:spcPts val="500"/>
              </a:spcBef>
              <a:spcAft>
                <a:spcPts val="0"/>
              </a:spcAft>
              <a:buClr>
                <a:schemeClr val="dk1"/>
              </a:buClr>
              <a:buSzPts val="1800"/>
              <a:buFont typeface="Times New Roman"/>
              <a:buChar char="‐"/>
            </a:pPr>
            <a:r>
              <a:rPr lang="en-US" sz="1800" dirty="0">
                <a:latin typeface="Times New Roman"/>
                <a:ea typeface="Times New Roman"/>
                <a:cs typeface="Times New Roman"/>
                <a:sym typeface="Times New Roman"/>
              </a:rPr>
              <a:t>Both the software and hardware interfaces have been greatly simplified</a:t>
            </a:r>
            <a:endParaRPr dirty="0"/>
          </a:p>
          <a:p>
            <a:pPr marL="685800" lvl="1" indent="-228600" algn="l" rtl="0">
              <a:lnSpc>
                <a:spcPct val="90000"/>
              </a:lnSpc>
              <a:spcBef>
                <a:spcPts val="500"/>
              </a:spcBef>
              <a:spcAft>
                <a:spcPts val="0"/>
              </a:spcAft>
              <a:buClr>
                <a:srgbClr val="FF0000"/>
              </a:buClr>
              <a:buSzPts val="1800"/>
              <a:buChar char="˗"/>
            </a:pPr>
            <a:r>
              <a:rPr lang="en-US" dirty="0">
                <a:solidFill>
                  <a:srgbClr val="FF0000"/>
                </a:solidFill>
                <a:latin typeface="Times New Roman"/>
                <a:ea typeface="Times New Roman"/>
                <a:cs typeface="Times New Roman"/>
                <a:sym typeface="Times New Roman"/>
              </a:rPr>
              <a:t>Ease of programming</a:t>
            </a:r>
            <a:r>
              <a:rPr lang="en-US" dirty="0">
                <a:latin typeface="Times New Roman"/>
                <a:ea typeface="Times New Roman"/>
                <a:cs typeface="Times New Roman"/>
                <a:sym typeface="Times New Roman"/>
              </a:rPr>
              <a:t>: details of the PCIe protocol, device driver, DMA operation, and all hardware addressing are hidden from both the software and hardware.</a:t>
            </a:r>
            <a:endParaRPr sz="4400" dirty="0">
              <a:latin typeface="Times New Roman"/>
              <a:ea typeface="Times New Roman"/>
              <a:cs typeface="Times New Roman"/>
              <a:sym typeface="Times New Roman"/>
            </a:endParaRPr>
          </a:p>
          <a:p>
            <a:pPr marL="685800" lvl="1" indent="-228600" algn="l" rtl="0">
              <a:lnSpc>
                <a:spcPct val="90000"/>
              </a:lnSpc>
              <a:spcBef>
                <a:spcPts val="500"/>
              </a:spcBef>
              <a:spcAft>
                <a:spcPts val="0"/>
              </a:spcAft>
              <a:buClr>
                <a:schemeClr val="dk1"/>
              </a:buClr>
              <a:buSzPts val="1800"/>
              <a:buFont typeface="Times New Roman"/>
              <a:buChar char="‐"/>
            </a:pPr>
            <a:r>
              <a:rPr lang="en-US" dirty="0">
                <a:latin typeface="Times New Roman"/>
                <a:ea typeface="Times New Roman"/>
                <a:cs typeface="Times New Roman"/>
                <a:sym typeface="Times New Roman"/>
              </a:rPr>
              <a:t>Support for </a:t>
            </a:r>
            <a:r>
              <a:rPr lang="en-US" dirty="0">
                <a:solidFill>
                  <a:srgbClr val="FF0000"/>
                </a:solidFill>
                <a:latin typeface="Times New Roman"/>
                <a:ea typeface="Times New Roman"/>
                <a:cs typeface="Times New Roman"/>
                <a:sym typeface="Times New Roman"/>
              </a:rPr>
              <a:t>Linux</a:t>
            </a:r>
            <a:r>
              <a:rPr lang="en-US" dirty="0">
                <a:latin typeface="Times New Roman"/>
                <a:ea typeface="Times New Roman"/>
                <a:cs typeface="Times New Roman"/>
                <a:sym typeface="Times New Roman"/>
              </a:rPr>
              <a:t> and Windows, software bindings for </a:t>
            </a:r>
            <a:r>
              <a:rPr lang="en-US" dirty="0">
                <a:solidFill>
                  <a:srgbClr val="FF0000"/>
                </a:solidFill>
                <a:latin typeface="Times New Roman"/>
                <a:ea typeface="Times New Roman"/>
                <a:cs typeface="Times New Roman"/>
                <a:sym typeface="Times New Roman"/>
              </a:rPr>
              <a:t>C/C++, </a:t>
            </a:r>
            <a:r>
              <a:rPr lang="en-US" dirty="0">
                <a:latin typeface="Times New Roman"/>
                <a:ea typeface="Times New Roman"/>
                <a:cs typeface="Times New Roman"/>
                <a:sym typeface="Times New Roman"/>
              </a:rPr>
              <a:t>Python, MATLAB , and Java</a:t>
            </a:r>
            <a:endParaRPr dirty="0"/>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Cons:</a:t>
            </a:r>
            <a:endParaRPr dirty="0"/>
          </a:p>
          <a:p>
            <a:pPr marL="685800" lvl="1" indent="-228600" algn="l" rtl="0">
              <a:lnSpc>
                <a:spcPct val="90000"/>
              </a:lnSpc>
              <a:spcBef>
                <a:spcPts val="500"/>
              </a:spcBef>
              <a:spcAft>
                <a:spcPts val="0"/>
              </a:spcAft>
              <a:buClr>
                <a:schemeClr val="dk1"/>
              </a:buClr>
              <a:buSzPts val="1800"/>
              <a:buFont typeface="Times New Roman"/>
              <a:buChar char="˗"/>
            </a:pPr>
            <a:r>
              <a:rPr lang="en-US" dirty="0">
                <a:latin typeface="Times New Roman"/>
                <a:ea typeface="Times New Roman"/>
                <a:cs typeface="Times New Roman"/>
                <a:sym typeface="Times New Roman"/>
              </a:rPr>
              <a:t>Takes up resource: If no high speed data I/O communication is needed, then its better to not use it</a:t>
            </a:r>
            <a:endParaRPr dirty="0"/>
          </a:p>
          <a:p>
            <a:pPr marL="685800" lvl="1" indent="-228600" algn="l" rtl="0">
              <a:lnSpc>
                <a:spcPct val="90000"/>
              </a:lnSpc>
              <a:spcBef>
                <a:spcPts val="500"/>
              </a:spcBef>
              <a:spcAft>
                <a:spcPts val="0"/>
              </a:spcAft>
              <a:buClr>
                <a:schemeClr val="dk1"/>
              </a:buClr>
              <a:buSzPts val="1800"/>
              <a:buFont typeface="Times New Roman"/>
              <a:buChar char="˗"/>
            </a:pPr>
            <a:r>
              <a:rPr lang="en-US" dirty="0">
                <a:latin typeface="Times New Roman"/>
                <a:ea typeface="Times New Roman"/>
                <a:cs typeface="Times New Roman"/>
                <a:sym typeface="Times New Roman"/>
              </a:rPr>
              <a:t>Loss of flexibility</a:t>
            </a:r>
            <a:endParaRPr dirty="0"/>
          </a:p>
          <a:p>
            <a:pPr marL="228600" lvl="0" indent="-101600" algn="l" rtl="0">
              <a:lnSpc>
                <a:spcPct val="90000"/>
              </a:lnSpc>
              <a:spcBef>
                <a:spcPts val="1000"/>
              </a:spcBef>
              <a:spcAft>
                <a:spcPts val="0"/>
              </a:spcAft>
              <a:buClr>
                <a:schemeClr val="dk1"/>
              </a:buClr>
              <a:buSzPts val="2000"/>
              <a:buNone/>
            </a:pPr>
            <a:endParaRPr dirty="0">
              <a:latin typeface="Times New Roman"/>
              <a:ea typeface="Times New Roman"/>
              <a:cs typeface="Times New Roman"/>
              <a:sym typeface="Times New Roman"/>
            </a:endParaRPr>
          </a:p>
          <a:p>
            <a:pPr marL="228600" lvl="0" indent="-101600" algn="l" rtl="0">
              <a:lnSpc>
                <a:spcPct val="90000"/>
              </a:lnSpc>
              <a:spcBef>
                <a:spcPts val="1000"/>
              </a:spcBef>
              <a:spcAft>
                <a:spcPts val="0"/>
              </a:spcAft>
              <a:buClr>
                <a:schemeClr val="dk1"/>
              </a:buClr>
              <a:buSzPts val="2000"/>
              <a:buNone/>
            </a:pPr>
            <a:endParaRPr dirty="0">
              <a:latin typeface="Times New Roman"/>
              <a:ea typeface="Times New Roman"/>
              <a:cs typeface="Times New Roman"/>
              <a:sym typeface="Times New Roman"/>
            </a:endParaRPr>
          </a:p>
        </p:txBody>
      </p:sp>
      <p:sp>
        <p:nvSpPr>
          <p:cNvPr id="149" name="Google Shape;149;p8"/>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150" name="Google Shape;150;p8"/>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9"/>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What is RIFFA</a:t>
            </a:r>
            <a:endParaRPr dirty="0"/>
          </a:p>
        </p:txBody>
      </p:sp>
      <p:sp>
        <p:nvSpPr>
          <p:cNvPr id="156" name="Google Shape;156;p9"/>
          <p:cNvSpPr txBox="1">
            <a:spLocks noGrp="1"/>
          </p:cNvSpPr>
          <p:nvPr>
            <p:ph type="body" idx="1"/>
          </p:nvPr>
        </p:nvSpPr>
        <p:spPr>
          <a:xfrm>
            <a:off x="477795" y="1252153"/>
            <a:ext cx="8400020" cy="154515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latin typeface="Times New Roman"/>
                <a:ea typeface="Times New Roman"/>
                <a:cs typeface="Times New Roman"/>
                <a:sym typeface="Times New Roman"/>
              </a:rPr>
              <a:t>User cores interface with RIFFA 2.0 via a Channel core</a:t>
            </a:r>
            <a:endParaRPr dirty="0"/>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The Channel core has FIFOs for receiving and sending data respectively.</a:t>
            </a:r>
            <a:endParaRPr dirty="0"/>
          </a:p>
          <a:p>
            <a:pPr marL="228600" lvl="0" indent="-101600" algn="l" rtl="0">
              <a:lnSpc>
                <a:spcPct val="90000"/>
              </a:lnSpc>
              <a:spcBef>
                <a:spcPts val="1000"/>
              </a:spcBef>
              <a:spcAft>
                <a:spcPts val="0"/>
              </a:spcAft>
              <a:buClr>
                <a:schemeClr val="dk1"/>
              </a:buClr>
              <a:buSzPts val="2000"/>
              <a:buNone/>
            </a:pPr>
            <a:endParaRPr dirty="0">
              <a:latin typeface="Times New Roman"/>
              <a:ea typeface="Times New Roman"/>
              <a:cs typeface="Times New Roman"/>
              <a:sym typeface="Times New Roman"/>
            </a:endParaRPr>
          </a:p>
        </p:txBody>
      </p:sp>
      <p:sp>
        <p:nvSpPr>
          <p:cNvPr id="157" name="Google Shape;157;p9"/>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pic>
        <p:nvPicPr>
          <p:cNvPr id="158" name="Google Shape;158;p9"/>
          <p:cNvPicPr preferRelativeResize="0"/>
          <p:nvPr/>
        </p:nvPicPr>
        <p:blipFill rotWithShape="1">
          <a:blip r:embed="rId3">
            <a:alphaModFix/>
          </a:blip>
          <a:srcRect/>
          <a:stretch/>
        </p:blipFill>
        <p:spPr>
          <a:xfrm>
            <a:off x="5698608" y="2451492"/>
            <a:ext cx="3419949" cy="3520371"/>
          </a:xfrm>
          <a:prstGeom prst="rect">
            <a:avLst/>
          </a:prstGeom>
          <a:noFill/>
          <a:ln>
            <a:noFill/>
          </a:ln>
        </p:spPr>
      </p:pic>
      <p:sp>
        <p:nvSpPr>
          <p:cNvPr id="159" name="Google Shape;159;p9"/>
          <p:cNvSpPr/>
          <p:nvPr/>
        </p:nvSpPr>
        <p:spPr>
          <a:xfrm>
            <a:off x="7554596" y="5346745"/>
            <a:ext cx="963239" cy="521277"/>
          </a:xfrm>
          <a:prstGeom prst="rect">
            <a:avLst/>
          </a:prstGeom>
          <a:noFill/>
          <a:ln w="28575" cap="flat" cmpd="sng">
            <a:solidFill>
              <a:srgbClr val="FF0000"/>
            </a:solidFill>
            <a:prstDash val="solid"/>
            <a:round/>
            <a:headEnd type="none" w="sm" len="sm"/>
            <a:tailEnd type="none" w="sm" len="sm"/>
          </a:ln>
        </p:spPr>
        <p:txBody>
          <a:bodyPr spcFirstLastPara="1" wrap="square" lIns="90000" tIns="46800" rIns="90000" bIns="46800" anchor="ctr" anchorCtr="0">
            <a:noAutofit/>
          </a:bodyPr>
          <a:lstStyle/>
          <a:p>
            <a:pPr marL="0" marR="0" lvl="0" indent="0" algn="l" rtl="0">
              <a:lnSpc>
                <a:spcPct val="100000"/>
              </a:lnSpc>
              <a:spcBef>
                <a:spcPts val="0"/>
              </a:spcBef>
              <a:spcAft>
                <a:spcPts val="0"/>
              </a:spcAft>
              <a:buClr>
                <a:schemeClr val="dk1"/>
              </a:buClr>
              <a:buSzPts val="2000"/>
              <a:buFont typeface="Calibri"/>
              <a:buNone/>
            </a:pPr>
            <a:endParaRPr sz="2000" b="0" i="0" u="none" strike="noStrike" cap="none">
              <a:solidFill>
                <a:schemeClr val="dk1"/>
              </a:solidFill>
              <a:latin typeface="Arial"/>
              <a:ea typeface="Arial"/>
              <a:cs typeface="Arial"/>
              <a:sym typeface="Arial"/>
            </a:endParaRPr>
          </a:p>
        </p:txBody>
      </p:sp>
      <p:sp>
        <p:nvSpPr>
          <p:cNvPr id="160" name="Google Shape;160;p9"/>
          <p:cNvSpPr/>
          <p:nvPr/>
        </p:nvSpPr>
        <p:spPr>
          <a:xfrm>
            <a:off x="5961324" y="2517994"/>
            <a:ext cx="702774" cy="210762"/>
          </a:xfrm>
          <a:prstGeom prst="rect">
            <a:avLst/>
          </a:prstGeom>
          <a:noFill/>
          <a:ln w="28575" cap="flat" cmpd="sng">
            <a:solidFill>
              <a:srgbClr val="FF0000"/>
            </a:solidFill>
            <a:prstDash val="solid"/>
            <a:round/>
            <a:headEnd type="none" w="sm" len="sm"/>
            <a:tailEnd type="none" w="sm" len="sm"/>
          </a:ln>
        </p:spPr>
        <p:txBody>
          <a:bodyPr spcFirstLastPara="1" wrap="square" lIns="90000" tIns="46800" rIns="90000" bIns="46800" anchor="ctr" anchorCtr="0">
            <a:noAutofit/>
          </a:bodyPr>
          <a:lstStyle/>
          <a:p>
            <a:pPr marL="0" marR="0" lvl="0" indent="0" algn="l" rtl="0">
              <a:lnSpc>
                <a:spcPct val="100000"/>
              </a:lnSpc>
              <a:spcBef>
                <a:spcPts val="0"/>
              </a:spcBef>
              <a:spcAft>
                <a:spcPts val="0"/>
              </a:spcAft>
              <a:buClr>
                <a:schemeClr val="dk1"/>
              </a:buClr>
              <a:buSzPts val="2000"/>
              <a:buFont typeface="Calibri"/>
              <a:buNone/>
            </a:pPr>
            <a:endParaRPr sz="2000" b="0" i="0" u="none" strike="noStrike" cap="none">
              <a:solidFill>
                <a:schemeClr val="dk1"/>
              </a:solidFill>
              <a:latin typeface="Arial"/>
              <a:ea typeface="Arial"/>
              <a:cs typeface="Arial"/>
              <a:sym typeface="Arial"/>
            </a:endParaRPr>
          </a:p>
        </p:txBody>
      </p:sp>
      <p:sp>
        <p:nvSpPr>
          <p:cNvPr id="161" name="Google Shape;161;p9"/>
          <p:cNvSpPr txBox="1"/>
          <p:nvPr/>
        </p:nvSpPr>
        <p:spPr>
          <a:xfrm>
            <a:off x="477796" y="2098457"/>
            <a:ext cx="5158233" cy="4226443"/>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2000"/>
              <a:buFont typeface="Arial"/>
              <a:buChar char="•"/>
            </a:pPr>
            <a:r>
              <a:rPr lang="en-US" sz="2000" b="0" i="0" u="none" strike="noStrike" cap="none" dirty="0">
                <a:solidFill>
                  <a:schemeClr val="dk1"/>
                </a:solidFill>
                <a:latin typeface="Times New Roman"/>
                <a:ea typeface="Times New Roman"/>
                <a:cs typeface="Times New Roman"/>
                <a:sym typeface="Times New Roman"/>
              </a:rPr>
              <a:t>The </a:t>
            </a:r>
            <a:r>
              <a:rPr lang="en-US" sz="2000" b="0" i="0" u="none" strike="noStrike" cap="none" dirty="0">
                <a:solidFill>
                  <a:srgbClr val="FF0000"/>
                </a:solidFill>
                <a:latin typeface="Times New Roman"/>
                <a:ea typeface="Times New Roman"/>
                <a:cs typeface="Times New Roman"/>
                <a:sym typeface="Times New Roman"/>
              </a:rPr>
              <a:t>RX Engine </a:t>
            </a:r>
            <a:r>
              <a:rPr lang="en-US" sz="2000" b="0" i="0" u="none" strike="noStrike" cap="none" dirty="0">
                <a:solidFill>
                  <a:schemeClr val="dk1"/>
                </a:solidFill>
                <a:latin typeface="Times New Roman"/>
                <a:ea typeface="Times New Roman"/>
                <a:cs typeface="Times New Roman"/>
                <a:sym typeface="Times New Roman"/>
              </a:rPr>
              <a:t>core is responsible for extracting and demultiplexing received PCIe payload data.</a:t>
            </a:r>
            <a:endParaRPr dirty="0"/>
          </a:p>
          <a:p>
            <a:pPr marL="228600" marR="0" lvl="0" indent="-228600" algn="l" rtl="0">
              <a:lnSpc>
                <a:spcPct val="90000"/>
              </a:lnSpc>
              <a:spcBef>
                <a:spcPts val="1000"/>
              </a:spcBef>
              <a:spcAft>
                <a:spcPts val="0"/>
              </a:spcAft>
              <a:buClr>
                <a:schemeClr val="dk1"/>
              </a:buClr>
              <a:buSzPts val="2000"/>
              <a:buFont typeface="Arial"/>
              <a:buChar char="•"/>
            </a:pPr>
            <a:r>
              <a:rPr lang="en-US" sz="2000" b="0" i="0" u="none" strike="noStrike" cap="none" dirty="0">
                <a:solidFill>
                  <a:schemeClr val="dk1"/>
                </a:solidFill>
                <a:latin typeface="Times New Roman"/>
                <a:ea typeface="Times New Roman"/>
                <a:cs typeface="Times New Roman"/>
                <a:sym typeface="Times New Roman"/>
              </a:rPr>
              <a:t>The </a:t>
            </a:r>
            <a:r>
              <a:rPr lang="en-US" sz="2000" b="0" i="0" u="none" strike="noStrike" cap="none" dirty="0">
                <a:solidFill>
                  <a:srgbClr val="FF0000"/>
                </a:solidFill>
                <a:latin typeface="Times New Roman"/>
                <a:ea typeface="Times New Roman"/>
                <a:cs typeface="Times New Roman"/>
                <a:sym typeface="Times New Roman"/>
              </a:rPr>
              <a:t>TX Engine </a:t>
            </a:r>
            <a:r>
              <a:rPr lang="en-US" sz="2000" b="0" i="0" u="none" strike="noStrike" cap="none" dirty="0">
                <a:solidFill>
                  <a:schemeClr val="dk1"/>
                </a:solidFill>
                <a:latin typeface="Times New Roman"/>
                <a:ea typeface="Times New Roman"/>
                <a:cs typeface="Times New Roman"/>
                <a:sym typeface="Times New Roman"/>
              </a:rPr>
              <a:t>core is responsible for formatting payload data into PCIe packets and multiplexing access to the PCIe link</a:t>
            </a:r>
            <a:endParaRPr dirty="0"/>
          </a:p>
          <a:p>
            <a:pPr marL="228600" marR="0" lvl="0" indent="-228600" algn="l" rtl="0">
              <a:lnSpc>
                <a:spcPct val="90000"/>
              </a:lnSpc>
              <a:spcBef>
                <a:spcPts val="1000"/>
              </a:spcBef>
              <a:spcAft>
                <a:spcPts val="0"/>
              </a:spcAft>
              <a:buClr>
                <a:schemeClr val="dk1"/>
              </a:buClr>
              <a:buSzPts val="2000"/>
              <a:buFont typeface="Arial"/>
              <a:buChar char="•"/>
            </a:pPr>
            <a:r>
              <a:rPr lang="en-US" sz="2000" b="0" i="0" u="none" strike="noStrike" cap="none" dirty="0">
                <a:solidFill>
                  <a:schemeClr val="dk1"/>
                </a:solidFill>
                <a:latin typeface="Times New Roman"/>
                <a:ea typeface="Times New Roman"/>
                <a:cs typeface="Times New Roman"/>
                <a:sym typeface="Times New Roman"/>
              </a:rPr>
              <a:t>The PCIe link configuration determines the width of the data bus. This width can be </a:t>
            </a:r>
            <a:r>
              <a:rPr lang="en-US" sz="2000" b="0" i="0" u="none" strike="noStrike" cap="none" dirty="0">
                <a:solidFill>
                  <a:srgbClr val="FF0000"/>
                </a:solidFill>
                <a:latin typeface="Times New Roman"/>
                <a:ea typeface="Times New Roman"/>
                <a:cs typeface="Times New Roman"/>
                <a:sym typeface="Times New Roman"/>
              </a:rPr>
              <a:t>32, 64, or 128 </a:t>
            </a:r>
            <a:r>
              <a:rPr lang="en-US" sz="2000" b="0" i="0" u="none" strike="noStrike" cap="none" dirty="0">
                <a:solidFill>
                  <a:schemeClr val="dk1"/>
                </a:solidFill>
                <a:latin typeface="Times New Roman"/>
                <a:ea typeface="Times New Roman"/>
                <a:cs typeface="Times New Roman"/>
                <a:sym typeface="Times New Roman"/>
              </a:rPr>
              <a:t>bits wide (RIFFA does not support 256 bits interface)</a:t>
            </a:r>
            <a:endParaRPr dirty="0"/>
          </a:p>
          <a:p>
            <a:pPr marL="228600" marR="0" lvl="0" indent="-228600" algn="l" rtl="0">
              <a:lnSpc>
                <a:spcPct val="90000"/>
              </a:lnSpc>
              <a:spcBef>
                <a:spcPts val="1000"/>
              </a:spcBef>
              <a:spcAft>
                <a:spcPts val="0"/>
              </a:spcAft>
              <a:buClr>
                <a:schemeClr val="dk1"/>
              </a:buClr>
              <a:buSzPts val="2000"/>
              <a:buFont typeface="Arial"/>
              <a:buChar char="•"/>
            </a:pPr>
            <a:r>
              <a:rPr lang="en-US" sz="2000" b="0" i="0" u="none" strike="noStrike" cap="none" dirty="0">
                <a:solidFill>
                  <a:schemeClr val="dk1"/>
                </a:solidFill>
                <a:latin typeface="Times New Roman"/>
                <a:ea typeface="Times New Roman"/>
                <a:cs typeface="Times New Roman"/>
                <a:sym typeface="Times New Roman"/>
              </a:rPr>
              <a:t>All PCIe Gen 1 and Gen 2 configurations up to x8 lanes are supported.</a:t>
            </a:r>
            <a:endParaRPr sz="2000" b="0" i="0" u="none" strike="noStrike" cap="none" dirty="0">
              <a:solidFill>
                <a:schemeClr val="dk1"/>
              </a:solidFill>
              <a:latin typeface="Times New Roman"/>
              <a:ea typeface="Times New Roman"/>
              <a:cs typeface="Times New Roman"/>
              <a:sym typeface="Times New Roman"/>
            </a:endParaRPr>
          </a:p>
        </p:txBody>
      </p:sp>
      <p:sp>
        <p:nvSpPr>
          <p:cNvPr id="162" name="Google Shape;162;p9"/>
          <p:cNvSpPr txBox="1"/>
          <p:nvPr/>
        </p:nvSpPr>
        <p:spPr>
          <a:xfrm>
            <a:off x="1953491" y="6042970"/>
            <a:ext cx="354456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Times New Roman"/>
                <a:ea typeface="Times New Roman"/>
                <a:cs typeface="Times New Roman"/>
                <a:sym typeface="Times New Roman"/>
              </a:rPr>
              <a:t>Where you need to plug your design</a:t>
            </a:r>
            <a:endParaRPr sz="1800">
              <a:solidFill>
                <a:schemeClr val="dk1"/>
              </a:solidFill>
              <a:latin typeface="Times New Roman"/>
              <a:ea typeface="Times New Roman"/>
              <a:cs typeface="Times New Roman"/>
              <a:sym typeface="Times New Roman"/>
            </a:endParaRPr>
          </a:p>
        </p:txBody>
      </p:sp>
      <p:cxnSp>
        <p:nvCxnSpPr>
          <p:cNvPr id="163" name="Google Shape;163;p9"/>
          <p:cNvCxnSpPr>
            <a:stCxn id="162" idx="3"/>
            <a:endCxn id="160" idx="1"/>
          </p:cNvCxnSpPr>
          <p:nvPr/>
        </p:nvCxnSpPr>
        <p:spPr>
          <a:xfrm rot="10800000" flipH="1">
            <a:off x="5498051" y="2623436"/>
            <a:ext cx="463200" cy="3604200"/>
          </a:xfrm>
          <a:prstGeom prst="bentConnector3">
            <a:avLst>
              <a:gd name="adj1" fmla="val 50000"/>
            </a:avLst>
          </a:prstGeom>
          <a:noFill/>
          <a:ln w="12700" cap="flat" cmpd="sng">
            <a:solidFill>
              <a:srgbClr val="FF0000"/>
            </a:solidFill>
            <a:prstDash val="solid"/>
            <a:miter lim="800000"/>
            <a:headEnd type="none" w="sm" len="sm"/>
            <a:tailEnd type="triangle" w="med" len="med"/>
          </a:ln>
        </p:spPr>
      </p:cxnSp>
      <p:cxnSp>
        <p:nvCxnSpPr>
          <p:cNvPr id="164" name="Google Shape;164;p9"/>
          <p:cNvCxnSpPr/>
          <p:nvPr/>
        </p:nvCxnSpPr>
        <p:spPr>
          <a:xfrm rot="10800000" flipH="1">
            <a:off x="5498051" y="5870317"/>
            <a:ext cx="2538300" cy="359700"/>
          </a:xfrm>
          <a:prstGeom prst="bentConnector2">
            <a:avLst/>
          </a:prstGeom>
          <a:noFill/>
          <a:ln w="12700" cap="flat" cmpd="sng">
            <a:solidFill>
              <a:srgbClr val="FF0000"/>
            </a:solidFill>
            <a:prstDash val="solid"/>
            <a:miter lim="800000"/>
            <a:headEnd type="none" w="sm" len="sm"/>
            <a:tailEnd type="triangle" w="med" len="med"/>
          </a:ln>
        </p:spPr>
      </p:cxnSp>
      <p:sp>
        <p:nvSpPr>
          <p:cNvPr id="165" name="Google Shape;165;p9"/>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0"/>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What is RIFFA</a:t>
            </a:r>
            <a:endParaRPr dirty="0"/>
          </a:p>
        </p:txBody>
      </p:sp>
      <p:sp>
        <p:nvSpPr>
          <p:cNvPr id="171" name="Google Shape;171;p10"/>
          <p:cNvSpPr txBox="1">
            <a:spLocks noGrp="1"/>
          </p:cNvSpPr>
          <p:nvPr>
            <p:ph type="body" idx="1"/>
          </p:nvPr>
        </p:nvSpPr>
        <p:spPr>
          <a:xfrm>
            <a:off x="477795" y="1149544"/>
            <a:ext cx="8400020" cy="154515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latin typeface="Times New Roman"/>
                <a:ea typeface="Times New Roman"/>
                <a:cs typeface="Times New Roman"/>
                <a:sym typeface="Times New Roman"/>
              </a:rPr>
              <a:t>Sending data in smaller transfer sizes reduces effective throughput</a:t>
            </a:r>
            <a:endParaRPr dirty="0"/>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Making a copy of a large buffer of data in software before sending it to the FPGA takes time and can severely impact throughput</a:t>
            </a:r>
            <a:endParaRPr dirty="0"/>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Less transmission improves throughput</a:t>
            </a:r>
            <a:endParaRPr dirty="0">
              <a:latin typeface="Times New Roman"/>
              <a:ea typeface="Times New Roman"/>
              <a:cs typeface="Times New Roman"/>
              <a:sym typeface="Times New Roman"/>
            </a:endParaRPr>
          </a:p>
        </p:txBody>
      </p:sp>
      <p:sp>
        <p:nvSpPr>
          <p:cNvPr id="172" name="Google Shape;172;p10"/>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pic>
        <p:nvPicPr>
          <p:cNvPr id="173" name="Google Shape;173;p10"/>
          <p:cNvPicPr preferRelativeResize="0"/>
          <p:nvPr/>
        </p:nvPicPr>
        <p:blipFill rotWithShape="1">
          <a:blip r:embed="rId3">
            <a:alphaModFix/>
          </a:blip>
          <a:srcRect/>
          <a:stretch/>
        </p:blipFill>
        <p:spPr>
          <a:xfrm>
            <a:off x="560923" y="2892899"/>
            <a:ext cx="4212971" cy="3721841"/>
          </a:xfrm>
          <a:prstGeom prst="rect">
            <a:avLst/>
          </a:prstGeom>
          <a:noFill/>
          <a:ln>
            <a:noFill/>
          </a:ln>
        </p:spPr>
      </p:pic>
      <p:pic>
        <p:nvPicPr>
          <p:cNvPr id="174" name="Google Shape;174;p10"/>
          <p:cNvPicPr preferRelativeResize="0"/>
          <p:nvPr/>
        </p:nvPicPr>
        <p:blipFill rotWithShape="1">
          <a:blip r:embed="rId4">
            <a:alphaModFix/>
          </a:blip>
          <a:srcRect/>
          <a:stretch/>
        </p:blipFill>
        <p:spPr>
          <a:xfrm>
            <a:off x="4773894" y="2994087"/>
            <a:ext cx="4370106" cy="1051942"/>
          </a:xfrm>
          <a:prstGeom prst="rect">
            <a:avLst/>
          </a:prstGeom>
          <a:noFill/>
          <a:ln>
            <a:noFill/>
          </a:ln>
        </p:spPr>
      </p:pic>
      <p:sp>
        <p:nvSpPr>
          <p:cNvPr id="175" name="Google Shape;175;p10"/>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2" name="文字方塊 1">
            <a:extLst>
              <a:ext uri="{FF2B5EF4-FFF2-40B4-BE49-F238E27FC236}">
                <a16:creationId xmlns:a16="http://schemas.microsoft.com/office/drawing/2014/main" id="{55002E1D-AFE8-405F-838A-21656EBF8651}"/>
              </a:ext>
            </a:extLst>
          </p:cNvPr>
          <p:cNvSpPr txBox="1"/>
          <p:nvPr/>
        </p:nvSpPr>
        <p:spPr>
          <a:xfrm>
            <a:off x="4962697" y="4380807"/>
            <a:ext cx="3915117" cy="1477328"/>
          </a:xfrm>
          <a:prstGeom prst="rect">
            <a:avLst/>
          </a:prstGeom>
          <a:noFill/>
        </p:spPr>
        <p:txBody>
          <a:bodyPr wrap="square" rtlCol="0">
            <a:spAutoFit/>
          </a:bodyPr>
          <a:lstStyle/>
          <a:p>
            <a:r>
              <a:rPr lang="zh-TW" altLang="en-US" sz="1800" dirty="0">
                <a:latin typeface="標楷體" panose="03000509000000000000" pitchFamily="65" charset="-120"/>
                <a:ea typeface="標楷體" panose="03000509000000000000" pitchFamily="65" charset="-120"/>
              </a:rPr>
              <a:t>綜合前幾頁所述</a:t>
            </a:r>
            <a:r>
              <a:rPr lang="en-US" altLang="zh-TW" sz="1800" dirty="0">
                <a:latin typeface="標楷體" panose="03000509000000000000" pitchFamily="65" charset="-120"/>
                <a:ea typeface="標楷體" panose="03000509000000000000" pitchFamily="65" charset="-120"/>
              </a:rPr>
              <a:t>:</a:t>
            </a:r>
          </a:p>
          <a:p>
            <a:endParaRPr lang="en-US" altLang="zh-TW" sz="1800" dirty="0">
              <a:latin typeface="標楷體" panose="03000509000000000000" pitchFamily="65" charset="-120"/>
              <a:ea typeface="標楷體" panose="03000509000000000000" pitchFamily="65" charset="-120"/>
            </a:endParaRPr>
          </a:p>
          <a:p>
            <a:r>
              <a:rPr lang="zh-TW" altLang="en-US" sz="1800" dirty="0">
                <a:latin typeface="標楷體" panose="03000509000000000000" pitchFamily="65" charset="-120"/>
                <a:ea typeface="標楷體" panose="03000509000000000000" pitchFamily="65" charset="-120"/>
              </a:rPr>
              <a:t>簡而言之，</a:t>
            </a:r>
            <a:r>
              <a:rPr lang="en-US" altLang="zh-TW" sz="1800" dirty="0">
                <a:latin typeface="標楷體" panose="03000509000000000000" pitchFamily="65" charset="-120"/>
                <a:ea typeface="標楷體" panose="03000509000000000000" pitchFamily="65" charset="-120"/>
              </a:rPr>
              <a:t>riffa</a:t>
            </a:r>
            <a:r>
              <a:rPr lang="zh-TW" altLang="en-US" sz="1800" dirty="0">
                <a:latin typeface="標楷體" panose="03000509000000000000" pitchFamily="65" charset="-120"/>
                <a:ea typeface="標楷體" panose="03000509000000000000" pitchFamily="65" charset="-120"/>
              </a:rPr>
              <a:t>就是一個已經寫好</a:t>
            </a:r>
            <a:r>
              <a:rPr lang="en-US" altLang="zh-TW" sz="1800" dirty="0">
                <a:latin typeface="標楷體" panose="03000509000000000000" pitchFamily="65" charset="-120"/>
                <a:ea typeface="標楷體" panose="03000509000000000000" pitchFamily="65" charset="-120"/>
              </a:rPr>
              <a:t>PCIE/FPGA driver</a:t>
            </a:r>
            <a:r>
              <a:rPr lang="zh-TW" altLang="en-US" sz="1800" dirty="0">
                <a:latin typeface="標楷體" panose="03000509000000000000" pitchFamily="65" charset="-120"/>
                <a:ea typeface="標楷體" panose="03000509000000000000" pitchFamily="65" charset="-120"/>
              </a:rPr>
              <a:t>和</a:t>
            </a:r>
            <a:r>
              <a:rPr lang="en-US" altLang="zh-TW" sz="1800" dirty="0">
                <a:latin typeface="標楷體" panose="03000509000000000000" pitchFamily="65" charset="-120"/>
                <a:ea typeface="標楷體" panose="03000509000000000000" pitchFamily="65" charset="-120"/>
              </a:rPr>
              <a:t>driver</a:t>
            </a:r>
            <a:r>
              <a:rPr lang="zh-TW" altLang="en-US" sz="1800" dirty="0">
                <a:latin typeface="標楷體" panose="03000509000000000000" pitchFamily="65" charset="-120"/>
                <a:ea typeface="標楷體" panose="03000509000000000000" pitchFamily="65" charset="-120"/>
              </a:rPr>
              <a:t>該互動的</a:t>
            </a:r>
            <a:r>
              <a:rPr lang="en-US" altLang="zh-TW" sz="1800" dirty="0">
                <a:latin typeface="標楷體" panose="03000509000000000000" pitchFamily="65" charset="-120"/>
                <a:ea typeface="標楷體" panose="03000509000000000000" pitchFamily="65" charset="-120"/>
              </a:rPr>
              <a:t>Verilog files</a:t>
            </a:r>
            <a:r>
              <a:rPr lang="zh-TW" altLang="en-US" sz="1800" dirty="0">
                <a:latin typeface="標楷體" panose="03000509000000000000" pitchFamily="65" charset="-120"/>
                <a:ea typeface="標楷體" panose="03000509000000000000" pitchFamily="65" charset="-120"/>
              </a:rPr>
              <a:t>的開源框架。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6"/>
          <p:cNvSpPr txBox="1">
            <a:spLocks noGrp="1"/>
          </p:cNvSpPr>
          <p:nvPr>
            <p:ph type="title"/>
          </p:nvPr>
        </p:nvSpPr>
        <p:spPr>
          <a:xfrm>
            <a:off x="400451" y="195504"/>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RIFFA</a:t>
            </a:r>
            <a:r>
              <a:rPr lang="zh-TW" altLang="en-US" dirty="0">
                <a:latin typeface="Times New Roman"/>
                <a:ea typeface="Times New Roman"/>
                <a:cs typeface="Times New Roman"/>
                <a:sym typeface="Times New Roman"/>
              </a:rPr>
              <a:t> </a:t>
            </a:r>
            <a:r>
              <a:rPr lang="en-US" altLang="zh-TW" dirty="0">
                <a:latin typeface="Times New Roman"/>
                <a:ea typeface="Times New Roman"/>
                <a:cs typeface="Times New Roman"/>
                <a:sym typeface="Times New Roman"/>
              </a:rPr>
              <a:t>Package</a:t>
            </a:r>
            <a:endParaRPr dirty="0"/>
          </a:p>
        </p:txBody>
      </p:sp>
      <p:sp>
        <p:nvSpPr>
          <p:cNvPr id="268" name="Google Shape;268;p16"/>
          <p:cNvSpPr txBox="1">
            <a:spLocks noGrp="1"/>
          </p:cNvSpPr>
          <p:nvPr>
            <p:ph type="body" idx="1"/>
          </p:nvPr>
        </p:nvSpPr>
        <p:spPr>
          <a:xfrm>
            <a:off x="327597" y="893722"/>
            <a:ext cx="8400020" cy="5706151"/>
          </a:xfrm>
          <a:prstGeom prst="rect">
            <a:avLst/>
          </a:prstGeom>
          <a:noFill/>
          <a:ln>
            <a:noFill/>
          </a:ln>
        </p:spPr>
        <p:txBody>
          <a:bodyPr spcFirstLastPara="1" wrap="square" lIns="91425" tIns="45700" rIns="91425" bIns="45700" anchor="t" anchorCtr="0">
            <a:normAutofit lnSpcReduction="10000"/>
          </a:bodyPr>
          <a:lstStyle/>
          <a:p>
            <a:pPr marL="685800" lvl="1" indent="-228600" algn="l" rtl="0">
              <a:lnSpc>
                <a:spcPct val="90000"/>
              </a:lnSpc>
              <a:spcBef>
                <a:spcPts val="500"/>
              </a:spcBef>
              <a:spcAft>
                <a:spcPts val="0"/>
              </a:spcAft>
              <a:buClr>
                <a:schemeClr val="dk1"/>
              </a:buClr>
              <a:buSzPts val="2000"/>
              <a:buChar char="˗"/>
            </a:pPr>
            <a:r>
              <a:rPr lang="en-US" sz="2000" dirty="0">
                <a:latin typeface="Times New Roman"/>
                <a:ea typeface="Times New Roman"/>
                <a:cs typeface="Times New Roman"/>
                <a:sym typeface="Times New Roman"/>
              </a:rPr>
              <a:t>documentation</a:t>
            </a:r>
            <a:endParaRPr dirty="0"/>
          </a:p>
          <a:p>
            <a:pPr marL="685800" lvl="1" indent="-228600" algn="l" rtl="0">
              <a:lnSpc>
                <a:spcPct val="90000"/>
              </a:lnSpc>
              <a:spcBef>
                <a:spcPts val="500"/>
              </a:spcBef>
              <a:spcAft>
                <a:spcPts val="0"/>
              </a:spcAft>
              <a:buClr>
                <a:schemeClr val="dk1"/>
              </a:buClr>
              <a:buSzPts val="2000"/>
              <a:buChar char="˗"/>
            </a:pPr>
            <a:r>
              <a:rPr lang="en-US" sz="2000" dirty="0">
                <a:latin typeface="Times New Roman"/>
                <a:ea typeface="Times New Roman"/>
                <a:cs typeface="Times New Roman"/>
                <a:sym typeface="Times New Roman"/>
              </a:rPr>
              <a:t>source</a:t>
            </a:r>
            <a:endParaRPr dirty="0"/>
          </a:p>
          <a:p>
            <a:pPr marL="1143000" lvl="2" indent="-228600" algn="l" rtl="0">
              <a:lnSpc>
                <a:spcPct val="90000"/>
              </a:lnSpc>
              <a:spcBef>
                <a:spcPts val="500"/>
              </a:spcBef>
              <a:spcAft>
                <a:spcPts val="0"/>
              </a:spcAft>
              <a:buClr>
                <a:schemeClr val="dk1"/>
              </a:buClr>
              <a:buSzPts val="2000"/>
              <a:buChar char="˗"/>
            </a:pPr>
            <a:r>
              <a:rPr lang="en-US" sz="2000" dirty="0">
                <a:latin typeface="Times New Roman"/>
                <a:ea typeface="Times New Roman"/>
                <a:cs typeface="Times New Roman"/>
                <a:sym typeface="Times New Roman"/>
              </a:rPr>
              <a:t>c_c++</a:t>
            </a:r>
            <a:endParaRPr dirty="0"/>
          </a:p>
          <a:p>
            <a:pPr marL="1600200" lvl="3" indent="-228600" algn="l" rtl="0">
              <a:lnSpc>
                <a:spcPct val="90000"/>
              </a:lnSpc>
              <a:spcBef>
                <a:spcPts val="500"/>
              </a:spcBef>
              <a:spcAft>
                <a:spcPts val="0"/>
              </a:spcAft>
              <a:buClr>
                <a:schemeClr val="dk1"/>
              </a:buClr>
              <a:buSzPts val="1800"/>
              <a:buChar char="˗"/>
            </a:pPr>
            <a:r>
              <a:rPr lang="en-US" sz="1800" dirty="0">
                <a:latin typeface="Times New Roman"/>
                <a:ea typeface="Times New Roman"/>
                <a:cs typeface="Times New Roman"/>
                <a:sym typeface="Times New Roman"/>
              </a:rPr>
              <a:t>Linux</a:t>
            </a:r>
            <a:endParaRPr sz="1800" dirty="0">
              <a:latin typeface="Times New Roman"/>
              <a:ea typeface="Times New Roman"/>
              <a:cs typeface="Times New Roman"/>
              <a:sym typeface="Times New Roman"/>
            </a:endParaRPr>
          </a:p>
          <a:p>
            <a:pPr marL="2057400" lvl="4" indent="-228600" algn="l" rtl="0">
              <a:lnSpc>
                <a:spcPct val="90000"/>
              </a:lnSpc>
              <a:spcBef>
                <a:spcPts val="500"/>
              </a:spcBef>
              <a:spcAft>
                <a:spcPts val="0"/>
              </a:spcAft>
              <a:buClr>
                <a:schemeClr val="dk1"/>
              </a:buClr>
              <a:buSzPts val="1600"/>
              <a:buChar char="˗"/>
            </a:pPr>
            <a:r>
              <a:rPr lang="en-US" sz="1600" dirty="0">
                <a:latin typeface="Times New Roman"/>
                <a:ea typeface="Times New Roman"/>
                <a:cs typeface="Times New Roman"/>
                <a:sym typeface="Times New Roman"/>
              </a:rPr>
              <a:t>x64</a:t>
            </a:r>
            <a:endParaRPr sz="1600" dirty="0">
              <a:latin typeface="Times New Roman"/>
              <a:ea typeface="Times New Roman"/>
              <a:cs typeface="Times New Roman"/>
              <a:sym typeface="Times New Roman"/>
            </a:endParaRPr>
          </a:p>
          <a:p>
            <a:pPr marL="2457450" lvl="5" indent="-171450" algn="l" rtl="0">
              <a:lnSpc>
                <a:spcPct val="90000"/>
              </a:lnSpc>
              <a:spcBef>
                <a:spcPts val="500"/>
              </a:spcBef>
              <a:spcAft>
                <a:spcPts val="0"/>
              </a:spcAft>
              <a:buClr>
                <a:srgbClr val="FF0000"/>
              </a:buClr>
              <a:buSzPts val="1400"/>
              <a:buChar char="‐"/>
            </a:pPr>
            <a:r>
              <a:rPr lang="en-US" sz="1400" dirty="0">
                <a:solidFill>
                  <a:srgbClr val="FF0000"/>
                </a:solidFill>
                <a:latin typeface="Times New Roman"/>
                <a:ea typeface="Times New Roman"/>
                <a:cs typeface="Times New Roman"/>
                <a:sym typeface="Times New Roman"/>
              </a:rPr>
              <a:t>sample_apps </a:t>
            </a:r>
            <a:r>
              <a:rPr lang="en-US" sz="1400" dirty="0">
                <a:solidFill>
                  <a:srgbClr val="FF0000"/>
                </a:solidFill>
                <a:latin typeface="Times New Roman"/>
                <a:ea typeface="Times New Roman"/>
                <a:cs typeface="Times New Roman"/>
                <a:sym typeface="Wingdings" panose="05000000000000000000" pitchFamily="2" charset="2"/>
              </a:rPr>
              <a:t> </a:t>
            </a:r>
            <a:r>
              <a:rPr lang="en-US" sz="1400" dirty="0">
                <a:latin typeface="Times New Roman"/>
                <a:ea typeface="Times New Roman"/>
                <a:cs typeface="Times New Roman"/>
                <a:sym typeface="Times New Roman"/>
              </a:rPr>
              <a:t>Our input file from c code</a:t>
            </a:r>
            <a:endParaRPr sz="1400" dirty="0">
              <a:latin typeface="Times New Roman"/>
              <a:ea typeface="Times New Roman"/>
              <a:cs typeface="Times New Roman"/>
              <a:sym typeface="Times New Roman"/>
            </a:endParaRPr>
          </a:p>
          <a:p>
            <a:pPr marL="1143000" lvl="2" indent="-228600" algn="l" rtl="0">
              <a:lnSpc>
                <a:spcPct val="90000"/>
              </a:lnSpc>
              <a:spcBef>
                <a:spcPts val="500"/>
              </a:spcBef>
              <a:spcAft>
                <a:spcPts val="0"/>
              </a:spcAft>
              <a:buClr>
                <a:schemeClr val="dk1"/>
              </a:buClr>
              <a:buSzPts val="1800"/>
              <a:buChar char="˗"/>
            </a:pPr>
            <a:r>
              <a:rPr lang="en-US" sz="1800" dirty="0">
                <a:latin typeface="Times New Roman"/>
                <a:ea typeface="Times New Roman"/>
                <a:cs typeface="Times New Roman"/>
                <a:sym typeface="Times New Roman"/>
              </a:rPr>
              <a:t>fpga</a:t>
            </a:r>
            <a:endParaRPr sz="1800" dirty="0">
              <a:latin typeface="Times New Roman"/>
              <a:ea typeface="Times New Roman"/>
              <a:cs typeface="Times New Roman"/>
              <a:sym typeface="Times New Roman"/>
            </a:endParaRPr>
          </a:p>
          <a:p>
            <a:pPr marL="1600200" lvl="3" indent="-228600" algn="l" rtl="0">
              <a:lnSpc>
                <a:spcPct val="90000"/>
              </a:lnSpc>
              <a:spcBef>
                <a:spcPts val="500"/>
              </a:spcBef>
              <a:spcAft>
                <a:spcPts val="0"/>
              </a:spcAft>
              <a:buClr>
                <a:schemeClr val="dk1"/>
              </a:buClr>
              <a:buSzPts val="1600"/>
              <a:buChar char="˗"/>
            </a:pPr>
            <a:r>
              <a:rPr lang="en-US" sz="1600" dirty="0">
                <a:solidFill>
                  <a:schemeClr val="tx1"/>
                </a:solidFill>
                <a:latin typeface="Times New Roman"/>
                <a:ea typeface="Times New Roman"/>
                <a:cs typeface="Times New Roman"/>
                <a:sym typeface="Times New Roman"/>
              </a:rPr>
              <a:t>riffa_hdl </a:t>
            </a:r>
            <a:r>
              <a:rPr lang="en-US" sz="1600" dirty="0">
                <a:solidFill>
                  <a:srgbClr val="FF0000"/>
                </a:solidFill>
                <a:latin typeface="Times New Roman"/>
                <a:ea typeface="Times New Roman"/>
                <a:cs typeface="Times New Roman"/>
                <a:sym typeface="Wingdings" panose="05000000000000000000" pitchFamily="2" charset="2"/>
              </a:rPr>
              <a:t></a:t>
            </a:r>
            <a:r>
              <a:rPr lang="en-US" sz="1600" dirty="0">
                <a:solidFill>
                  <a:srgbClr val="FF0000"/>
                </a:solidFill>
                <a:latin typeface="Times New Roman"/>
                <a:ea typeface="Times New Roman"/>
                <a:cs typeface="Times New Roman"/>
                <a:sym typeface="Times New Roman"/>
              </a:rPr>
              <a:t> all submodules in riffa </a:t>
            </a:r>
            <a:r>
              <a:rPr lang="en-US" sz="1600" dirty="0">
                <a:solidFill>
                  <a:srgbClr val="FF0000"/>
                </a:solidFill>
                <a:latin typeface="Times New Roman"/>
                <a:ea typeface="Times New Roman"/>
                <a:cs typeface="Times New Roman"/>
                <a:sym typeface="Wingdings" panose="05000000000000000000" pitchFamily="2" charset="2"/>
              </a:rPr>
              <a:t> </a:t>
            </a:r>
            <a:r>
              <a:rPr lang="en-US" sz="1600" dirty="0">
                <a:solidFill>
                  <a:srgbClr val="FF0000"/>
                </a:solidFill>
                <a:latin typeface="Times New Roman"/>
                <a:ea typeface="Times New Roman"/>
                <a:cs typeface="Times New Roman"/>
                <a:sym typeface="Times New Roman"/>
              </a:rPr>
              <a:t>You should place all your rtl code here</a:t>
            </a:r>
            <a:endParaRPr dirty="0">
              <a:solidFill>
                <a:srgbClr val="FF0000"/>
              </a:solidFill>
            </a:endParaRPr>
          </a:p>
          <a:p>
            <a:pPr marL="1600200" lvl="3" indent="-228600" algn="l" rtl="0">
              <a:lnSpc>
                <a:spcPct val="90000"/>
              </a:lnSpc>
              <a:spcBef>
                <a:spcPts val="500"/>
              </a:spcBef>
              <a:spcAft>
                <a:spcPts val="0"/>
              </a:spcAft>
              <a:buClr>
                <a:schemeClr val="dk1"/>
              </a:buClr>
              <a:buSzPts val="1800"/>
              <a:buChar char="˗"/>
            </a:pPr>
            <a:r>
              <a:rPr lang="en-US" sz="1800" dirty="0">
                <a:latin typeface="Times New Roman"/>
                <a:ea typeface="Times New Roman"/>
                <a:cs typeface="Times New Roman"/>
                <a:sym typeface="Times New Roman"/>
              </a:rPr>
              <a:t>altera </a:t>
            </a:r>
            <a:r>
              <a:rPr lang="en-US" sz="1800" dirty="0">
                <a:latin typeface="Times New Roman"/>
                <a:ea typeface="Times New Roman"/>
                <a:cs typeface="Times New Roman"/>
                <a:sym typeface="Wingdings" panose="05000000000000000000" pitchFamily="2" charset="2"/>
              </a:rPr>
              <a:t> Choose</a:t>
            </a:r>
            <a:r>
              <a:rPr lang="en-US" sz="1800" dirty="0">
                <a:latin typeface="Times New Roman"/>
                <a:ea typeface="Times New Roman"/>
                <a:cs typeface="Times New Roman"/>
                <a:sym typeface="Times New Roman"/>
              </a:rPr>
              <a:t> Our board (DE2i / DE4</a:t>
            </a:r>
            <a:r>
              <a:rPr lang="zh-TW" altLang="en-US" sz="1800" dirty="0">
                <a:latin typeface="標楷體" panose="03000509000000000000" pitchFamily="65" charset="-120"/>
                <a:ea typeface="標楷體" panose="03000509000000000000" pitchFamily="65" charset="-120"/>
                <a:cs typeface="Times New Roman"/>
                <a:sym typeface="Times New Roman"/>
              </a:rPr>
              <a:t>我們不用</a:t>
            </a:r>
            <a:r>
              <a:rPr lang="en-US" altLang="zh-TW" sz="1800" dirty="0">
                <a:latin typeface="Times New Roman"/>
                <a:ea typeface="Times New Roman"/>
                <a:cs typeface="Times New Roman"/>
                <a:sym typeface="Times New Roman"/>
              </a:rPr>
              <a:t>)</a:t>
            </a:r>
            <a:endParaRPr dirty="0"/>
          </a:p>
          <a:p>
            <a:pPr marL="2057400" lvl="4" indent="-228600" algn="l" rtl="0">
              <a:lnSpc>
                <a:spcPct val="90000"/>
              </a:lnSpc>
              <a:spcBef>
                <a:spcPts val="500"/>
              </a:spcBef>
              <a:spcAft>
                <a:spcPts val="0"/>
              </a:spcAft>
              <a:buClr>
                <a:schemeClr val="dk1"/>
              </a:buClr>
              <a:buSzPts val="1600"/>
              <a:buChar char="˗"/>
            </a:pPr>
            <a:r>
              <a:rPr lang="en-US" sz="1600" dirty="0">
                <a:latin typeface="Times New Roman"/>
                <a:ea typeface="Times New Roman"/>
                <a:cs typeface="Times New Roman"/>
                <a:sym typeface="Times New Roman"/>
              </a:rPr>
              <a:t>de5 / de5a </a:t>
            </a:r>
            <a:r>
              <a:rPr lang="en-US" sz="1600" dirty="0">
                <a:latin typeface="Times New Roman"/>
                <a:ea typeface="Times New Roman"/>
                <a:cs typeface="Times New Roman"/>
                <a:sym typeface="Wingdings" panose="05000000000000000000" pitchFamily="2" charset="2"/>
              </a:rPr>
              <a:t></a:t>
            </a:r>
            <a:r>
              <a:rPr lang="en-US" sz="1600" dirty="0">
                <a:latin typeface="Times New Roman"/>
                <a:ea typeface="Times New Roman"/>
                <a:cs typeface="Times New Roman"/>
                <a:sym typeface="Times New Roman"/>
              </a:rPr>
              <a:t> </a:t>
            </a:r>
            <a:r>
              <a:rPr lang="en-US" sz="1600" dirty="0">
                <a:solidFill>
                  <a:srgbClr val="FF0000"/>
                </a:solidFill>
                <a:latin typeface="Times New Roman"/>
                <a:ea typeface="Times New Roman"/>
                <a:cs typeface="Times New Roman"/>
                <a:sym typeface="Times New Roman"/>
              </a:rPr>
              <a:t>Different board</a:t>
            </a:r>
            <a:endParaRPr dirty="0">
              <a:solidFill>
                <a:srgbClr val="FF0000"/>
              </a:solidFill>
            </a:endParaRPr>
          </a:p>
          <a:p>
            <a:pPr marL="2457450" lvl="5" indent="-171450" algn="l" rtl="0">
              <a:lnSpc>
                <a:spcPct val="90000"/>
              </a:lnSpc>
              <a:spcBef>
                <a:spcPts val="500"/>
              </a:spcBef>
              <a:spcAft>
                <a:spcPts val="0"/>
              </a:spcAft>
              <a:buClr>
                <a:schemeClr val="dk1"/>
              </a:buClr>
              <a:buSzPts val="1400"/>
              <a:buChar char="‐"/>
            </a:pPr>
            <a:r>
              <a:rPr lang="en-US" sz="1400" dirty="0">
                <a:latin typeface="Times New Roman"/>
                <a:ea typeface="Times New Roman"/>
                <a:cs typeface="Times New Roman"/>
                <a:sym typeface="Times New Roman"/>
              </a:rPr>
              <a:t>DE5QGen*x*If128 / </a:t>
            </a:r>
          </a:p>
          <a:p>
            <a:pPr marL="2457450" lvl="5" indent="-171450" algn="l" rtl="0">
              <a:lnSpc>
                <a:spcPct val="90000"/>
              </a:lnSpc>
              <a:spcBef>
                <a:spcPts val="500"/>
              </a:spcBef>
              <a:spcAft>
                <a:spcPts val="0"/>
              </a:spcAft>
              <a:buClr>
                <a:schemeClr val="dk1"/>
              </a:buClr>
              <a:buSzPts val="1400"/>
              <a:buChar char="‐"/>
            </a:pPr>
            <a:r>
              <a:rPr lang="en-US" sz="1400" dirty="0">
                <a:latin typeface="Times New Roman"/>
                <a:ea typeface="Times New Roman"/>
                <a:cs typeface="Times New Roman"/>
                <a:sym typeface="Times New Roman"/>
              </a:rPr>
              <a:t>DE5QGen*x*If128_CLK </a:t>
            </a:r>
            <a:r>
              <a:rPr lang="en-US" sz="1400" dirty="0">
                <a:latin typeface="Times New Roman"/>
                <a:ea typeface="Times New Roman"/>
                <a:cs typeface="Times New Roman"/>
                <a:sym typeface="Wingdings" panose="05000000000000000000" pitchFamily="2" charset="2"/>
              </a:rPr>
              <a:t> </a:t>
            </a:r>
            <a:r>
              <a:rPr lang="en-US" sz="1400" dirty="0">
                <a:solidFill>
                  <a:srgbClr val="FF0000"/>
                </a:solidFill>
                <a:latin typeface="Times New Roman"/>
                <a:ea typeface="Times New Roman"/>
                <a:cs typeface="Times New Roman"/>
                <a:sym typeface="Times New Roman"/>
              </a:rPr>
              <a:t>Different PCIe choice or CLK</a:t>
            </a:r>
            <a:endParaRPr dirty="0">
              <a:solidFill>
                <a:srgbClr val="FF0000"/>
              </a:solidFill>
            </a:endParaRPr>
          </a:p>
          <a:p>
            <a:pPr marL="2971800" lvl="6" indent="-228600" algn="l" rtl="0">
              <a:lnSpc>
                <a:spcPct val="90000"/>
              </a:lnSpc>
              <a:spcBef>
                <a:spcPts val="500"/>
              </a:spcBef>
              <a:spcAft>
                <a:spcPts val="0"/>
              </a:spcAft>
              <a:buClr>
                <a:schemeClr val="dk1"/>
              </a:buClr>
              <a:buSzPts val="1400"/>
              <a:buChar char="‐"/>
            </a:pPr>
            <a:r>
              <a:rPr lang="en-US" sz="1400" dirty="0">
                <a:latin typeface="Times New Roman"/>
                <a:ea typeface="Times New Roman"/>
                <a:cs typeface="Times New Roman"/>
                <a:sym typeface="Times New Roman"/>
              </a:rPr>
              <a:t>Bit </a:t>
            </a:r>
            <a:r>
              <a:rPr lang="en-US" sz="1400" dirty="0">
                <a:latin typeface="Times New Roman"/>
                <a:ea typeface="Times New Roman"/>
                <a:cs typeface="Times New Roman"/>
                <a:sym typeface="Wingdings" panose="05000000000000000000" pitchFamily="2" charset="2"/>
              </a:rPr>
              <a:t></a:t>
            </a:r>
            <a:r>
              <a:rPr lang="en-US" sz="1400" dirty="0">
                <a:latin typeface="Times New Roman"/>
                <a:ea typeface="Times New Roman"/>
                <a:cs typeface="Times New Roman"/>
                <a:sym typeface="Times New Roman"/>
              </a:rPr>
              <a:t> </a:t>
            </a:r>
            <a:r>
              <a:rPr lang="en-US" sz="1400" dirty="0">
                <a:solidFill>
                  <a:srgbClr val="FF0000"/>
                </a:solidFill>
                <a:latin typeface="Times New Roman"/>
                <a:ea typeface="Times New Roman"/>
                <a:cs typeface="Times New Roman"/>
                <a:sym typeface="Times New Roman"/>
              </a:rPr>
              <a:t>The compilation file after synthesized (.sof file)</a:t>
            </a:r>
            <a:endParaRPr dirty="0"/>
          </a:p>
          <a:p>
            <a:pPr marL="2971800" lvl="6" indent="-228600" algn="l" rtl="0">
              <a:lnSpc>
                <a:spcPct val="90000"/>
              </a:lnSpc>
              <a:spcBef>
                <a:spcPts val="500"/>
              </a:spcBef>
              <a:spcAft>
                <a:spcPts val="0"/>
              </a:spcAft>
              <a:buClr>
                <a:schemeClr val="dk1"/>
              </a:buClr>
              <a:buSzPts val="1400"/>
              <a:buChar char="‐"/>
            </a:pPr>
            <a:r>
              <a:rPr lang="en-US" sz="1400" dirty="0">
                <a:latin typeface="Times New Roman"/>
                <a:ea typeface="Times New Roman"/>
                <a:cs typeface="Times New Roman"/>
                <a:sym typeface="Times New Roman"/>
              </a:rPr>
              <a:t>Constr </a:t>
            </a:r>
            <a:r>
              <a:rPr lang="en-US" sz="1400" dirty="0">
                <a:latin typeface="Times New Roman"/>
                <a:ea typeface="Times New Roman"/>
                <a:cs typeface="Times New Roman"/>
                <a:sym typeface="Wingdings" panose="05000000000000000000" pitchFamily="2" charset="2"/>
              </a:rPr>
              <a:t></a:t>
            </a:r>
            <a:r>
              <a:rPr lang="en-US" sz="1400" dirty="0">
                <a:latin typeface="Times New Roman"/>
                <a:ea typeface="Times New Roman"/>
                <a:cs typeface="Times New Roman"/>
                <a:sym typeface="Times New Roman"/>
              </a:rPr>
              <a:t> sdc file for FPGA </a:t>
            </a:r>
          </a:p>
          <a:p>
            <a:pPr marL="3429000" lvl="7" indent="-228600">
              <a:buSzPts val="1400"/>
            </a:pPr>
            <a:r>
              <a:rPr lang="en-US" sz="1400" dirty="0">
                <a:latin typeface="Times New Roman"/>
                <a:ea typeface="Times New Roman"/>
                <a:cs typeface="Times New Roman"/>
                <a:sym typeface="Wingdings" panose="05000000000000000000" pitchFamily="2" charset="2"/>
              </a:rPr>
              <a:t> </a:t>
            </a:r>
            <a:r>
              <a:rPr lang="en-US" sz="1400" dirty="0">
                <a:solidFill>
                  <a:srgbClr val="FF0000"/>
                </a:solidFill>
                <a:latin typeface="Times New Roman"/>
                <a:ea typeface="Times New Roman"/>
                <a:cs typeface="Times New Roman"/>
                <a:sym typeface="Times New Roman"/>
              </a:rPr>
              <a:t>Modify by your own usage(</a:t>
            </a:r>
            <a:r>
              <a:rPr lang="zh-TW" altLang="en-US" sz="1400" dirty="0">
                <a:solidFill>
                  <a:srgbClr val="FF0000"/>
                </a:solidFill>
                <a:latin typeface="標楷體" panose="03000509000000000000" pitchFamily="65" charset="-120"/>
                <a:ea typeface="標楷體" panose="03000509000000000000" pitchFamily="65" charset="-120"/>
                <a:cs typeface="Times New Roman"/>
                <a:sym typeface="Times New Roman"/>
              </a:rPr>
              <a:t>例如你要調</a:t>
            </a:r>
            <a:r>
              <a:rPr lang="en-US" altLang="zh-TW" sz="1400" dirty="0">
                <a:solidFill>
                  <a:srgbClr val="FF0000"/>
                </a:solidFill>
                <a:latin typeface="Times New Roman"/>
                <a:ea typeface="Times New Roman"/>
                <a:cs typeface="Times New Roman"/>
                <a:sym typeface="Times New Roman"/>
              </a:rPr>
              <a:t>clk period)</a:t>
            </a:r>
            <a:endParaRPr dirty="0">
              <a:solidFill>
                <a:srgbClr val="FF0000"/>
              </a:solidFill>
            </a:endParaRPr>
          </a:p>
          <a:p>
            <a:pPr marL="2971800" lvl="6" indent="-228600" algn="l" rtl="0">
              <a:lnSpc>
                <a:spcPct val="90000"/>
              </a:lnSpc>
              <a:spcBef>
                <a:spcPts val="500"/>
              </a:spcBef>
              <a:spcAft>
                <a:spcPts val="0"/>
              </a:spcAft>
              <a:buClr>
                <a:schemeClr val="dk1"/>
              </a:buClr>
              <a:buSzPts val="1400"/>
              <a:buChar char="‐"/>
            </a:pPr>
            <a:r>
              <a:rPr lang="en-US" sz="1400" dirty="0">
                <a:latin typeface="Times New Roman"/>
                <a:ea typeface="Times New Roman"/>
                <a:cs typeface="Times New Roman"/>
                <a:sym typeface="Times New Roman"/>
              </a:rPr>
              <a:t>Hdl </a:t>
            </a:r>
            <a:r>
              <a:rPr lang="en-US" sz="1400" dirty="0">
                <a:latin typeface="Times New Roman"/>
                <a:ea typeface="Times New Roman"/>
                <a:cs typeface="Times New Roman"/>
                <a:sym typeface="Wingdings" panose="05000000000000000000" pitchFamily="2" charset="2"/>
              </a:rPr>
              <a:t></a:t>
            </a:r>
            <a:r>
              <a:rPr lang="en-US" sz="1400" dirty="0">
                <a:latin typeface="Times New Roman"/>
                <a:ea typeface="Times New Roman"/>
                <a:cs typeface="Times New Roman"/>
                <a:sym typeface="Times New Roman"/>
              </a:rPr>
              <a:t> </a:t>
            </a:r>
            <a:r>
              <a:rPr lang="en-US" sz="1400" dirty="0">
                <a:solidFill>
                  <a:srgbClr val="FF0000"/>
                </a:solidFill>
                <a:latin typeface="Times New Roman"/>
                <a:ea typeface="Times New Roman"/>
                <a:cs typeface="Times New Roman"/>
                <a:sym typeface="Times New Roman"/>
              </a:rPr>
              <a:t>Top module file RIFFA </a:t>
            </a:r>
            <a:r>
              <a:rPr lang="zh-TW" altLang="en-US" sz="1400" dirty="0">
                <a:solidFill>
                  <a:srgbClr val="FF0000"/>
                </a:solidFill>
                <a:latin typeface="Times New Roman"/>
                <a:ea typeface="Times New Roman"/>
                <a:cs typeface="Times New Roman"/>
                <a:sym typeface="Times New Roman"/>
              </a:rPr>
              <a:t>會自己去</a:t>
            </a:r>
            <a:r>
              <a:rPr lang="en-US" altLang="zh-TW" sz="1400" dirty="0">
                <a:solidFill>
                  <a:srgbClr val="FF0000"/>
                </a:solidFill>
                <a:latin typeface="Times New Roman"/>
                <a:ea typeface="Times New Roman"/>
                <a:cs typeface="Times New Roman"/>
                <a:sym typeface="Times New Roman"/>
              </a:rPr>
              <a:t>RIFFA_HDL</a:t>
            </a:r>
            <a:r>
              <a:rPr lang="zh-TW" altLang="en-US" sz="1400" dirty="0">
                <a:solidFill>
                  <a:srgbClr val="FF0000"/>
                </a:solidFill>
                <a:latin typeface="Times New Roman"/>
                <a:ea typeface="Times New Roman"/>
                <a:cs typeface="Times New Roman"/>
                <a:sym typeface="Times New Roman"/>
              </a:rPr>
              <a:t>找</a:t>
            </a:r>
            <a:r>
              <a:rPr lang="en-US" altLang="zh-TW" sz="1400" dirty="0">
                <a:solidFill>
                  <a:srgbClr val="FF0000"/>
                </a:solidFill>
                <a:latin typeface="Times New Roman"/>
                <a:ea typeface="Times New Roman"/>
                <a:cs typeface="Times New Roman"/>
                <a:sym typeface="Times New Roman"/>
              </a:rPr>
              <a:t>SUBMODULES (based on your qsf file setting)</a:t>
            </a:r>
            <a:endParaRPr dirty="0"/>
          </a:p>
          <a:p>
            <a:pPr marL="2971800" lvl="6" indent="-228600" algn="l" rtl="0">
              <a:lnSpc>
                <a:spcPct val="90000"/>
              </a:lnSpc>
              <a:spcBef>
                <a:spcPts val="500"/>
              </a:spcBef>
              <a:spcAft>
                <a:spcPts val="0"/>
              </a:spcAft>
              <a:buClr>
                <a:schemeClr val="dk1"/>
              </a:buClr>
              <a:buSzPts val="1400"/>
              <a:buChar char="‐"/>
            </a:pPr>
            <a:r>
              <a:rPr lang="en-US" sz="1400" dirty="0">
                <a:latin typeface="Times New Roman"/>
                <a:ea typeface="Times New Roman"/>
                <a:cs typeface="Times New Roman"/>
                <a:sym typeface="Times New Roman"/>
              </a:rPr>
              <a:t>ip </a:t>
            </a:r>
            <a:r>
              <a:rPr lang="en-US" sz="1400" dirty="0">
                <a:latin typeface="Times New Roman"/>
                <a:ea typeface="Times New Roman"/>
                <a:cs typeface="Times New Roman"/>
                <a:sym typeface="Wingdings" panose="05000000000000000000" pitchFamily="2" charset="2"/>
              </a:rPr>
              <a:t></a:t>
            </a:r>
            <a:r>
              <a:rPr lang="en-US" sz="1400" dirty="0">
                <a:latin typeface="Times New Roman"/>
                <a:ea typeface="Times New Roman"/>
                <a:cs typeface="Times New Roman"/>
                <a:sym typeface="Times New Roman"/>
              </a:rPr>
              <a:t> qsys file (Quartus</a:t>
            </a:r>
            <a:r>
              <a:rPr lang="zh-TW" altLang="en-US" sz="1400" dirty="0">
                <a:latin typeface="Times New Roman"/>
                <a:ea typeface="Times New Roman"/>
                <a:cs typeface="Times New Roman"/>
                <a:sym typeface="Times New Roman"/>
              </a:rPr>
              <a:t>使用</a:t>
            </a:r>
            <a:r>
              <a:rPr lang="en-US" altLang="zh-TW" sz="1400" dirty="0">
                <a:latin typeface="Times New Roman"/>
                <a:ea typeface="Times New Roman"/>
                <a:cs typeface="Times New Roman"/>
                <a:sym typeface="Times New Roman"/>
              </a:rPr>
              <a:t>qsys</a:t>
            </a:r>
            <a:r>
              <a:rPr lang="zh-TW" altLang="en-US" sz="1400" dirty="0">
                <a:latin typeface="Times New Roman"/>
                <a:ea typeface="Times New Roman"/>
                <a:cs typeface="Times New Roman"/>
                <a:sym typeface="Times New Roman"/>
              </a:rPr>
              <a:t>去接線設定</a:t>
            </a:r>
            <a:r>
              <a:rPr lang="en-US" altLang="zh-TW" sz="1400" dirty="0">
                <a:latin typeface="Times New Roman"/>
                <a:ea typeface="Times New Roman"/>
                <a:cs typeface="Times New Roman"/>
                <a:sym typeface="Times New Roman"/>
              </a:rPr>
              <a:t>)</a:t>
            </a:r>
            <a:endParaRPr dirty="0"/>
          </a:p>
          <a:p>
            <a:pPr marL="2971800" lvl="6" indent="-228600" algn="l" rtl="0">
              <a:lnSpc>
                <a:spcPct val="90000"/>
              </a:lnSpc>
              <a:spcBef>
                <a:spcPts val="500"/>
              </a:spcBef>
              <a:spcAft>
                <a:spcPts val="0"/>
              </a:spcAft>
              <a:buClr>
                <a:schemeClr val="dk1"/>
              </a:buClr>
              <a:buSzPts val="1400"/>
              <a:buChar char="‐"/>
            </a:pPr>
            <a:r>
              <a:rPr lang="en-US" sz="1400" dirty="0">
                <a:latin typeface="Times New Roman"/>
                <a:ea typeface="Times New Roman"/>
                <a:cs typeface="Times New Roman"/>
                <a:sym typeface="Times New Roman"/>
              </a:rPr>
              <a:t>prj</a:t>
            </a:r>
            <a:endParaRPr sz="1400" dirty="0">
              <a:latin typeface="Times New Roman"/>
              <a:ea typeface="Times New Roman"/>
              <a:cs typeface="Times New Roman"/>
              <a:sym typeface="Times New Roman"/>
            </a:endParaRPr>
          </a:p>
          <a:p>
            <a:pPr marL="3429000" lvl="7" indent="-228600" algn="l" rtl="0">
              <a:lnSpc>
                <a:spcPct val="90000"/>
              </a:lnSpc>
              <a:spcBef>
                <a:spcPts val="500"/>
              </a:spcBef>
              <a:spcAft>
                <a:spcPts val="0"/>
              </a:spcAft>
              <a:buClr>
                <a:srgbClr val="FF0000"/>
              </a:buClr>
              <a:buSzPts val="1400"/>
              <a:buChar char="‐"/>
            </a:pPr>
            <a:r>
              <a:rPr lang="en-US" sz="1400" dirty="0">
                <a:solidFill>
                  <a:srgbClr val="FF0000"/>
                </a:solidFill>
                <a:latin typeface="Times New Roman"/>
                <a:ea typeface="Times New Roman"/>
                <a:cs typeface="Times New Roman"/>
                <a:sym typeface="Times New Roman"/>
              </a:rPr>
              <a:t>.qpf </a:t>
            </a:r>
            <a:r>
              <a:rPr lang="en-US" sz="1400" dirty="0">
                <a:solidFill>
                  <a:srgbClr val="FF0000"/>
                </a:solidFill>
                <a:latin typeface="Times New Roman"/>
                <a:ea typeface="Times New Roman"/>
                <a:cs typeface="Times New Roman"/>
                <a:sym typeface="Wingdings" panose="05000000000000000000" pitchFamily="2" charset="2"/>
              </a:rPr>
              <a:t></a:t>
            </a:r>
            <a:r>
              <a:rPr lang="en-US" sz="1400" dirty="0">
                <a:latin typeface="Times New Roman"/>
                <a:ea typeface="Times New Roman"/>
                <a:cs typeface="Times New Roman"/>
                <a:sym typeface="Times New Roman"/>
              </a:rPr>
              <a:t> Quartus project file </a:t>
            </a:r>
            <a:r>
              <a:rPr lang="en-US" sz="1400" dirty="0">
                <a:latin typeface="Times New Roman"/>
                <a:ea typeface="Times New Roman"/>
                <a:cs typeface="Times New Roman"/>
                <a:sym typeface="Wingdings" panose="05000000000000000000" pitchFamily="2" charset="2"/>
              </a:rPr>
              <a:t> </a:t>
            </a:r>
            <a:r>
              <a:rPr lang="en-US" sz="1400" dirty="0">
                <a:solidFill>
                  <a:srgbClr val="FF0000"/>
                </a:solidFill>
                <a:latin typeface="Times New Roman"/>
                <a:ea typeface="Times New Roman"/>
                <a:cs typeface="Times New Roman"/>
                <a:sym typeface="Wingdings" panose="05000000000000000000" pitchFamily="2" charset="2"/>
              </a:rPr>
              <a:t>used in save project / open project</a:t>
            </a:r>
            <a:endParaRPr dirty="0">
              <a:solidFill>
                <a:srgbClr val="FF0000"/>
              </a:solidFill>
            </a:endParaRPr>
          </a:p>
          <a:p>
            <a:pPr marL="3429000" lvl="7" indent="-228600" algn="l" rtl="0">
              <a:lnSpc>
                <a:spcPct val="90000"/>
              </a:lnSpc>
              <a:spcBef>
                <a:spcPts val="500"/>
              </a:spcBef>
              <a:spcAft>
                <a:spcPts val="0"/>
              </a:spcAft>
              <a:buClr>
                <a:schemeClr val="dk1"/>
              </a:buClr>
              <a:buSzPts val="1400"/>
              <a:buChar char="‐"/>
            </a:pPr>
            <a:r>
              <a:rPr lang="en-US" sz="1400" dirty="0">
                <a:latin typeface="Times New Roman"/>
                <a:ea typeface="Times New Roman"/>
                <a:cs typeface="Times New Roman"/>
                <a:sym typeface="Times New Roman"/>
              </a:rPr>
              <a:t>.qsf </a:t>
            </a:r>
            <a:r>
              <a:rPr lang="en-US" sz="1400" dirty="0">
                <a:latin typeface="Times New Roman"/>
                <a:ea typeface="Times New Roman"/>
                <a:cs typeface="Times New Roman"/>
                <a:sym typeface="Wingdings" panose="05000000000000000000" pitchFamily="2" charset="2"/>
              </a:rPr>
              <a:t></a:t>
            </a:r>
            <a:r>
              <a:rPr lang="en-US" sz="1400" dirty="0">
                <a:latin typeface="Times New Roman"/>
                <a:ea typeface="Times New Roman"/>
                <a:cs typeface="Times New Roman"/>
                <a:sym typeface="Times New Roman"/>
              </a:rPr>
              <a:t> Quartus setting file</a:t>
            </a:r>
            <a:r>
              <a:rPr lang="en-US" sz="1400" dirty="0">
                <a:latin typeface="Times New Roman"/>
                <a:ea typeface="Times New Roman"/>
                <a:cs typeface="Times New Roman"/>
                <a:sym typeface="Wingdings" panose="05000000000000000000" pitchFamily="2" charset="2"/>
              </a:rPr>
              <a:t></a:t>
            </a:r>
            <a:r>
              <a:rPr lang="en-US" sz="1400" dirty="0">
                <a:latin typeface="Times New Roman"/>
                <a:ea typeface="Times New Roman"/>
                <a:cs typeface="Times New Roman"/>
                <a:sym typeface="Times New Roman"/>
              </a:rPr>
              <a:t> File setting and FPGA board setting</a:t>
            </a:r>
            <a:endParaRPr sz="1400" dirty="0">
              <a:latin typeface="Times New Roman"/>
              <a:ea typeface="Times New Roman"/>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dirty="0">
              <a:latin typeface="Times New Roman"/>
              <a:ea typeface="Times New Roman"/>
              <a:cs typeface="Times New Roman"/>
              <a:sym typeface="Times New Roman"/>
            </a:endParaRPr>
          </a:p>
          <a:p>
            <a:pPr marL="228600" lvl="0" indent="-101600" algn="l" rtl="0">
              <a:lnSpc>
                <a:spcPct val="90000"/>
              </a:lnSpc>
              <a:spcBef>
                <a:spcPts val="1000"/>
              </a:spcBef>
              <a:spcAft>
                <a:spcPts val="0"/>
              </a:spcAft>
              <a:buClr>
                <a:schemeClr val="dk1"/>
              </a:buClr>
              <a:buSzPts val="2000"/>
              <a:buNone/>
            </a:pPr>
            <a:endParaRPr dirty="0">
              <a:latin typeface="Times New Roman"/>
              <a:ea typeface="Times New Roman"/>
              <a:cs typeface="Times New Roman"/>
              <a:sym typeface="Times New Roman"/>
            </a:endParaRPr>
          </a:p>
          <a:p>
            <a:pPr marL="228600" lvl="0" indent="-101600" algn="l" rtl="0">
              <a:lnSpc>
                <a:spcPct val="90000"/>
              </a:lnSpc>
              <a:spcBef>
                <a:spcPts val="1000"/>
              </a:spcBef>
              <a:spcAft>
                <a:spcPts val="0"/>
              </a:spcAft>
              <a:buClr>
                <a:schemeClr val="dk1"/>
              </a:buClr>
              <a:buSzPts val="2000"/>
              <a:buNone/>
            </a:pPr>
            <a:endParaRPr dirty="0">
              <a:latin typeface="Times New Roman"/>
              <a:ea typeface="Times New Roman"/>
              <a:cs typeface="Times New Roman"/>
              <a:sym typeface="Times New Roman"/>
            </a:endParaRPr>
          </a:p>
        </p:txBody>
      </p:sp>
      <p:sp>
        <p:nvSpPr>
          <p:cNvPr id="269" name="Google Shape;269;p16"/>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270" name="Google Shape;270;p16"/>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DFF7FE-8AC3-414E-AF21-F3EC6968155B}"/>
              </a:ext>
            </a:extLst>
          </p:cNvPr>
          <p:cNvSpPr>
            <a:spLocks noGrp="1"/>
          </p:cNvSpPr>
          <p:nvPr>
            <p:ph type="title"/>
          </p:nvPr>
        </p:nvSpPr>
        <p:spPr/>
        <p:txBody>
          <a:bodyPr/>
          <a:lstStyle/>
          <a:p>
            <a:r>
              <a:rPr lang="en-US" altLang="zh-TW" dirty="0"/>
              <a:t>Example: How .qsf file looks like</a:t>
            </a:r>
            <a:endParaRPr lang="zh-TW" altLang="en-US" dirty="0"/>
          </a:p>
        </p:txBody>
      </p:sp>
      <p:sp>
        <p:nvSpPr>
          <p:cNvPr id="3" name="投影片編號版面配置區 2">
            <a:extLst>
              <a:ext uri="{FF2B5EF4-FFF2-40B4-BE49-F238E27FC236}">
                <a16:creationId xmlns:a16="http://schemas.microsoft.com/office/drawing/2014/main" id="{4D2EF138-2FF3-497C-AF00-8C7A6151EE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5" name="圖片 4">
            <a:extLst>
              <a:ext uri="{FF2B5EF4-FFF2-40B4-BE49-F238E27FC236}">
                <a16:creationId xmlns:a16="http://schemas.microsoft.com/office/drawing/2014/main" id="{7E1C7ECA-6E23-4010-9B71-06F61B64C24B}"/>
              </a:ext>
            </a:extLst>
          </p:cNvPr>
          <p:cNvPicPr>
            <a:picLocks noChangeAspect="1"/>
          </p:cNvPicPr>
          <p:nvPr/>
        </p:nvPicPr>
        <p:blipFill rotWithShape="1">
          <a:blip r:embed="rId2"/>
          <a:srcRect t="23161"/>
          <a:stretch/>
        </p:blipFill>
        <p:spPr>
          <a:xfrm>
            <a:off x="1558459" y="1385174"/>
            <a:ext cx="6027082" cy="4971177"/>
          </a:xfrm>
          <a:prstGeom prst="rect">
            <a:avLst/>
          </a:prstGeom>
        </p:spPr>
      </p:pic>
    </p:spTree>
    <p:extLst>
      <p:ext uri="{BB962C8B-B14F-4D97-AF65-F5344CB8AC3E}">
        <p14:creationId xmlns:p14="http://schemas.microsoft.com/office/powerpoint/2010/main" val="621937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7"/>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t>Top module file</a:t>
            </a:r>
            <a:endParaRPr/>
          </a:p>
        </p:txBody>
      </p:sp>
      <p:sp>
        <p:nvSpPr>
          <p:cNvPr id="276" name="Google Shape;276;p17"/>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277" name="Google Shape;277;p17"/>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graphicFrame>
        <p:nvGraphicFramePr>
          <p:cNvPr id="278" name="Google Shape;278;p17"/>
          <p:cNvGraphicFramePr/>
          <p:nvPr>
            <p:extLst>
              <p:ext uri="{D42A27DB-BD31-4B8C-83A1-F6EECF244321}">
                <p14:modId xmlns:p14="http://schemas.microsoft.com/office/powerpoint/2010/main" val="3186336791"/>
              </p:ext>
            </p:extLst>
          </p:nvPr>
        </p:nvGraphicFramePr>
        <p:xfrm>
          <a:off x="556954" y="1071716"/>
          <a:ext cx="8030075" cy="2405538"/>
        </p:xfrm>
        <a:graphic>
          <a:graphicData uri="http://schemas.openxmlformats.org/drawingml/2006/table">
            <a:tbl>
              <a:tblPr firstRow="1" bandRow="1">
                <a:noFill/>
                <a:tableStyleId>{3F158DB1-E632-4587-992C-7FC52A8DE03A}</a:tableStyleId>
              </a:tblPr>
              <a:tblGrid>
                <a:gridCol w="2416125">
                  <a:extLst>
                    <a:ext uri="{9D8B030D-6E8A-4147-A177-3AD203B41FA5}">
                      <a16:colId xmlns:a16="http://schemas.microsoft.com/office/drawing/2014/main" val="20000"/>
                    </a:ext>
                  </a:extLst>
                </a:gridCol>
                <a:gridCol w="2646850">
                  <a:extLst>
                    <a:ext uri="{9D8B030D-6E8A-4147-A177-3AD203B41FA5}">
                      <a16:colId xmlns:a16="http://schemas.microsoft.com/office/drawing/2014/main" val="20001"/>
                    </a:ext>
                  </a:extLst>
                </a:gridCol>
                <a:gridCol w="2967100">
                  <a:extLst>
                    <a:ext uri="{9D8B030D-6E8A-4147-A177-3AD203B41FA5}">
                      <a16:colId xmlns:a16="http://schemas.microsoft.com/office/drawing/2014/main" val="20002"/>
                    </a:ext>
                  </a:extLst>
                </a:gridCol>
              </a:tblGrid>
              <a:tr h="400923">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dirty="0"/>
                        <a:t>DE5QGen2x8IF128.v</a:t>
                      </a:r>
                      <a:endParaRPr sz="1800" dirty="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dirty="0"/>
                        <a:t>DE5QGen2x8IF128_CLK.v</a:t>
                      </a:r>
                      <a:endParaRPr sz="1800" dirty="0"/>
                    </a:p>
                  </a:txBody>
                  <a:tcPr marL="91450" marR="91450" marT="45725" marB="45725"/>
                </a:tc>
                <a:extLst>
                  <a:ext uri="{0D108BD9-81ED-4DB2-BD59-A6C34878D82A}">
                    <a16:rowId xmlns:a16="http://schemas.microsoft.com/office/drawing/2014/main" val="10000"/>
                  </a:ext>
                </a:extLst>
              </a:tr>
              <a:tr h="400923">
                <a:tc>
                  <a:txBody>
                    <a:bodyPr/>
                    <a:lstStyle/>
                    <a:p>
                      <a:pPr marL="0" marR="0" lvl="0" indent="0" algn="l" rtl="0">
                        <a:spcBef>
                          <a:spcPts val="0"/>
                        </a:spcBef>
                        <a:spcAft>
                          <a:spcPts val="0"/>
                        </a:spcAft>
                        <a:buNone/>
                      </a:pPr>
                      <a:r>
                        <a:rPr lang="en-US" sz="1800"/>
                        <a:t>C_PCI_DATA_WIDTH </a:t>
                      </a:r>
                      <a:endParaRPr sz="1800"/>
                    </a:p>
                  </a:txBody>
                  <a:tcPr marL="91450" marR="91450" marT="45725" marB="45725"/>
                </a:tc>
                <a:tc>
                  <a:txBody>
                    <a:bodyPr/>
                    <a:lstStyle/>
                    <a:p>
                      <a:pPr marL="0" marR="0" lvl="0" indent="0" algn="l" rtl="0">
                        <a:spcBef>
                          <a:spcPts val="0"/>
                        </a:spcBef>
                        <a:spcAft>
                          <a:spcPts val="0"/>
                        </a:spcAft>
                        <a:buNone/>
                      </a:pPr>
                      <a:r>
                        <a:rPr lang="en-US" sz="1800" dirty="0"/>
                        <a:t>128</a:t>
                      </a:r>
                      <a:endParaRPr sz="1800" dirty="0"/>
                    </a:p>
                  </a:txBody>
                  <a:tcPr marL="91450" marR="91450" marT="45725" marB="45725"/>
                </a:tc>
                <a:tc>
                  <a:txBody>
                    <a:bodyPr/>
                    <a:lstStyle/>
                    <a:p>
                      <a:pPr marL="0" marR="0" lvl="0" indent="0" algn="l" rtl="0">
                        <a:spcBef>
                          <a:spcPts val="0"/>
                        </a:spcBef>
                        <a:spcAft>
                          <a:spcPts val="0"/>
                        </a:spcAft>
                        <a:buNone/>
                      </a:pPr>
                      <a:r>
                        <a:rPr lang="en-US" sz="1800" dirty="0"/>
                        <a:t>128</a:t>
                      </a:r>
                      <a:endParaRPr sz="1800" dirty="0"/>
                    </a:p>
                  </a:txBody>
                  <a:tcPr marL="91450" marR="91450" marT="45725" marB="45725"/>
                </a:tc>
                <a:extLst>
                  <a:ext uri="{0D108BD9-81ED-4DB2-BD59-A6C34878D82A}">
                    <a16:rowId xmlns:a16="http://schemas.microsoft.com/office/drawing/2014/main" val="10001"/>
                  </a:ext>
                </a:extLst>
              </a:tr>
              <a:tr h="400923">
                <a:tc>
                  <a:txBody>
                    <a:bodyPr/>
                    <a:lstStyle/>
                    <a:p>
                      <a:pPr marL="0" marR="0" lvl="0" indent="0" algn="l" rtl="0">
                        <a:spcBef>
                          <a:spcPts val="0"/>
                        </a:spcBef>
                        <a:spcAft>
                          <a:spcPts val="0"/>
                        </a:spcAft>
                        <a:buNone/>
                      </a:pPr>
                      <a:r>
                        <a:rPr lang="en-US" sz="1800" dirty="0"/>
                        <a:t>Qsys</a:t>
                      </a:r>
                      <a:endParaRPr sz="1800" dirty="0"/>
                    </a:p>
                  </a:txBody>
                  <a:tcPr marL="91450" marR="91450" marT="45725" marB="45725"/>
                </a:tc>
                <a:tc>
                  <a:txBody>
                    <a:bodyPr/>
                    <a:lstStyle/>
                    <a:p>
                      <a:pPr marL="0" marR="0" lvl="0" indent="0" algn="l" rtl="0">
                        <a:spcBef>
                          <a:spcPts val="0"/>
                        </a:spcBef>
                        <a:spcAft>
                          <a:spcPts val="0"/>
                        </a:spcAft>
                        <a:buNone/>
                      </a:pPr>
                      <a:r>
                        <a:rPr lang="en-US" sz="1800"/>
                        <a:t>QSysDE5QGen2x8If128</a:t>
                      </a:r>
                      <a:endParaRPr sz="1800"/>
                    </a:p>
                  </a:txBody>
                  <a:tcPr marL="91450" marR="91450" marT="45725" marB="45725"/>
                </a:tc>
                <a:tc>
                  <a:txBody>
                    <a:bodyPr/>
                    <a:lstStyle/>
                    <a:p>
                      <a:pPr marL="0" marR="0" lvl="0" indent="0" algn="l" rtl="0">
                        <a:spcBef>
                          <a:spcPts val="0"/>
                        </a:spcBef>
                        <a:spcAft>
                          <a:spcPts val="0"/>
                        </a:spcAft>
                        <a:buNone/>
                      </a:pPr>
                      <a:r>
                        <a:rPr lang="en-US" sz="1800" dirty="0"/>
                        <a:t>QSysDE5QGen2x8If128_CLK</a:t>
                      </a:r>
                      <a:endParaRPr sz="1800" dirty="0"/>
                    </a:p>
                  </a:txBody>
                  <a:tcPr marL="91450" marR="91450" marT="45725" marB="45725"/>
                </a:tc>
                <a:extLst>
                  <a:ext uri="{0D108BD9-81ED-4DB2-BD59-A6C34878D82A}">
                    <a16:rowId xmlns:a16="http://schemas.microsoft.com/office/drawing/2014/main" val="10002"/>
                  </a:ext>
                </a:extLst>
              </a:tr>
              <a:tr h="400923">
                <a:tc>
                  <a:txBody>
                    <a:bodyPr/>
                    <a:lstStyle/>
                    <a:p>
                      <a:pPr marL="0" marR="0" lvl="0" indent="0" algn="l" rtl="0">
                        <a:spcBef>
                          <a:spcPts val="0"/>
                        </a:spcBef>
                        <a:spcAft>
                          <a:spcPts val="0"/>
                        </a:spcAft>
                        <a:buNone/>
                      </a:pPr>
                      <a:r>
                        <a:rPr lang="en-US" sz="1800" dirty="0"/>
                        <a:t>riffa_wrapper_de5</a:t>
                      </a:r>
                      <a:endParaRPr sz="1800" dirty="0"/>
                    </a:p>
                  </a:txBody>
                  <a:tcPr marL="91450" marR="91450" marT="45725" marB="45725"/>
                </a:tc>
                <a:tc>
                  <a:txBody>
                    <a:bodyPr/>
                    <a:lstStyle/>
                    <a:p>
                      <a:pPr marL="0" marR="0" lvl="0" indent="0" algn="l" rtl="0">
                        <a:spcBef>
                          <a:spcPts val="0"/>
                        </a:spcBef>
                        <a:spcAft>
                          <a:spcPts val="0"/>
                        </a:spcAft>
                        <a:buNone/>
                      </a:pPr>
                      <a:r>
                        <a:rPr lang="en-US" sz="1800"/>
                        <a:t>At de5 folder</a:t>
                      </a:r>
                      <a:endParaRPr sz="180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At de5 folder</a:t>
                      </a:r>
                      <a:endParaRPr sz="1800"/>
                    </a:p>
                  </a:txBody>
                  <a:tcPr marL="91450" marR="91450" marT="45725" marB="45725"/>
                </a:tc>
                <a:extLst>
                  <a:ext uri="{0D108BD9-81ED-4DB2-BD59-A6C34878D82A}">
                    <a16:rowId xmlns:a16="http://schemas.microsoft.com/office/drawing/2014/main" val="10003"/>
                  </a:ext>
                </a:extLst>
              </a:tr>
              <a:tr h="400923">
                <a:tc>
                  <a:txBody>
                    <a:bodyPr/>
                    <a:lstStyle/>
                    <a:p>
                      <a:pPr marL="0" marR="0" lvl="0" indent="0" algn="l" rtl="0">
                        <a:spcBef>
                          <a:spcPts val="0"/>
                        </a:spcBef>
                        <a:spcAft>
                          <a:spcPts val="0"/>
                        </a:spcAft>
                        <a:buNone/>
                      </a:pPr>
                      <a:r>
                        <a:rPr lang="en-US" sz="1800" dirty="0"/>
                        <a:t>chnl_tester</a:t>
                      </a:r>
                      <a:endParaRPr sz="1800" dirty="0"/>
                    </a:p>
                  </a:txBody>
                  <a:tcPr marL="91450" marR="91450" marT="45725" marB="45725"/>
                </a:tc>
                <a:tc>
                  <a:txBody>
                    <a:bodyPr/>
                    <a:lstStyle/>
                    <a:p>
                      <a:pPr marL="0" marR="0" lvl="0" indent="0" algn="l" rtl="0">
                        <a:spcBef>
                          <a:spcPts val="0"/>
                        </a:spcBef>
                        <a:spcAft>
                          <a:spcPts val="0"/>
                        </a:spcAft>
                        <a:buNone/>
                      </a:pPr>
                      <a:r>
                        <a:rPr lang="en-US" sz="1800" dirty="0"/>
                        <a:t># of core parallel</a:t>
                      </a:r>
                      <a:endParaRPr sz="1800" dirty="0"/>
                    </a:p>
                  </a:txBody>
                  <a:tcPr marL="91450" marR="91450" marT="45725" marB="45725"/>
                </a:tc>
                <a:tc>
                  <a:txBody>
                    <a:bodyPr/>
                    <a:lstStyle/>
                    <a:p>
                      <a:pPr marL="0" marR="0" lvl="0" indent="0" algn="l" rtl="0">
                        <a:spcBef>
                          <a:spcPts val="0"/>
                        </a:spcBef>
                        <a:spcAft>
                          <a:spcPts val="0"/>
                        </a:spcAft>
                        <a:buNone/>
                      </a:pPr>
                      <a:r>
                        <a:rPr lang="en-US" sz="1800"/>
                        <a:t>different frequency</a:t>
                      </a:r>
                      <a:endParaRPr sz="1800"/>
                    </a:p>
                  </a:txBody>
                  <a:tcPr marL="91450" marR="91450" marT="45725" marB="45725"/>
                </a:tc>
                <a:extLst>
                  <a:ext uri="{0D108BD9-81ED-4DB2-BD59-A6C34878D82A}">
                    <a16:rowId xmlns:a16="http://schemas.microsoft.com/office/drawing/2014/main" val="10004"/>
                  </a:ext>
                </a:extLst>
              </a:tr>
              <a:tr h="400923">
                <a:tc>
                  <a:txBody>
                    <a:bodyPr/>
                    <a:lstStyle/>
                    <a:p>
                      <a:pPr marL="0" marR="0" lvl="0" indent="0" algn="l" rtl="0">
                        <a:spcBef>
                          <a:spcPts val="0"/>
                        </a:spcBef>
                        <a:spcAft>
                          <a:spcPts val="0"/>
                        </a:spcAft>
                        <a:buNone/>
                      </a:pPr>
                      <a:r>
                        <a:rPr lang="en-US" sz="1800" dirty="0"/>
                        <a:t>reference clk</a:t>
                      </a:r>
                      <a:endParaRPr sz="1800" dirty="0"/>
                    </a:p>
                  </a:txBody>
                  <a:tcPr marL="91450" marR="91450" marT="45725" marB="45725"/>
                </a:tc>
                <a:tc>
                  <a:txBody>
                    <a:bodyPr/>
                    <a:lstStyle/>
                    <a:p>
                      <a:pPr marL="0" marR="0" lvl="0" indent="0" algn="l" rtl="0">
                        <a:spcBef>
                          <a:spcPts val="0"/>
                        </a:spcBef>
                        <a:spcAft>
                          <a:spcPts val="0"/>
                        </a:spcAft>
                        <a:buNone/>
                      </a:pPr>
                      <a:r>
                        <a:rPr lang="en-US" sz="1800" dirty="0" err="1"/>
                        <a:t>chnl_clk</a:t>
                      </a:r>
                      <a:endParaRPr sz="1800" dirty="0"/>
                    </a:p>
                  </a:txBody>
                  <a:tcPr marL="91450" marR="91450" marT="45725" marB="45725"/>
                </a:tc>
                <a:tc>
                  <a:txBody>
                    <a:bodyPr/>
                    <a:lstStyle/>
                    <a:p>
                      <a:pPr marL="0" marR="0" lvl="0" indent="0" algn="l" rtl="0">
                        <a:spcBef>
                          <a:spcPts val="0"/>
                        </a:spcBef>
                        <a:spcAft>
                          <a:spcPts val="0"/>
                        </a:spcAft>
                        <a:buNone/>
                      </a:pPr>
                      <a:r>
                        <a:rPr lang="en-US" sz="1800" dirty="0"/>
                        <a:t>riffa_*_clk</a:t>
                      </a:r>
                      <a:endParaRPr sz="1800" dirty="0"/>
                    </a:p>
                  </a:txBody>
                  <a:tcPr marL="91450" marR="91450" marT="45725" marB="45725"/>
                </a:tc>
                <a:extLst>
                  <a:ext uri="{0D108BD9-81ED-4DB2-BD59-A6C34878D82A}">
                    <a16:rowId xmlns:a16="http://schemas.microsoft.com/office/drawing/2014/main" val="10005"/>
                  </a:ext>
                </a:extLst>
              </a:tr>
            </a:tbl>
          </a:graphicData>
        </a:graphic>
      </p:graphicFrame>
      <p:pic>
        <p:nvPicPr>
          <p:cNvPr id="279" name="Google Shape;279;p17"/>
          <p:cNvPicPr preferRelativeResize="0"/>
          <p:nvPr/>
        </p:nvPicPr>
        <p:blipFill rotWithShape="1">
          <a:blip r:embed="rId3">
            <a:alphaModFix/>
          </a:blip>
          <a:srcRect/>
          <a:stretch/>
        </p:blipFill>
        <p:spPr>
          <a:xfrm>
            <a:off x="477795" y="3728785"/>
            <a:ext cx="6263624" cy="1964149"/>
          </a:xfrm>
          <a:prstGeom prst="rect">
            <a:avLst/>
          </a:prstGeom>
          <a:noFill/>
          <a:ln>
            <a:noFill/>
          </a:ln>
        </p:spPr>
      </p:pic>
      <p:sp>
        <p:nvSpPr>
          <p:cNvPr id="280" name="Google Shape;280;p17"/>
          <p:cNvSpPr txBox="1"/>
          <p:nvPr/>
        </p:nvSpPr>
        <p:spPr>
          <a:xfrm>
            <a:off x="556955" y="5848684"/>
            <a:ext cx="23157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Please check Appendix</a:t>
            </a:r>
            <a:endParaRPr sz="1800" dirty="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3"/>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Software Interface</a:t>
            </a:r>
            <a:endParaRPr/>
          </a:p>
        </p:txBody>
      </p:sp>
      <p:sp>
        <p:nvSpPr>
          <p:cNvPr id="218" name="Google Shape;218;p13"/>
          <p:cNvSpPr txBox="1">
            <a:spLocks noGrp="1"/>
          </p:cNvSpPr>
          <p:nvPr>
            <p:ph type="body" idx="1"/>
          </p:nvPr>
        </p:nvSpPr>
        <p:spPr>
          <a:xfrm>
            <a:off x="477795" y="1252152"/>
            <a:ext cx="8254313" cy="509454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RX/ TX protocol:</a:t>
            </a:r>
            <a:endParaRPr/>
          </a:p>
          <a:p>
            <a:pPr marL="685800" lvl="1" indent="-228600" algn="l" rtl="0">
              <a:lnSpc>
                <a:spcPct val="90000"/>
              </a:lnSpc>
              <a:spcBef>
                <a:spcPts val="500"/>
              </a:spcBef>
              <a:spcAft>
                <a:spcPts val="0"/>
              </a:spcAft>
              <a:buClr>
                <a:schemeClr val="dk1"/>
              </a:buClr>
              <a:buSzPts val="2000"/>
              <a:buChar char="˗"/>
            </a:pPr>
            <a:r>
              <a:rPr lang="en-US" sz="2000">
                <a:latin typeface="Times New Roman"/>
                <a:ea typeface="Times New Roman"/>
                <a:cs typeface="Times New Roman"/>
                <a:sym typeface="Times New Roman"/>
              </a:rPr>
              <a:t>Learn from example: our sample code</a:t>
            </a:r>
            <a:endParaRPr/>
          </a:p>
          <a:p>
            <a:pPr marL="228600" lvl="0" indent="-101600" algn="l" rtl="0">
              <a:lnSpc>
                <a:spcPct val="90000"/>
              </a:lnSpc>
              <a:spcBef>
                <a:spcPts val="1000"/>
              </a:spcBef>
              <a:spcAft>
                <a:spcPts val="0"/>
              </a:spcAft>
              <a:buClr>
                <a:schemeClr val="dk1"/>
              </a:buClr>
              <a:buSzPts val="2000"/>
              <a:buNone/>
            </a:pPr>
            <a:endParaRPr>
              <a:latin typeface="Times New Roman"/>
              <a:ea typeface="Times New Roman"/>
              <a:cs typeface="Times New Roman"/>
              <a:sym typeface="Times New Roman"/>
            </a:endParaRPr>
          </a:p>
          <a:p>
            <a:pPr marL="228600" lvl="0" indent="-101600" algn="l" rtl="0">
              <a:lnSpc>
                <a:spcPct val="90000"/>
              </a:lnSpc>
              <a:spcBef>
                <a:spcPts val="1000"/>
              </a:spcBef>
              <a:spcAft>
                <a:spcPts val="0"/>
              </a:spcAft>
              <a:buClr>
                <a:schemeClr val="dk1"/>
              </a:buClr>
              <a:buSzPts val="2000"/>
              <a:buNone/>
            </a:pPr>
            <a:endParaRPr>
              <a:latin typeface="Times New Roman"/>
              <a:ea typeface="Times New Roman"/>
              <a:cs typeface="Times New Roman"/>
              <a:sym typeface="Times New Roman"/>
            </a:endParaRPr>
          </a:p>
        </p:txBody>
      </p:sp>
      <p:sp>
        <p:nvSpPr>
          <p:cNvPr id="219" name="Google Shape;219;p13"/>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pic>
        <p:nvPicPr>
          <p:cNvPr id="220" name="Google Shape;220;p13"/>
          <p:cNvPicPr preferRelativeResize="0"/>
          <p:nvPr/>
        </p:nvPicPr>
        <p:blipFill rotWithShape="1">
          <a:blip r:embed="rId3">
            <a:alphaModFix/>
          </a:blip>
          <a:srcRect/>
          <a:stretch/>
        </p:blipFill>
        <p:spPr>
          <a:xfrm>
            <a:off x="42534" y="2316724"/>
            <a:ext cx="9058932" cy="1998792"/>
          </a:xfrm>
          <a:prstGeom prst="rect">
            <a:avLst/>
          </a:prstGeom>
          <a:noFill/>
          <a:ln w="9525" cap="flat" cmpd="sng">
            <a:solidFill>
              <a:schemeClr val="dk1"/>
            </a:solidFill>
            <a:prstDash val="solid"/>
            <a:round/>
            <a:headEnd type="none" w="sm" len="sm"/>
            <a:tailEnd type="none" w="sm" len="sm"/>
          </a:ln>
        </p:spPr>
      </p:pic>
      <p:pic>
        <p:nvPicPr>
          <p:cNvPr id="221" name="Google Shape;221;p13"/>
          <p:cNvPicPr preferRelativeResize="0"/>
          <p:nvPr/>
        </p:nvPicPr>
        <p:blipFill rotWithShape="1">
          <a:blip r:embed="rId4">
            <a:alphaModFix/>
          </a:blip>
          <a:srcRect/>
          <a:stretch/>
        </p:blipFill>
        <p:spPr>
          <a:xfrm>
            <a:off x="42534" y="4526505"/>
            <a:ext cx="9101466" cy="1566869"/>
          </a:xfrm>
          <a:prstGeom prst="rect">
            <a:avLst/>
          </a:prstGeom>
          <a:noFill/>
          <a:ln w="9525" cap="flat" cmpd="sng">
            <a:solidFill>
              <a:schemeClr val="dk1"/>
            </a:solidFill>
            <a:prstDash val="solid"/>
            <a:round/>
            <a:headEnd type="none" w="sm" len="sm"/>
            <a:tailEnd type="none" w="sm" len="sm"/>
          </a:ln>
        </p:spPr>
      </p:pic>
      <p:sp>
        <p:nvSpPr>
          <p:cNvPr id="222" name="Google Shape;222;p13"/>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3"/>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Software Interface</a:t>
            </a:r>
            <a:endParaRPr dirty="0"/>
          </a:p>
        </p:txBody>
      </p:sp>
      <p:sp>
        <p:nvSpPr>
          <p:cNvPr id="218" name="Google Shape;218;p13"/>
          <p:cNvSpPr txBox="1">
            <a:spLocks noGrp="1"/>
          </p:cNvSpPr>
          <p:nvPr>
            <p:ph type="body" idx="1"/>
          </p:nvPr>
        </p:nvSpPr>
        <p:spPr>
          <a:xfrm>
            <a:off x="477795" y="1252152"/>
            <a:ext cx="8254313" cy="509454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dirty="0">
                <a:latin typeface="Times New Roman"/>
                <a:ea typeface="Times New Roman"/>
                <a:cs typeface="Times New Roman"/>
                <a:sym typeface="Times New Roman"/>
              </a:rPr>
              <a:t>RX/ TX protocol:</a:t>
            </a:r>
            <a:endParaRPr dirty="0"/>
          </a:p>
          <a:p>
            <a:pPr marL="228600" lvl="0" indent="-101600" algn="l" rtl="0">
              <a:lnSpc>
                <a:spcPct val="90000"/>
              </a:lnSpc>
              <a:spcBef>
                <a:spcPts val="1000"/>
              </a:spcBef>
              <a:spcAft>
                <a:spcPts val="0"/>
              </a:spcAft>
              <a:buClr>
                <a:schemeClr val="dk1"/>
              </a:buClr>
              <a:buSzPts val="2000"/>
              <a:buNone/>
            </a:pPr>
            <a:endParaRPr dirty="0">
              <a:latin typeface="Times New Roman"/>
              <a:ea typeface="Times New Roman"/>
              <a:cs typeface="Times New Roman"/>
              <a:sym typeface="Times New Roman"/>
            </a:endParaRPr>
          </a:p>
          <a:p>
            <a:pPr marL="228600" lvl="0" indent="-101600" algn="l" rtl="0">
              <a:lnSpc>
                <a:spcPct val="90000"/>
              </a:lnSpc>
              <a:spcBef>
                <a:spcPts val="1000"/>
              </a:spcBef>
              <a:spcAft>
                <a:spcPts val="0"/>
              </a:spcAft>
              <a:buClr>
                <a:schemeClr val="dk1"/>
              </a:buClr>
              <a:buSzPts val="2000"/>
              <a:buNone/>
            </a:pPr>
            <a:endParaRPr dirty="0">
              <a:latin typeface="Times New Roman"/>
              <a:ea typeface="Times New Roman"/>
              <a:cs typeface="Times New Roman"/>
              <a:sym typeface="Times New Roman"/>
            </a:endParaRPr>
          </a:p>
        </p:txBody>
      </p:sp>
      <p:sp>
        <p:nvSpPr>
          <p:cNvPr id="219" name="Google Shape;219;p13"/>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
        <p:nvSpPr>
          <p:cNvPr id="222" name="Google Shape;222;p13"/>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pic>
        <p:nvPicPr>
          <p:cNvPr id="3" name="圖片 2">
            <a:extLst>
              <a:ext uri="{FF2B5EF4-FFF2-40B4-BE49-F238E27FC236}">
                <a16:creationId xmlns:a16="http://schemas.microsoft.com/office/drawing/2014/main" id="{8B8D0CCC-7951-4A85-86AD-B4F3CE9659BE}"/>
              </a:ext>
            </a:extLst>
          </p:cNvPr>
          <p:cNvPicPr>
            <a:picLocks noChangeAspect="1"/>
          </p:cNvPicPr>
          <p:nvPr/>
        </p:nvPicPr>
        <p:blipFill>
          <a:blip r:embed="rId3"/>
          <a:stretch>
            <a:fillRect/>
          </a:stretch>
        </p:blipFill>
        <p:spPr>
          <a:xfrm>
            <a:off x="3740128" y="653074"/>
            <a:ext cx="4991980" cy="5930472"/>
          </a:xfrm>
          <a:prstGeom prst="rect">
            <a:avLst/>
          </a:prstGeom>
        </p:spPr>
      </p:pic>
    </p:spTree>
    <p:extLst>
      <p:ext uri="{BB962C8B-B14F-4D97-AF65-F5344CB8AC3E}">
        <p14:creationId xmlns:p14="http://schemas.microsoft.com/office/powerpoint/2010/main" val="3775511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0FA11A3-A6BB-494D-B08B-D4E790F272D7}"/>
              </a:ext>
            </a:extLst>
          </p:cNvPr>
          <p:cNvSpPr>
            <a:spLocks noGrp="1"/>
          </p:cNvSpPr>
          <p:nvPr>
            <p:ph type="title"/>
          </p:nvPr>
        </p:nvSpPr>
        <p:spPr/>
        <p:txBody>
          <a:bodyPr/>
          <a:lstStyle/>
          <a:p>
            <a:r>
              <a:rPr lang="en-US" altLang="zh-TW" dirty="0"/>
              <a:t>Sample usage</a:t>
            </a:r>
            <a:endParaRPr lang="zh-TW" altLang="en-US" dirty="0"/>
          </a:p>
        </p:txBody>
      </p:sp>
      <p:sp>
        <p:nvSpPr>
          <p:cNvPr id="3" name="投影片編號版面配置區 2">
            <a:extLst>
              <a:ext uri="{FF2B5EF4-FFF2-40B4-BE49-F238E27FC236}">
                <a16:creationId xmlns:a16="http://schemas.microsoft.com/office/drawing/2014/main" id="{BD5A879F-4204-4E6F-8E27-6DF820DAB8E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pic>
        <p:nvPicPr>
          <p:cNvPr id="5" name="圖片 4">
            <a:extLst>
              <a:ext uri="{FF2B5EF4-FFF2-40B4-BE49-F238E27FC236}">
                <a16:creationId xmlns:a16="http://schemas.microsoft.com/office/drawing/2014/main" id="{EB8FF92A-1F77-4069-9FB9-21EE9CDD1434}"/>
              </a:ext>
            </a:extLst>
          </p:cNvPr>
          <p:cNvPicPr>
            <a:picLocks noChangeAspect="1"/>
          </p:cNvPicPr>
          <p:nvPr/>
        </p:nvPicPr>
        <p:blipFill>
          <a:blip r:embed="rId2"/>
          <a:stretch>
            <a:fillRect/>
          </a:stretch>
        </p:blipFill>
        <p:spPr>
          <a:xfrm>
            <a:off x="804884" y="1589086"/>
            <a:ext cx="7534232" cy="4629468"/>
          </a:xfrm>
          <a:prstGeom prst="rect">
            <a:avLst/>
          </a:prstGeom>
        </p:spPr>
      </p:pic>
      <p:sp>
        <p:nvSpPr>
          <p:cNvPr id="6" name="文字方塊 5">
            <a:extLst>
              <a:ext uri="{FF2B5EF4-FFF2-40B4-BE49-F238E27FC236}">
                <a16:creationId xmlns:a16="http://schemas.microsoft.com/office/drawing/2014/main" id="{064132FC-C867-4DB4-8389-DF6BC9BCBDBA}"/>
              </a:ext>
            </a:extLst>
          </p:cNvPr>
          <p:cNvSpPr txBox="1"/>
          <p:nvPr/>
        </p:nvSpPr>
        <p:spPr>
          <a:xfrm>
            <a:off x="3900119" y="1628431"/>
            <a:ext cx="4438997" cy="400110"/>
          </a:xfrm>
          <a:prstGeom prst="rect">
            <a:avLst/>
          </a:prstGeom>
          <a:noFill/>
        </p:spPr>
        <p:txBody>
          <a:bodyPr wrap="square" rtlCol="0">
            <a:spAutoFit/>
          </a:bodyPr>
          <a:lstStyle/>
          <a:p>
            <a:r>
              <a:rPr lang="zh-TW" altLang="en-US" sz="2000" dirty="0">
                <a:solidFill>
                  <a:srgbClr val="C00000"/>
                </a:solidFill>
              </a:rPr>
              <a:t>建議要以</a:t>
            </a:r>
            <a:r>
              <a:rPr lang="en-US" altLang="zh-TW" sz="2000" dirty="0">
                <a:solidFill>
                  <a:srgbClr val="C00000"/>
                </a:solidFill>
              </a:rPr>
              <a:t>int</a:t>
            </a:r>
            <a:r>
              <a:rPr lang="zh-TW" altLang="en-US" sz="2000" dirty="0">
                <a:solidFill>
                  <a:srgbClr val="C00000"/>
                </a:solidFill>
              </a:rPr>
              <a:t>宣告避免不必要的</a:t>
            </a:r>
            <a:r>
              <a:rPr lang="en-US" altLang="zh-TW" sz="2000" dirty="0">
                <a:solidFill>
                  <a:srgbClr val="C00000"/>
                </a:solidFill>
              </a:rPr>
              <a:t>bug</a:t>
            </a:r>
            <a:r>
              <a:rPr lang="zh-TW" altLang="en-US" sz="2000" dirty="0">
                <a:solidFill>
                  <a:srgbClr val="C00000"/>
                </a:solidFill>
              </a:rPr>
              <a:t>出現</a:t>
            </a:r>
          </a:p>
        </p:txBody>
      </p:sp>
    </p:spTree>
    <p:extLst>
      <p:ext uri="{BB962C8B-B14F-4D97-AF65-F5344CB8AC3E}">
        <p14:creationId xmlns:p14="http://schemas.microsoft.com/office/powerpoint/2010/main" val="1648720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9580C598-E6B6-4D24-BD50-1296E0CF2DF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
        <p:nvSpPr>
          <p:cNvPr id="3" name="文字方塊 2">
            <a:extLst>
              <a:ext uri="{FF2B5EF4-FFF2-40B4-BE49-F238E27FC236}">
                <a16:creationId xmlns:a16="http://schemas.microsoft.com/office/drawing/2014/main" id="{F21FD332-89D3-4EE2-945D-17CA6D1E1393}"/>
              </a:ext>
            </a:extLst>
          </p:cNvPr>
          <p:cNvSpPr txBox="1"/>
          <p:nvPr/>
        </p:nvSpPr>
        <p:spPr>
          <a:xfrm>
            <a:off x="573578" y="556952"/>
            <a:ext cx="6375862" cy="584775"/>
          </a:xfrm>
          <a:prstGeom prst="rect">
            <a:avLst/>
          </a:prstGeom>
          <a:noFill/>
        </p:spPr>
        <p:txBody>
          <a:bodyPr wrap="square" rtlCol="0">
            <a:spAutoFit/>
          </a:bodyPr>
          <a:lstStyle/>
          <a:p>
            <a:r>
              <a:rPr lang="en-US" altLang="zh-TW" sz="3200" dirty="0">
                <a:latin typeface="Times New Roman" panose="02020603050405020304" pitchFamily="18" charset="0"/>
                <a:cs typeface="Times New Roman" panose="02020603050405020304" pitchFamily="18" charset="0"/>
              </a:rPr>
              <a:t>Full transmission –</a:t>
            </a:r>
            <a:r>
              <a:rPr lang="zh-TW" altLang="en-US" sz="3200" dirty="0">
                <a:latin typeface="Times New Roman" panose="02020603050405020304" pitchFamily="18" charset="0"/>
                <a:cs typeface="Times New Roman" panose="02020603050405020304" pitchFamily="18" charset="0"/>
              </a:rPr>
              <a:t> </a:t>
            </a:r>
            <a:r>
              <a:rPr lang="en-US" altLang="zh-TW" sz="3200" dirty="0">
                <a:latin typeface="Times New Roman" panose="02020603050405020304" pitchFamily="18" charset="0"/>
                <a:cs typeface="Times New Roman" panose="02020603050405020304" pitchFamily="18" charset="0"/>
              </a:rPr>
              <a:t>send</a:t>
            </a:r>
          </a:p>
        </p:txBody>
      </p:sp>
      <p:pic>
        <p:nvPicPr>
          <p:cNvPr id="4" name="圖片 3">
            <a:extLst>
              <a:ext uri="{FF2B5EF4-FFF2-40B4-BE49-F238E27FC236}">
                <a16:creationId xmlns:a16="http://schemas.microsoft.com/office/drawing/2014/main" id="{3FA314E4-9AEC-4DF9-A40E-22BD6622F508}"/>
              </a:ext>
            </a:extLst>
          </p:cNvPr>
          <p:cNvPicPr>
            <a:picLocks noChangeAspect="1"/>
          </p:cNvPicPr>
          <p:nvPr/>
        </p:nvPicPr>
        <p:blipFill>
          <a:blip r:embed="rId2"/>
          <a:stretch>
            <a:fillRect/>
          </a:stretch>
        </p:blipFill>
        <p:spPr>
          <a:xfrm>
            <a:off x="1427971" y="1089454"/>
            <a:ext cx="6288058" cy="5632022"/>
          </a:xfrm>
          <a:prstGeom prst="rect">
            <a:avLst/>
          </a:prstGeom>
        </p:spPr>
      </p:pic>
    </p:spTree>
    <p:extLst>
      <p:ext uri="{BB962C8B-B14F-4D97-AF65-F5344CB8AC3E}">
        <p14:creationId xmlns:p14="http://schemas.microsoft.com/office/powerpoint/2010/main" val="2486467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9580C598-E6B6-4D24-BD50-1296E0CF2DF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
        <p:nvSpPr>
          <p:cNvPr id="3" name="文字方塊 2">
            <a:extLst>
              <a:ext uri="{FF2B5EF4-FFF2-40B4-BE49-F238E27FC236}">
                <a16:creationId xmlns:a16="http://schemas.microsoft.com/office/drawing/2014/main" id="{F21FD332-89D3-4EE2-945D-17CA6D1E1393}"/>
              </a:ext>
            </a:extLst>
          </p:cNvPr>
          <p:cNvSpPr txBox="1"/>
          <p:nvPr/>
        </p:nvSpPr>
        <p:spPr>
          <a:xfrm>
            <a:off x="573578" y="556952"/>
            <a:ext cx="6375862" cy="584775"/>
          </a:xfrm>
          <a:prstGeom prst="rect">
            <a:avLst/>
          </a:prstGeom>
          <a:noFill/>
        </p:spPr>
        <p:txBody>
          <a:bodyPr wrap="square" rtlCol="0">
            <a:spAutoFit/>
          </a:bodyPr>
          <a:lstStyle/>
          <a:p>
            <a:r>
              <a:rPr lang="en-US" altLang="zh-TW" sz="3200" dirty="0">
                <a:latin typeface="Times New Roman" panose="02020603050405020304" pitchFamily="18" charset="0"/>
                <a:cs typeface="Times New Roman" panose="02020603050405020304" pitchFamily="18" charset="0"/>
              </a:rPr>
              <a:t>Full transmission –</a:t>
            </a:r>
            <a:r>
              <a:rPr lang="zh-TW" altLang="en-US" sz="3200" dirty="0">
                <a:latin typeface="Times New Roman" panose="02020603050405020304" pitchFamily="18" charset="0"/>
                <a:cs typeface="Times New Roman" panose="02020603050405020304" pitchFamily="18" charset="0"/>
              </a:rPr>
              <a:t> </a:t>
            </a:r>
            <a:r>
              <a:rPr lang="en-US" altLang="zh-TW" sz="3200" dirty="0">
                <a:latin typeface="Times New Roman" panose="02020603050405020304" pitchFamily="18" charset="0"/>
                <a:cs typeface="Times New Roman" panose="02020603050405020304" pitchFamily="18" charset="0"/>
              </a:rPr>
              <a:t>receive</a:t>
            </a:r>
          </a:p>
        </p:txBody>
      </p:sp>
      <p:pic>
        <p:nvPicPr>
          <p:cNvPr id="5" name="圖片 4">
            <a:extLst>
              <a:ext uri="{FF2B5EF4-FFF2-40B4-BE49-F238E27FC236}">
                <a16:creationId xmlns:a16="http://schemas.microsoft.com/office/drawing/2014/main" id="{68DD713C-37B2-4569-8618-443A7377E15A}"/>
              </a:ext>
            </a:extLst>
          </p:cNvPr>
          <p:cNvPicPr>
            <a:picLocks noChangeAspect="1"/>
          </p:cNvPicPr>
          <p:nvPr/>
        </p:nvPicPr>
        <p:blipFill>
          <a:blip r:embed="rId2"/>
          <a:stretch>
            <a:fillRect/>
          </a:stretch>
        </p:blipFill>
        <p:spPr>
          <a:xfrm>
            <a:off x="1496471" y="1210806"/>
            <a:ext cx="6151058" cy="5510670"/>
          </a:xfrm>
          <a:prstGeom prst="rect">
            <a:avLst/>
          </a:prstGeom>
        </p:spPr>
      </p:pic>
    </p:spTree>
    <p:extLst>
      <p:ext uri="{BB962C8B-B14F-4D97-AF65-F5344CB8AC3E}">
        <p14:creationId xmlns:p14="http://schemas.microsoft.com/office/powerpoint/2010/main" val="2662064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E8E8772C-7A7C-410F-9504-489E4142B12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
        <p:nvSpPr>
          <p:cNvPr id="3" name="Google Shape;180;p11">
            <a:extLst>
              <a:ext uri="{FF2B5EF4-FFF2-40B4-BE49-F238E27FC236}">
                <a16:creationId xmlns:a16="http://schemas.microsoft.com/office/drawing/2014/main" id="{14A00B1F-EDDF-4F60-8C5B-19C2095C9388}"/>
              </a:ext>
            </a:extLst>
          </p:cNvPr>
          <p:cNvSpPr txBox="1">
            <a:spLocks/>
          </p:cNvSpPr>
          <p:nvPr/>
        </p:nvSpPr>
        <p:spPr>
          <a:xfrm>
            <a:off x="343875" y="469940"/>
            <a:ext cx="8254313" cy="791431"/>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3200"/>
              <a:buFont typeface="Times New Roman"/>
              <a:buNone/>
            </a:pPr>
            <a:r>
              <a:rPr lang="en-US" sz="3200" dirty="0">
                <a:latin typeface="Times New Roman"/>
                <a:ea typeface="Times New Roman"/>
                <a:cs typeface="Times New Roman"/>
                <a:sym typeface="Times New Roman"/>
              </a:rPr>
              <a:t>TX RX protocol ports </a:t>
            </a:r>
            <a:endParaRPr lang="en-US" sz="3200" dirty="0"/>
          </a:p>
        </p:txBody>
      </p:sp>
      <p:pic>
        <p:nvPicPr>
          <p:cNvPr id="5" name="圖片 4">
            <a:extLst>
              <a:ext uri="{FF2B5EF4-FFF2-40B4-BE49-F238E27FC236}">
                <a16:creationId xmlns:a16="http://schemas.microsoft.com/office/drawing/2014/main" id="{2D5EA28E-3809-4705-A76E-6801D830CBA6}"/>
              </a:ext>
            </a:extLst>
          </p:cNvPr>
          <p:cNvPicPr>
            <a:picLocks noChangeAspect="1"/>
          </p:cNvPicPr>
          <p:nvPr/>
        </p:nvPicPr>
        <p:blipFill>
          <a:blip r:embed="rId2"/>
          <a:stretch>
            <a:fillRect/>
          </a:stretch>
        </p:blipFill>
        <p:spPr>
          <a:xfrm>
            <a:off x="157942" y="1512916"/>
            <a:ext cx="8828116" cy="4168406"/>
          </a:xfrm>
          <a:prstGeom prst="rect">
            <a:avLst/>
          </a:prstGeom>
        </p:spPr>
      </p:pic>
    </p:spTree>
    <p:extLst>
      <p:ext uri="{BB962C8B-B14F-4D97-AF65-F5344CB8AC3E}">
        <p14:creationId xmlns:p14="http://schemas.microsoft.com/office/powerpoint/2010/main" val="719414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2"/>
          <p:cNvSpPr txBox="1">
            <a:spLocks noGrp="1"/>
          </p:cNvSpPr>
          <p:nvPr>
            <p:ph type="title"/>
          </p:nvPr>
        </p:nvSpPr>
        <p:spPr>
          <a:xfrm>
            <a:off x="444843" y="62462"/>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t>TX protocol</a:t>
            </a:r>
            <a:endParaRPr dirty="0"/>
          </a:p>
        </p:txBody>
      </p:sp>
      <p:sp>
        <p:nvSpPr>
          <p:cNvPr id="199" name="Google Shape;199;p12"/>
          <p:cNvSpPr txBox="1">
            <a:spLocks noGrp="1"/>
          </p:cNvSpPr>
          <p:nvPr>
            <p:ph type="body" idx="1"/>
          </p:nvPr>
        </p:nvSpPr>
        <p:spPr>
          <a:xfrm>
            <a:off x="477795" y="780175"/>
            <a:ext cx="8254313" cy="288384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latin typeface="Times New Roman"/>
                <a:ea typeface="Times New Roman"/>
                <a:cs typeface="Times New Roman"/>
                <a:sym typeface="Times New Roman"/>
              </a:rPr>
              <a:t>CHNL_TX_LEN: Total data size in “word [32bit]”</a:t>
            </a:r>
            <a:endParaRPr dirty="0"/>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CHNL_TX_DATA: (128 bit): Transmitted data</a:t>
            </a:r>
            <a:endParaRPr dirty="0"/>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CHNL_TX_DATA_VALID: Pull high when CHNL_TX_DATA is valid</a:t>
            </a:r>
            <a:endParaRPr dirty="0"/>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CHNL_TX_DATA_REN: Whether C++ is receiving this data or not</a:t>
            </a:r>
            <a:endParaRPr dirty="0"/>
          </a:p>
          <a:p>
            <a:pPr marL="228600" lvl="0" indent="-101600" algn="l" rtl="0">
              <a:lnSpc>
                <a:spcPct val="90000"/>
              </a:lnSpc>
              <a:spcBef>
                <a:spcPts val="1000"/>
              </a:spcBef>
              <a:spcAft>
                <a:spcPts val="0"/>
              </a:spcAft>
              <a:buClr>
                <a:schemeClr val="dk1"/>
              </a:buClr>
              <a:buSzPts val="2000"/>
              <a:buNone/>
            </a:pPr>
            <a:endParaRPr dirty="0">
              <a:latin typeface="Times New Roman"/>
              <a:ea typeface="Times New Roman"/>
              <a:cs typeface="Times New Roman"/>
              <a:sym typeface="Times New Roman"/>
            </a:endParaRPr>
          </a:p>
          <a:p>
            <a:pPr marL="228600" lvl="0" indent="-101600" algn="l" rtl="0">
              <a:lnSpc>
                <a:spcPct val="90000"/>
              </a:lnSpc>
              <a:spcBef>
                <a:spcPts val="1000"/>
              </a:spcBef>
              <a:spcAft>
                <a:spcPts val="0"/>
              </a:spcAft>
              <a:buClr>
                <a:schemeClr val="dk1"/>
              </a:buClr>
              <a:buSzPts val="2000"/>
              <a:buNone/>
            </a:pPr>
            <a:endParaRPr dirty="0"/>
          </a:p>
        </p:txBody>
      </p:sp>
      <p:sp>
        <p:nvSpPr>
          <p:cNvPr id="200" name="Google Shape;200;p12"/>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201" name="Google Shape;201;p12"/>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pic>
        <p:nvPicPr>
          <p:cNvPr id="202" name="Google Shape;202;p12"/>
          <p:cNvPicPr preferRelativeResize="0"/>
          <p:nvPr/>
        </p:nvPicPr>
        <p:blipFill rotWithShape="1">
          <a:blip r:embed="rId3">
            <a:alphaModFix/>
          </a:blip>
          <a:srcRect/>
          <a:stretch/>
        </p:blipFill>
        <p:spPr>
          <a:xfrm>
            <a:off x="282842" y="3862393"/>
            <a:ext cx="6847799" cy="2562505"/>
          </a:xfrm>
          <a:prstGeom prst="rect">
            <a:avLst/>
          </a:prstGeom>
          <a:noFill/>
          <a:ln w="9525" cap="flat" cmpd="sng">
            <a:solidFill>
              <a:schemeClr val="dk1"/>
            </a:solidFill>
            <a:prstDash val="solid"/>
            <a:round/>
            <a:headEnd type="none" w="sm" len="sm"/>
            <a:tailEnd type="none" w="sm" len="sm"/>
          </a:ln>
        </p:spPr>
      </p:pic>
      <p:sp>
        <p:nvSpPr>
          <p:cNvPr id="203" name="Google Shape;203;p12"/>
          <p:cNvSpPr/>
          <p:nvPr/>
        </p:nvSpPr>
        <p:spPr>
          <a:xfrm>
            <a:off x="477796" y="2571280"/>
            <a:ext cx="840002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Calibri"/>
                <a:ea typeface="Calibri"/>
                <a:cs typeface="Calibri"/>
                <a:sym typeface="Calibri"/>
              </a:rPr>
              <a:t>Pay attention:</a:t>
            </a:r>
            <a:endParaRPr/>
          </a:p>
          <a:p>
            <a:pPr marL="285750" marR="0" lvl="0" indent="-285750" algn="l" rtl="0">
              <a:spcBef>
                <a:spcPts val="0"/>
              </a:spcBef>
              <a:spcAft>
                <a:spcPts val="0"/>
              </a:spcAft>
              <a:buClr>
                <a:srgbClr val="FF0000"/>
              </a:buClr>
              <a:buSzPts val="1800"/>
              <a:buFont typeface="Arial"/>
              <a:buChar char="•"/>
            </a:pPr>
            <a:r>
              <a:rPr lang="en-US" sz="1800">
                <a:solidFill>
                  <a:srgbClr val="FF0000"/>
                </a:solidFill>
                <a:latin typeface="Calibri"/>
                <a:ea typeface="Calibri"/>
                <a:cs typeface="Calibri"/>
                <a:sym typeface="Calibri"/>
              </a:rPr>
              <a:t>VALID will not always be high !!!</a:t>
            </a:r>
            <a:endParaRPr/>
          </a:p>
          <a:p>
            <a:pPr marL="285750" marR="0" lvl="0" indent="-285750" algn="l" rtl="0">
              <a:spcBef>
                <a:spcPts val="0"/>
              </a:spcBef>
              <a:spcAft>
                <a:spcPts val="0"/>
              </a:spcAft>
              <a:buClr>
                <a:srgbClr val="FF0000"/>
              </a:buClr>
              <a:buSzPts val="1800"/>
              <a:buFont typeface="Arial"/>
              <a:buChar char="•"/>
            </a:pPr>
            <a:r>
              <a:rPr lang="en-US" sz="1800">
                <a:solidFill>
                  <a:srgbClr val="FF0000"/>
                </a:solidFill>
                <a:latin typeface="Calibri"/>
                <a:ea typeface="Calibri"/>
                <a:cs typeface="Calibri"/>
                <a:sym typeface="Calibri"/>
              </a:rPr>
              <a:t>Make FPGA’s chnl_tester send next data only if VALID and REN are high simultaneously, else keep sending the same data.</a:t>
            </a:r>
            <a:endParaRPr sz="1800">
              <a:solidFill>
                <a:srgbClr val="FF0000"/>
              </a:solidFill>
              <a:latin typeface="Calibri"/>
              <a:ea typeface="Calibri"/>
              <a:cs typeface="Calibri"/>
              <a:sym typeface="Calibri"/>
            </a:endParaRPr>
          </a:p>
        </p:txBody>
      </p:sp>
      <p:sp>
        <p:nvSpPr>
          <p:cNvPr id="204" name="Google Shape;204;p12"/>
          <p:cNvSpPr txBox="1"/>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a:solidFill>
                  <a:srgbClr val="888888"/>
                </a:solidFill>
                <a:latin typeface="Calibri"/>
                <a:ea typeface="Calibri"/>
                <a:cs typeface="Calibri"/>
                <a:sym typeface="Calibri"/>
              </a:rPr>
              <a:t>23</a:t>
            </a:fld>
            <a:endParaRPr sz="1200">
              <a:solidFill>
                <a:srgbClr val="888888"/>
              </a:solidFill>
              <a:latin typeface="Calibri"/>
              <a:ea typeface="Calibri"/>
              <a:cs typeface="Calibri"/>
              <a:sym typeface="Calibri"/>
            </a:endParaRPr>
          </a:p>
        </p:txBody>
      </p:sp>
      <p:sp>
        <p:nvSpPr>
          <p:cNvPr id="205" name="Google Shape;205;p12"/>
          <p:cNvSpPr txBox="1"/>
          <p:nvPr/>
        </p:nvSpPr>
        <p:spPr>
          <a:xfrm>
            <a:off x="7307824" y="4118029"/>
            <a:ext cx="137665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Driver: FPGA</a:t>
            </a:r>
            <a:endParaRPr sz="1800" dirty="0">
              <a:solidFill>
                <a:schemeClr val="dk1"/>
              </a:solidFill>
              <a:latin typeface="Calibri"/>
              <a:ea typeface="Calibri"/>
              <a:cs typeface="Calibri"/>
              <a:sym typeface="Calibri"/>
            </a:endParaRPr>
          </a:p>
        </p:txBody>
      </p:sp>
      <p:sp>
        <p:nvSpPr>
          <p:cNvPr id="206" name="Google Shape;206;p12"/>
          <p:cNvSpPr txBox="1"/>
          <p:nvPr/>
        </p:nvSpPr>
        <p:spPr>
          <a:xfrm>
            <a:off x="7307824" y="4412001"/>
            <a:ext cx="12292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Driver: C++</a:t>
            </a:r>
            <a:endParaRPr sz="1800">
              <a:solidFill>
                <a:schemeClr val="dk1"/>
              </a:solidFill>
              <a:latin typeface="Calibri"/>
              <a:ea typeface="Calibri"/>
              <a:cs typeface="Calibri"/>
              <a:sym typeface="Calibri"/>
            </a:endParaRPr>
          </a:p>
        </p:txBody>
      </p:sp>
      <p:sp>
        <p:nvSpPr>
          <p:cNvPr id="207" name="Google Shape;207;p12"/>
          <p:cNvSpPr txBox="1"/>
          <p:nvPr/>
        </p:nvSpPr>
        <p:spPr>
          <a:xfrm>
            <a:off x="7307824" y="4690878"/>
            <a:ext cx="137665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Driver: FPGA</a:t>
            </a:r>
            <a:endParaRPr sz="1800" dirty="0">
              <a:solidFill>
                <a:schemeClr val="dk1"/>
              </a:solidFill>
              <a:latin typeface="Calibri"/>
              <a:ea typeface="Calibri"/>
              <a:cs typeface="Calibri"/>
              <a:sym typeface="Calibri"/>
            </a:endParaRPr>
          </a:p>
        </p:txBody>
      </p:sp>
      <p:sp>
        <p:nvSpPr>
          <p:cNvPr id="208" name="Google Shape;208;p12"/>
          <p:cNvSpPr txBox="1"/>
          <p:nvPr/>
        </p:nvSpPr>
        <p:spPr>
          <a:xfrm>
            <a:off x="7307824" y="4947347"/>
            <a:ext cx="137665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Driver: FPGA</a:t>
            </a:r>
            <a:endParaRPr sz="1800" dirty="0">
              <a:solidFill>
                <a:schemeClr val="dk1"/>
              </a:solidFill>
              <a:latin typeface="Calibri"/>
              <a:ea typeface="Calibri"/>
              <a:cs typeface="Calibri"/>
              <a:sym typeface="Calibri"/>
            </a:endParaRPr>
          </a:p>
        </p:txBody>
      </p:sp>
      <p:sp>
        <p:nvSpPr>
          <p:cNvPr id="209" name="Google Shape;209;p12"/>
          <p:cNvSpPr txBox="1"/>
          <p:nvPr/>
        </p:nvSpPr>
        <p:spPr>
          <a:xfrm>
            <a:off x="7307824" y="5231999"/>
            <a:ext cx="137665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Driver: FPGA</a:t>
            </a:r>
            <a:endParaRPr sz="1800" dirty="0">
              <a:solidFill>
                <a:schemeClr val="dk1"/>
              </a:solidFill>
              <a:latin typeface="Calibri"/>
              <a:ea typeface="Calibri"/>
              <a:cs typeface="Calibri"/>
              <a:sym typeface="Calibri"/>
            </a:endParaRPr>
          </a:p>
        </p:txBody>
      </p:sp>
      <p:sp>
        <p:nvSpPr>
          <p:cNvPr id="210" name="Google Shape;210;p12"/>
          <p:cNvSpPr txBox="1"/>
          <p:nvPr/>
        </p:nvSpPr>
        <p:spPr>
          <a:xfrm>
            <a:off x="7307824" y="5499471"/>
            <a:ext cx="137665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Driver: FPGA</a:t>
            </a:r>
            <a:endParaRPr sz="1800" dirty="0">
              <a:solidFill>
                <a:schemeClr val="dk1"/>
              </a:solidFill>
              <a:latin typeface="Calibri"/>
              <a:ea typeface="Calibri"/>
              <a:cs typeface="Calibri"/>
              <a:sym typeface="Calibri"/>
            </a:endParaRPr>
          </a:p>
        </p:txBody>
      </p:sp>
      <p:sp>
        <p:nvSpPr>
          <p:cNvPr id="211" name="Google Shape;211;p12"/>
          <p:cNvSpPr txBox="1"/>
          <p:nvPr/>
        </p:nvSpPr>
        <p:spPr>
          <a:xfrm>
            <a:off x="7307824" y="5792777"/>
            <a:ext cx="137665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Driver: FPGA</a:t>
            </a:r>
            <a:endParaRPr sz="1800" dirty="0">
              <a:solidFill>
                <a:schemeClr val="dk1"/>
              </a:solidFill>
              <a:latin typeface="Calibri"/>
              <a:ea typeface="Calibri"/>
              <a:cs typeface="Calibri"/>
              <a:sym typeface="Calibri"/>
            </a:endParaRPr>
          </a:p>
        </p:txBody>
      </p:sp>
      <p:sp>
        <p:nvSpPr>
          <p:cNvPr id="212" name="Google Shape;212;p12"/>
          <p:cNvSpPr txBox="1"/>
          <p:nvPr/>
        </p:nvSpPr>
        <p:spPr>
          <a:xfrm>
            <a:off x="7307824" y="6055566"/>
            <a:ext cx="12292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Driver: C++</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1"/>
          <p:cNvSpPr txBox="1">
            <a:spLocks noGrp="1"/>
          </p:cNvSpPr>
          <p:nvPr>
            <p:ph type="title"/>
          </p:nvPr>
        </p:nvSpPr>
        <p:spPr>
          <a:xfrm>
            <a:off x="377126" y="-20511"/>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RX protocol</a:t>
            </a:r>
            <a:endParaRPr dirty="0"/>
          </a:p>
        </p:txBody>
      </p:sp>
      <p:sp>
        <p:nvSpPr>
          <p:cNvPr id="181" name="Google Shape;181;p11"/>
          <p:cNvSpPr txBox="1">
            <a:spLocks noGrp="1"/>
          </p:cNvSpPr>
          <p:nvPr>
            <p:ph type="body" idx="1"/>
          </p:nvPr>
        </p:nvSpPr>
        <p:spPr>
          <a:xfrm>
            <a:off x="477795" y="696286"/>
            <a:ext cx="8254313" cy="197980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latin typeface="Times New Roman"/>
                <a:ea typeface="Times New Roman"/>
                <a:cs typeface="Times New Roman"/>
                <a:sym typeface="Times New Roman"/>
              </a:rPr>
              <a:t>CHNL_RX_ACK: Need to be high for at least one cycle</a:t>
            </a:r>
            <a:endParaRPr dirty="0"/>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CHNL_RX_LEN: Total data size in “word [32bit]”</a:t>
            </a:r>
            <a:endParaRPr dirty="0"/>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CHNL_RX_DATA(128 bit): Transmitted data</a:t>
            </a:r>
            <a:endParaRPr dirty="0"/>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CHNL_RX_DATA_VALID: Whether CHNL_RX_DATA is valid</a:t>
            </a:r>
            <a:endParaRPr dirty="0"/>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CHNL_RX_DATA_REN: Control C++ to transmit next data or not</a:t>
            </a:r>
            <a:endParaRPr dirty="0"/>
          </a:p>
          <a:p>
            <a:pPr marL="228600" lvl="0" indent="-101600" algn="l" rtl="0">
              <a:lnSpc>
                <a:spcPct val="90000"/>
              </a:lnSpc>
              <a:spcBef>
                <a:spcPts val="1000"/>
              </a:spcBef>
              <a:spcAft>
                <a:spcPts val="0"/>
              </a:spcAft>
              <a:buClr>
                <a:schemeClr val="dk1"/>
              </a:buClr>
              <a:buSzPts val="2000"/>
              <a:buNone/>
            </a:pPr>
            <a:endParaRPr dirty="0">
              <a:latin typeface="Times New Roman"/>
              <a:ea typeface="Times New Roman"/>
              <a:cs typeface="Times New Roman"/>
              <a:sym typeface="Times New Roman"/>
            </a:endParaRPr>
          </a:p>
        </p:txBody>
      </p:sp>
      <p:sp>
        <p:nvSpPr>
          <p:cNvPr id="182" name="Google Shape;182;p11"/>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dirty="0"/>
          </a:p>
        </p:txBody>
      </p:sp>
      <p:pic>
        <p:nvPicPr>
          <p:cNvPr id="183" name="Google Shape;183;p11"/>
          <p:cNvPicPr preferRelativeResize="0"/>
          <p:nvPr/>
        </p:nvPicPr>
        <p:blipFill rotWithShape="1">
          <a:blip r:embed="rId3">
            <a:alphaModFix/>
          </a:blip>
          <a:srcRect/>
          <a:stretch/>
        </p:blipFill>
        <p:spPr>
          <a:xfrm>
            <a:off x="266185" y="3917327"/>
            <a:ext cx="7041639" cy="2537195"/>
          </a:xfrm>
          <a:prstGeom prst="rect">
            <a:avLst/>
          </a:prstGeom>
          <a:noFill/>
          <a:ln w="9525" cap="flat" cmpd="sng">
            <a:solidFill>
              <a:schemeClr val="dk1"/>
            </a:solidFill>
            <a:prstDash val="solid"/>
            <a:round/>
            <a:headEnd type="none" w="sm" len="sm"/>
            <a:tailEnd type="none" w="sm" len="sm"/>
          </a:ln>
        </p:spPr>
      </p:pic>
      <p:sp>
        <p:nvSpPr>
          <p:cNvPr id="184" name="Google Shape;184;p11"/>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185" name="Google Shape;185;p11"/>
          <p:cNvSpPr txBox="1"/>
          <p:nvPr/>
        </p:nvSpPr>
        <p:spPr>
          <a:xfrm>
            <a:off x="377127" y="2646185"/>
            <a:ext cx="8500688"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rgbClr val="FF0000"/>
                </a:solidFill>
                <a:latin typeface="Calibri"/>
                <a:ea typeface="Calibri"/>
                <a:cs typeface="Calibri"/>
                <a:sym typeface="Calibri"/>
              </a:rPr>
              <a:t>Pay attention:</a:t>
            </a:r>
            <a:endParaRPr dirty="0"/>
          </a:p>
          <a:p>
            <a:pPr marL="285750" marR="0" lvl="0" indent="-285750" algn="l" rtl="0">
              <a:spcBef>
                <a:spcPts val="0"/>
              </a:spcBef>
              <a:spcAft>
                <a:spcPts val="0"/>
              </a:spcAft>
              <a:buClr>
                <a:srgbClr val="FF0000"/>
              </a:buClr>
              <a:buSzPts val="1800"/>
              <a:buFont typeface="Arial"/>
              <a:buChar char="•"/>
            </a:pPr>
            <a:r>
              <a:rPr lang="en-US" sz="1800" dirty="0">
                <a:solidFill>
                  <a:srgbClr val="FF0000"/>
                </a:solidFill>
                <a:latin typeface="Calibri"/>
                <a:ea typeface="Calibri"/>
                <a:cs typeface="Calibri"/>
                <a:sym typeface="Calibri"/>
              </a:rPr>
              <a:t>VALID will not always be high !!!</a:t>
            </a:r>
            <a:endParaRPr dirty="0"/>
          </a:p>
          <a:p>
            <a:pPr marL="285750" marR="0" lvl="0" indent="-285750" algn="l" rtl="0">
              <a:spcBef>
                <a:spcPts val="0"/>
              </a:spcBef>
              <a:spcAft>
                <a:spcPts val="0"/>
              </a:spcAft>
              <a:buClr>
                <a:srgbClr val="FF0000"/>
              </a:buClr>
              <a:buSzPts val="1800"/>
              <a:buFont typeface="Arial"/>
              <a:buChar char="•"/>
            </a:pPr>
            <a:r>
              <a:rPr lang="en-US" sz="1800" dirty="0">
                <a:solidFill>
                  <a:srgbClr val="FF0000"/>
                </a:solidFill>
                <a:latin typeface="Calibri"/>
                <a:ea typeface="Calibri"/>
                <a:cs typeface="Calibri"/>
                <a:sym typeface="Calibri"/>
              </a:rPr>
              <a:t>RX will send next data only if VALID and REN are high simultaneously, else it will keep sending the same data.</a:t>
            </a:r>
            <a:endParaRPr sz="1800" dirty="0">
              <a:solidFill>
                <a:srgbClr val="FF0000"/>
              </a:solidFill>
              <a:latin typeface="Calibri"/>
              <a:ea typeface="Calibri"/>
              <a:cs typeface="Calibri"/>
              <a:sym typeface="Calibri"/>
            </a:endParaRPr>
          </a:p>
        </p:txBody>
      </p:sp>
      <p:sp>
        <p:nvSpPr>
          <p:cNvPr id="186" name="Google Shape;186;p11"/>
          <p:cNvSpPr txBox="1"/>
          <p:nvPr/>
        </p:nvSpPr>
        <p:spPr>
          <a:xfrm>
            <a:off x="7307824" y="4118029"/>
            <a:ext cx="12292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Driver: C++</a:t>
            </a:r>
            <a:endParaRPr sz="1800">
              <a:solidFill>
                <a:schemeClr val="dk1"/>
              </a:solidFill>
              <a:latin typeface="Calibri"/>
              <a:ea typeface="Calibri"/>
              <a:cs typeface="Calibri"/>
              <a:sym typeface="Calibri"/>
            </a:endParaRPr>
          </a:p>
        </p:txBody>
      </p:sp>
      <p:sp>
        <p:nvSpPr>
          <p:cNvPr id="187" name="Google Shape;187;p11"/>
          <p:cNvSpPr txBox="1"/>
          <p:nvPr/>
        </p:nvSpPr>
        <p:spPr>
          <a:xfrm>
            <a:off x="7307824" y="4412001"/>
            <a:ext cx="137665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Driver: FPGA</a:t>
            </a:r>
            <a:endParaRPr sz="1800" dirty="0">
              <a:solidFill>
                <a:schemeClr val="dk1"/>
              </a:solidFill>
              <a:latin typeface="Calibri"/>
              <a:ea typeface="Calibri"/>
              <a:cs typeface="Calibri"/>
              <a:sym typeface="Calibri"/>
            </a:endParaRPr>
          </a:p>
        </p:txBody>
      </p:sp>
      <p:sp>
        <p:nvSpPr>
          <p:cNvPr id="188" name="Google Shape;188;p11"/>
          <p:cNvSpPr txBox="1"/>
          <p:nvPr/>
        </p:nvSpPr>
        <p:spPr>
          <a:xfrm>
            <a:off x="7307824" y="4690878"/>
            <a:ext cx="12292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Driver: C++</a:t>
            </a:r>
            <a:endParaRPr sz="1800">
              <a:solidFill>
                <a:schemeClr val="dk1"/>
              </a:solidFill>
              <a:latin typeface="Calibri"/>
              <a:ea typeface="Calibri"/>
              <a:cs typeface="Calibri"/>
              <a:sym typeface="Calibri"/>
            </a:endParaRPr>
          </a:p>
        </p:txBody>
      </p:sp>
      <p:sp>
        <p:nvSpPr>
          <p:cNvPr id="189" name="Google Shape;189;p11"/>
          <p:cNvSpPr txBox="1"/>
          <p:nvPr/>
        </p:nvSpPr>
        <p:spPr>
          <a:xfrm>
            <a:off x="7307824" y="4947347"/>
            <a:ext cx="12292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Driver: C++</a:t>
            </a:r>
            <a:endParaRPr sz="1800">
              <a:solidFill>
                <a:schemeClr val="dk1"/>
              </a:solidFill>
              <a:latin typeface="Calibri"/>
              <a:ea typeface="Calibri"/>
              <a:cs typeface="Calibri"/>
              <a:sym typeface="Calibri"/>
            </a:endParaRPr>
          </a:p>
        </p:txBody>
      </p:sp>
      <p:sp>
        <p:nvSpPr>
          <p:cNvPr id="190" name="Google Shape;190;p11"/>
          <p:cNvSpPr txBox="1"/>
          <p:nvPr/>
        </p:nvSpPr>
        <p:spPr>
          <a:xfrm>
            <a:off x="7307824" y="5231999"/>
            <a:ext cx="12292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Driver: C++</a:t>
            </a:r>
            <a:endParaRPr sz="1800">
              <a:solidFill>
                <a:schemeClr val="dk1"/>
              </a:solidFill>
              <a:latin typeface="Calibri"/>
              <a:ea typeface="Calibri"/>
              <a:cs typeface="Calibri"/>
              <a:sym typeface="Calibri"/>
            </a:endParaRPr>
          </a:p>
        </p:txBody>
      </p:sp>
      <p:sp>
        <p:nvSpPr>
          <p:cNvPr id="191" name="Google Shape;191;p11"/>
          <p:cNvSpPr txBox="1"/>
          <p:nvPr/>
        </p:nvSpPr>
        <p:spPr>
          <a:xfrm>
            <a:off x="7307824" y="5499471"/>
            <a:ext cx="12292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Driver: C++</a:t>
            </a:r>
            <a:endParaRPr sz="1800">
              <a:solidFill>
                <a:schemeClr val="dk1"/>
              </a:solidFill>
              <a:latin typeface="Calibri"/>
              <a:ea typeface="Calibri"/>
              <a:cs typeface="Calibri"/>
              <a:sym typeface="Calibri"/>
            </a:endParaRPr>
          </a:p>
        </p:txBody>
      </p:sp>
      <p:sp>
        <p:nvSpPr>
          <p:cNvPr id="192" name="Google Shape;192;p11"/>
          <p:cNvSpPr txBox="1"/>
          <p:nvPr/>
        </p:nvSpPr>
        <p:spPr>
          <a:xfrm>
            <a:off x="7307824" y="5792777"/>
            <a:ext cx="12292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Driver: C++</a:t>
            </a:r>
            <a:endParaRPr sz="1800" dirty="0">
              <a:solidFill>
                <a:schemeClr val="dk1"/>
              </a:solidFill>
              <a:latin typeface="Calibri"/>
              <a:ea typeface="Calibri"/>
              <a:cs typeface="Calibri"/>
              <a:sym typeface="Calibri"/>
            </a:endParaRPr>
          </a:p>
        </p:txBody>
      </p:sp>
      <p:sp>
        <p:nvSpPr>
          <p:cNvPr id="193" name="Google Shape;193;p11"/>
          <p:cNvSpPr txBox="1"/>
          <p:nvPr/>
        </p:nvSpPr>
        <p:spPr>
          <a:xfrm>
            <a:off x="7307824" y="6055566"/>
            <a:ext cx="137665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Driver: FPGA</a:t>
            </a:r>
            <a:endParaRPr sz="1800" dirty="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AB12BF-CDD7-4A6A-BB30-9C502C4364A0}"/>
              </a:ext>
            </a:extLst>
          </p:cNvPr>
          <p:cNvSpPr>
            <a:spLocks noGrp="1"/>
          </p:cNvSpPr>
          <p:nvPr>
            <p:ph type="title"/>
          </p:nvPr>
        </p:nvSpPr>
        <p:spPr/>
        <p:txBody>
          <a:bodyPr/>
          <a:lstStyle/>
          <a:p>
            <a:r>
              <a:rPr lang="en-US" altLang="zh-TW" dirty="0"/>
              <a:t>Sample usage</a:t>
            </a:r>
            <a:endParaRPr lang="zh-TW" altLang="en-US" dirty="0"/>
          </a:p>
        </p:txBody>
      </p:sp>
      <p:sp>
        <p:nvSpPr>
          <p:cNvPr id="3" name="投影片編號版面配置區 2">
            <a:extLst>
              <a:ext uri="{FF2B5EF4-FFF2-40B4-BE49-F238E27FC236}">
                <a16:creationId xmlns:a16="http://schemas.microsoft.com/office/drawing/2014/main" id="{5CDB6C6F-E72B-40F1-8EA9-5A4DBCD3243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pic>
        <p:nvPicPr>
          <p:cNvPr id="5" name="圖片 4">
            <a:extLst>
              <a:ext uri="{FF2B5EF4-FFF2-40B4-BE49-F238E27FC236}">
                <a16:creationId xmlns:a16="http://schemas.microsoft.com/office/drawing/2014/main" id="{8AE68596-7CA1-4963-905A-521D3B1236C8}"/>
              </a:ext>
            </a:extLst>
          </p:cNvPr>
          <p:cNvPicPr>
            <a:picLocks noChangeAspect="1"/>
          </p:cNvPicPr>
          <p:nvPr/>
        </p:nvPicPr>
        <p:blipFill>
          <a:blip r:embed="rId2"/>
          <a:stretch>
            <a:fillRect/>
          </a:stretch>
        </p:blipFill>
        <p:spPr>
          <a:xfrm>
            <a:off x="3621512" y="254224"/>
            <a:ext cx="5040350" cy="6467252"/>
          </a:xfrm>
          <a:prstGeom prst="rect">
            <a:avLst/>
          </a:prstGeom>
        </p:spPr>
      </p:pic>
      <p:sp>
        <p:nvSpPr>
          <p:cNvPr id="6" name="文字方塊 5">
            <a:extLst>
              <a:ext uri="{FF2B5EF4-FFF2-40B4-BE49-F238E27FC236}">
                <a16:creationId xmlns:a16="http://schemas.microsoft.com/office/drawing/2014/main" id="{9C017D54-4E14-4254-AF98-9B2793C16600}"/>
              </a:ext>
            </a:extLst>
          </p:cNvPr>
          <p:cNvSpPr txBox="1"/>
          <p:nvPr/>
        </p:nvSpPr>
        <p:spPr>
          <a:xfrm>
            <a:off x="628650" y="2459504"/>
            <a:ext cx="2959331" cy="1938992"/>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rPr>
              <a:t>In this example, the user core receives data from the software thread, counts the number 4-byte words received, and then returns the count.</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6234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pic>
        <p:nvPicPr>
          <p:cNvPr id="623" name="Google Shape;623;p48"/>
          <p:cNvPicPr preferRelativeResize="0"/>
          <p:nvPr/>
        </p:nvPicPr>
        <p:blipFill rotWithShape="1">
          <a:blip r:embed="rId3">
            <a:alphaModFix/>
          </a:blip>
          <a:srcRect/>
          <a:stretch/>
        </p:blipFill>
        <p:spPr>
          <a:xfrm>
            <a:off x="-1" y="3013686"/>
            <a:ext cx="9144000" cy="3567474"/>
          </a:xfrm>
          <a:prstGeom prst="rect">
            <a:avLst/>
          </a:prstGeom>
          <a:noFill/>
          <a:ln>
            <a:noFill/>
          </a:ln>
        </p:spPr>
      </p:pic>
      <p:sp>
        <p:nvSpPr>
          <p:cNvPr id="624" name="Google Shape;624;p48"/>
          <p:cNvSpPr txBox="1">
            <a:spLocks noGrp="1"/>
          </p:cNvSpPr>
          <p:nvPr>
            <p:ph type="title"/>
          </p:nvPr>
        </p:nvSpPr>
        <p:spPr>
          <a:xfrm>
            <a:off x="444843" y="368959"/>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t>tb_chnl_tester.v -&gt; RX</a:t>
            </a:r>
            <a:endParaRPr dirty="0"/>
          </a:p>
        </p:txBody>
      </p:sp>
      <p:sp>
        <p:nvSpPr>
          <p:cNvPr id="625" name="Google Shape;625;p48"/>
          <p:cNvSpPr txBox="1">
            <a:spLocks noGrp="1"/>
          </p:cNvSpPr>
          <p:nvPr>
            <p:ph type="body" idx="1"/>
          </p:nvPr>
        </p:nvSpPr>
        <p:spPr>
          <a:xfrm>
            <a:off x="337445" y="1142337"/>
            <a:ext cx="8540370" cy="199507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1000"/>
              </a:spcBef>
              <a:spcAft>
                <a:spcPts val="0"/>
              </a:spcAft>
              <a:buClr>
                <a:schemeClr val="dk1"/>
              </a:buClr>
              <a:buSzPts val="2000"/>
              <a:buChar char="•"/>
            </a:pPr>
            <a:r>
              <a:rPr lang="en-US" dirty="0">
                <a:latin typeface="DFKai-SB"/>
                <a:ea typeface="DFKai-SB"/>
                <a:cs typeface="DFKai-SB"/>
                <a:sym typeface="DFKai-SB"/>
              </a:rPr>
              <a:t>testbench中有模擬RIFFA TX傳輸行為，cur_input_idx為目前正在傳輸第幾個data，在符合條件時使idx增加</a:t>
            </a:r>
            <a:endParaRPr dirty="0">
              <a:latin typeface="DFKai-SB"/>
              <a:ea typeface="DFKai-SB"/>
              <a:cs typeface="DFKai-SB"/>
              <a:sym typeface="DFKai-SB"/>
            </a:endParaRPr>
          </a:p>
          <a:p>
            <a:pPr marL="228600" lvl="0" indent="-228600" algn="l" rtl="0">
              <a:lnSpc>
                <a:spcPct val="90000"/>
              </a:lnSpc>
              <a:spcBef>
                <a:spcPts val="1000"/>
              </a:spcBef>
              <a:spcAft>
                <a:spcPts val="0"/>
              </a:spcAft>
              <a:buClr>
                <a:srgbClr val="FF0000"/>
              </a:buClr>
              <a:buSzPts val="2000"/>
              <a:buChar char="•"/>
            </a:pPr>
            <a:r>
              <a:rPr lang="en-US" dirty="0">
                <a:solidFill>
                  <a:srgbClr val="FF0000"/>
                </a:solidFill>
                <a:latin typeface="DFKai-SB"/>
                <a:ea typeface="DFKai-SB"/>
                <a:cs typeface="DFKai-SB"/>
                <a:sym typeface="DFKai-SB"/>
              </a:rPr>
              <a:t>通常需要修改的是在第幾筆data時需要傳輸什麼，也就是data transaction part</a:t>
            </a:r>
            <a:endParaRPr dirty="0">
              <a:solidFill>
                <a:srgbClr val="FF0000"/>
              </a:solidFill>
              <a:latin typeface="DFKai-SB"/>
              <a:ea typeface="DFKai-SB"/>
              <a:cs typeface="DFKai-SB"/>
              <a:sym typeface="DFKai-SB"/>
            </a:endParaRPr>
          </a:p>
        </p:txBody>
      </p:sp>
      <p:sp>
        <p:nvSpPr>
          <p:cNvPr id="626" name="Google Shape;626;p48"/>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627" name="Google Shape;627;p48"/>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
        <p:nvSpPr>
          <p:cNvPr id="628" name="Google Shape;628;p48"/>
          <p:cNvSpPr/>
          <p:nvPr/>
        </p:nvSpPr>
        <p:spPr>
          <a:xfrm>
            <a:off x="477795" y="5274469"/>
            <a:ext cx="7856580" cy="1000255"/>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9" name="Google Shape;629;p48"/>
          <p:cNvSpPr/>
          <p:nvPr/>
        </p:nvSpPr>
        <p:spPr>
          <a:xfrm>
            <a:off x="444843" y="4943475"/>
            <a:ext cx="6358855" cy="365125"/>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0" name="Google Shape;630;p48"/>
          <p:cNvSpPr txBox="1"/>
          <p:nvPr/>
        </p:nvSpPr>
        <p:spPr>
          <a:xfrm>
            <a:off x="5906611" y="4527475"/>
            <a:ext cx="217232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Calibri"/>
                <a:ea typeface="Calibri"/>
                <a:cs typeface="Calibri"/>
                <a:sym typeface="Calibri"/>
              </a:rPr>
              <a:t>Data transaction part</a:t>
            </a:r>
            <a:endParaRPr sz="1800">
              <a:solidFill>
                <a:srgbClr val="FF0000"/>
              </a:solidFill>
              <a:latin typeface="Calibri"/>
              <a:ea typeface="Calibri"/>
              <a:cs typeface="Calibri"/>
              <a:sym typeface="Calibri"/>
            </a:endParaRPr>
          </a:p>
        </p:txBody>
      </p:sp>
      <p:sp>
        <p:nvSpPr>
          <p:cNvPr id="631" name="Google Shape;631;p48"/>
          <p:cNvSpPr txBox="1"/>
          <p:nvPr/>
        </p:nvSpPr>
        <p:spPr>
          <a:xfrm>
            <a:off x="6608807" y="6289919"/>
            <a:ext cx="14110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Calibri"/>
                <a:ea typeface="Calibri"/>
                <a:cs typeface="Calibri"/>
                <a:sym typeface="Calibri"/>
              </a:rPr>
              <a:t>Protocol part</a:t>
            </a:r>
            <a:endParaRPr sz="1800">
              <a:solidFill>
                <a:srgbClr val="FF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pic>
        <p:nvPicPr>
          <p:cNvPr id="636" name="Google Shape;636;p49"/>
          <p:cNvPicPr preferRelativeResize="0"/>
          <p:nvPr/>
        </p:nvPicPr>
        <p:blipFill rotWithShape="1">
          <a:blip r:embed="rId3">
            <a:alphaModFix/>
          </a:blip>
          <a:srcRect/>
          <a:stretch/>
        </p:blipFill>
        <p:spPr>
          <a:xfrm>
            <a:off x="652894" y="2181931"/>
            <a:ext cx="8340103" cy="3581900"/>
          </a:xfrm>
          <a:prstGeom prst="rect">
            <a:avLst/>
          </a:prstGeom>
          <a:noFill/>
          <a:ln>
            <a:noFill/>
          </a:ln>
        </p:spPr>
      </p:pic>
      <p:sp>
        <p:nvSpPr>
          <p:cNvPr id="637" name="Google Shape;637;p49"/>
          <p:cNvSpPr txBox="1">
            <a:spLocks noGrp="1"/>
          </p:cNvSpPr>
          <p:nvPr>
            <p:ph type="title"/>
          </p:nvPr>
        </p:nvSpPr>
        <p:spPr>
          <a:xfrm>
            <a:off x="477794" y="89413"/>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ltLang="zh-TW" dirty="0"/>
              <a:t>tb_chnl_tester.v -&gt; TX</a:t>
            </a:r>
            <a:endParaRPr dirty="0"/>
          </a:p>
        </p:txBody>
      </p:sp>
      <p:sp>
        <p:nvSpPr>
          <p:cNvPr id="638" name="Google Shape;638;p49"/>
          <p:cNvSpPr txBox="1">
            <a:spLocks noGrp="1"/>
          </p:cNvSpPr>
          <p:nvPr>
            <p:ph type="body" idx="1"/>
          </p:nvPr>
        </p:nvSpPr>
        <p:spPr>
          <a:xfrm>
            <a:off x="477795" y="978413"/>
            <a:ext cx="8254313" cy="166721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latin typeface="DFKai-SB"/>
                <a:ea typeface="DFKai-SB"/>
                <a:cs typeface="DFKai-SB"/>
                <a:sym typeface="DFKai-SB"/>
              </a:rPr>
              <a:t>testbench中有模擬RIFFA TX傳輸行為</a:t>
            </a:r>
            <a:endParaRPr dirty="0">
              <a:latin typeface="DFKai-SB"/>
              <a:ea typeface="DFKai-SB"/>
              <a:cs typeface="DFKai-SB"/>
              <a:sym typeface="DFKai-SB"/>
            </a:endParaRPr>
          </a:p>
          <a:p>
            <a:pPr marL="228600" lvl="0" indent="-228600" algn="l" rtl="0">
              <a:lnSpc>
                <a:spcPct val="90000"/>
              </a:lnSpc>
              <a:spcBef>
                <a:spcPts val="1000"/>
              </a:spcBef>
              <a:spcAft>
                <a:spcPts val="0"/>
              </a:spcAft>
              <a:buClr>
                <a:schemeClr val="dk1"/>
              </a:buClr>
              <a:buSzPts val="2000"/>
              <a:buChar char="•"/>
            </a:pPr>
            <a:r>
              <a:rPr lang="en-US" dirty="0">
                <a:latin typeface="DFKai-SB"/>
                <a:ea typeface="DFKai-SB"/>
                <a:cs typeface="DFKai-SB"/>
                <a:sym typeface="DFKai-SB"/>
              </a:rPr>
              <a:t>在符合條件時接收資料，並讓cur_output_idx 增加</a:t>
            </a:r>
            <a:endParaRPr dirty="0">
              <a:latin typeface="DFKai-SB"/>
              <a:ea typeface="DFKai-SB"/>
              <a:cs typeface="DFKai-SB"/>
              <a:sym typeface="DFKai-SB"/>
            </a:endParaRPr>
          </a:p>
          <a:p>
            <a:pPr marL="228600" lvl="0" indent="-228600" algn="l" rtl="0">
              <a:lnSpc>
                <a:spcPct val="90000"/>
              </a:lnSpc>
              <a:spcBef>
                <a:spcPts val="1000"/>
              </a:spcBef>
              <a:spcAft>
                <a:spcPts val="0"/>
              </a:spcAft>
              <a:buClr>
                <a:schemeClr val="dk1"/>
              </a:buClr>
              <a:buSzPts val="2000"/>
              <a:buChar char="•"/>
            </a:pPr>
            <a:r>
              <a:rPr lang="en-US" dirty="0">
                <a:latin typeface="DFKai-SB"/>
                <a:ea typeface="DFKai-SB"/>
                <a:cs typeface="DFKai-SB"/>
                <a:sym typeface="DFKai-SB"/>
              </a:rPr>
              <a:t>把CHNL_TX_DATA的資料跟golden比較</a:t>
            </a:r>
            <a:endParaRPr dirty="0"/>
          </a:p>
        </p:txBody>
      </p:sp>
      <p:sp>
        <p:nvSpPr>
          <p:cNvPr id="639" name="Google Shape;639;p49"/>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640" name="Google Shape;640;p49"/>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
        <p:nvSpPr>
          <p:cNvPr id="641" name="Google Shape;641;p49"/>
          <p:cNvSpPr txBox="1"/>
          <p:nvPr/>
        </p:nvSpPr>
        <p:spPr>
          <a:xfrm>
            <a:off x="1001353" y="5833821"/>
            <a:ext cx="7141294"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rgbClr val="FF0000"/>
                </a:solidFill>
                <a:latin typeface="DFKai-SB"/>
                <a:ea typeface="DFKai-SB"/>
                <a:cs typeface="DFKai-SB"/>
                <a:sym typeface="DFKai-SB"/>
              </a:rPr>
              <a:t>極度建議用RTL模擬完chnl_tester再上板測試</a:t>
            </a:r>
            <a:endParaRPr sz="2400" dirty="0">
              <a:solidFill>
                <a:srgbClr val="FF0000"/>
              </a:solidFill>
              <a:latin typeface="DFKai-SB"/>
              <a:ea typeface="DFKai-SB"/>
              <a:cs typeface="DFKai-SB"/>
              <a:sym typeface="DFKai-SB"/>
            </a:endParaRPr>
          </a:p>
          <a:p>
            <a:pPr marL="0" marR="0" lvl="0" indent="0" algn="ctr" rtl="0">
              <a:spcBef>
                <a:spcPts val="0"/>
              </a:spcBef>
              <a:spcAft>
                <a:spcPts val="0"/>
              </a:spcAft>
              <a:buNone/>
            </a:pPr>
            <a:r>
              <a:rPr lang="en-US" sz="2400" dirty="0">
                <a:solidFill>
                  <a:srgbClr val="FF0000"/>
                </a:solidFill>
                <a:latin typeface="DFKai-SB"/>
                <a:ea typeface="DFKai-SB"/>
                <a:cs typeface="DFKai-SB"/>
                <a:sym typeface="DFKai-SB"/>
              </a:rPr>
              <a:t>珍惜生命，盡量不要以燒板子的方式debug</a:t>
            </a:r>
            <a:endParaRPr sz="2400" dirty="0">
              <a:solidFill>
                <a:srgbClr val="FF0000"/>
              </a:solidFill>
              <a:latin typeface="DFKai-SB"/>
              <a:ea typeface="DFKai-SB"/>
              <a:cs typeface="DFKai-SB"/>
              <a:sym typeface="DFKai-SB"/>
            </a:endParaRPr>
          </a:p>
        </p:txBody>
      </p:sp>
      <p:sp>
        <p:nvSpPr>
          <p:cNvPr id="642" name="Google Shape;642;p49"/>
          <p:cNvSpPr/>
          <p:nvPr/>
        </p:nvSpPr>
        <p:spPr>
          <a:xfrm>
            <a:off x="652895" y="3215129"/>
            <a:ext cx="5234896" cy="251669"/>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3" name="Google Shape;643;p49"/>
          <p:cNvSpPr txBox="1"/>
          <p:nvPr/>
        </p:nvSpPr>
        <p:spPr>
          <a:xfrm>
            <a:off x="4476699" y="2809788"/>
            <a:ext cx="14110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Calibri"/>
                <a:ea typeface="Calibri"/>
                <a:cs typeface="Calibri"/>
                <a:sym typeface="Calibri"/>
              </a:rPr>
              <a:t>Protocol part</a:t>
            </a:r>
            <a:endParaRPr sz="1800">
              <a:solidFill>
                <a:srgbClr val="FF0000"/>
              </a:solidFill>
              <a:latin typeface="Calibri"/>
              <a:ea typeface="Calibri"/>
              <a:cs typeface="Calibri"/>
              <a:sym typeface="Calibri"/>
            </a:endParaRPr>
          </a:p>
        </p:txBody>
      </p:sp>
      <p:sp>
        <p:nvSpPr>
          <p:cNvPr id="644" name="Google Shape;644;p49"/>
          <p:cNvSpPr/>
          <p:nvPr/>
        </p:nvSpPr>
        <p:spPr>
          <a:xfrm>
            <a:off x="587229" y="3457623"/>
            <a:ext cx="8405769" cy="1564205"/>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5" name="Google Shape;645;p49"/>
          <p:cNvSpPr txBox="1"/>
          <p:nvPr/>
        </p:nvSpPr>
        <p:spPr>
          <a:xfrm>
            <a:off x="5821485" y="5100679"/>
            <a:ext cx="217232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Calibri"/>
                <a:ea typeface="Calibri"/>
                <a:cs typeface="Calibri"/>
                <a:sym typeface="Calibri"/>
              </a:rPr>
              <a:t>Data transaction part</a:t>
            </a:r>
            <a:endParaRPr sz="1800">
              <a:solidFill>
                <a:srgbClr val="FF000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51"/>
          <p:cNvSpPr txBox="1">
            <a:spLocks noGrp="1"/>
          </p:cNvSpPr>
          <p:nvPr>
            <p:ph type="title"/>
          </p:nvPr>
        </p:nvSpPr>
        <p:spPr>
          <a:xfrm>
            <a:off x="306345" y="266700"/>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t>Some hints</a:t>
            </a:r>
            <a:endParaRPr dirty="0"/>
          </a:p>
        </p:txBody>
      </p:sp>
      <p:sp>
        <p:nvSpPr>
          <p:cNvPr id="659" name="Google Shape;659;p51"/>
          <p:cNvSpPr txBox="1">
            <a:spLocks noGrp="1"/>
          </p:cNvSpPr>
          <p:nvPr>
            <p:ph type="body" idx="1"/>
          </p:nvPr>
        </p:nvSpPr>
        <p:spPr>
          <a:xfrm>
            <a:off x="306345" y="1058131"/>
            <a:ext cx="8254313" cy="319401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dirty="0">
                <a:latin typeface="DFKai-SB"/>
                <a:ea typeface="DFKai-SB"/>
                <a:cs typeface="DFKai-SB"/>
                <a:sym typeface="DFKai-SB"/>
              </a:rPr>
              <a:t>RX/TX 可以同時進行傳輸，也就是RX在傳輸的同時讓chn_tester中的CHNL_TX訊號也拉高來進行傳輸，但要注意REN,VALID等訊號的控制要寫好。</a:t>
            </a:r>
            <a:endParaRPr sz="2400" dirty="0">
              <a:latin typeface="DFKai-SB"/>
              <a:ea typeface="DFKai-SB"/>
              <a:cs typeface="DFKai-SB"/>
              <a:sym typeface="DFKai-SB"/>
            </a:endParaRPr>
          </a:p>
          <a:p>
            <a:pPr marL="228600" lvl="0" indent="-228600" algn="l" rtl="0">
              <a:lnSpc>
                <a:spcPct val="90000"/>
              </a:lnSpc>
              <a:spcBef>
                <a:spcPts val="1000"/>
              </a:spcBef>
              <a:spcAft>
                <a:spcPts val="0"/>
              </a:spcAft>
              <a:buClr>
                <a:schemeClr val="dk1"/>
              </a:buClr>
              <a:buSzPts val="2400"/>
              <a:buChar char="•"/>
            </a:pPr>
            <a:r>
              <a:rPr lang="en-US" sz="2400" dirty="0">
                <a:latin typeface="DFKai-SB"/>
                <a:ea typeface="DFKai-SB"/>
                <a:cs typeface="DFKai-SB"/>
                <a:sym typeface="DFKai-SB"/>
              </a:rPr>
              <a:t>RX/TX 可以交互進行傳輸，利用RX_REN來使RX傳輸暫停，或使用TX_VALID訊號來使TX傳輸暫停，來控制在特定情況時要使用TX還是RX方向的傳輸。</a:t>
            </a:r>
            <a:endParaRPr dirty="0"/>
          </a:p>
          <a:p>
            <a:pPr marL="228600" lvl="0" indent="-228600" algn="l" rtl="0">
              <a:lnSpc>
                <a:spcPct val="90000"/>
              </a:lnSpc>
              <a:spcBef>
                <a:spcPts val="1000"/>
              </a:spcBef>
              <a:spcAft>
                <a:spcPts val="0"/>
              </a:spcAft>
              <a:buClr>
                <a:schemeClr val="dk1"/>
              </a:buClr>
              <a:buSzPts val="2400"/>
              <a:buChar char="•"/>
            </a:pPr>
            <a:r>
              <a:rPr lang="en-US" sz="2400" dirty="0">
                <a:latin typeface="DFKai-SB"/>
                <a:ea typeface="DFKai-SB"/>
                <a:cs typeface="DFKai-SB"/>
                <a:sym typeface="DFKai-SB"/>
              </a:rPr>
              <a:t>善用tb_chnl_tester或signal_tap來檢查RIFFA interface有哪裡是沒有處理好的。</a:t>
            </a:r>
            <a:endParaRPr dirty="0"/>
          </a:p>
        </p:txBody>
      </p:sp>
      <p:sp>
        <p:nvSpPr>
          <p:cNvPr id="660" name="Google Shape;660;p51"/>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661" name="Google Shape;661;p51"/>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50"/>
          <p:cNvSpPr txBox="1">
            <a:spLocks noGrp="1"/>
          </p:cNvSpPr>
          <p:nvPr>
            <p:ph type="title"/>
          </p:nvPr>
        </p:nvSpPr>
        <p:spPr>
          <a:xfrm>
            <a:off x="477795" y="460721"/>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t>Signal Tap</a:t>
            </a:r>
            <a:endParaRPr dirty="0"/>
          </a:p>
        </p:txBody>
      </p:sp>
      <p:sp>
        <p:nvSpPr>
          <p:cNvPr id="651" name="Google Shape;651;p50"/>
          <p:cNvSpPr txBox="1">
            <a:spLocks noGrp="1"/>
          </p:cNvSpPr>
          <p:nvPr>
            <p:ph type="body" idx="1"/>
          </p:nvPr>
        </p:nvSpPr>
        <p:spPr>
          <a:xfrm>
            <a:off x="477795" y="1252152"/>
            <a:ext cx="8254313" cy="49248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u="sng" dirty="0">
                <a:solidFill>
                  <a:schemeClr val="hlink"/>
                </a:solidFill>
                <a:hlinkClick r:id="rId3"/>
              </a:rPr>
              <a:t>https://hackmd.io/@VdgkdLfjTJqoAqqkM8zAvA/rk10ItfPR</a:t>
            </a:r>
            <a:endParaRPr lang="en-US" u="sng" dirty="0">
              <a:solidFill>
                <a:schemeClr val="hlink"/>
              </a:solidFill>
            </a:endParaRPr>
          </a:p>
          <a:p>
            <a:pPr marL="228600" lvl="0" indent="-228600" algn="l" rtl="0">
              <a:lnSpc>
                <a:spcPct val="90000"/>
              </a:lnSpc>
              <a:spcBef>
                <a:spcPts val="1000"/>
              </a:spcBef>
              <a:spcAft>
                <a:spcPts val="0"/>
              </a:spcAft>
              <a:buClr>
                <a:schemeClr val="dk1"/>
              </a:buClr>
              <a:buSzPts val="2000"/>
              <a:buChar char="•"/>
            </a:pPr>
            <a:r>
              <a:rPr lang="zh-TW" altLang="en-US" dirty="0">
                <a:latin typeface="DFKai-SB"/>
                <a:ea typeface="DFKai-SB"/>
                <a:cs typeface="DFKai-SB"/>
                <a:sym typeface="DFKai-SB"/>
              </a:rPr>
              <a:t>有使用上問題的話可以</a:t>
            </a:r>
            <a:r>
              <a:rPr lang="en-US" altLang="zh-TW" dirty="0">
                <a:latin typeface="DFKai-SB"/>
                <a:ea typeface="DFKai-SB"/>
                <a:cs typeface="DFKai-SB"/>
                <a:sym typeface="DFKai-SB"/>
              </a:rPr>
              <a:t>google</a:t>
            </a:r>
            <a:r>
              <a:rPr lang="zh-TW" altLang="en-US" dirty="0">
                <a:latin typeface="DFKai-SB"/>
                <a:ea typeface="DFKai-SB"/>
                <a:cs typeface="DFKai-SB"/>
                <a:sym typeface="DFKai-SB"/>
              </a:rPr>
              <a:t>直接搜尋關鍵字</a:t>
            </a:r>
            <a:endParaRPr lang="en-US" altLang="zh-TW" dirty="0">
              <a:latin typeface="DFKai-SB"/>
              <a:ea typeface="DFKai-SB"/>
              <a:cs typeface="DFKai-SB"/>
              <a:sym typeface="DFKai-SB"/>
            </a:endParaRPr>
          </a:p>
          <a:p>
            <a:pPr marL="228600" lvl="0" indent="-228600" algn="l" rtl="0">
              <a:lnSpc>
                <a:spcPct val="90000"/>
              </a:lnSpc>
              <a:spcBef>
                <a:spcPts val="1000"/>
              </a:spcBef>
              <a:spcAft>
                <a:spcPts val="0"/>
              </a:spcAft>
              <a:buClr>
                <a:schemeClr val="dk1"/>
              </a:buClr>
              <a:buSzPts val="2000"/>
              <a:buChar char="•"/>
            </a:pPr>
            <a:r>
              <a:rPr lang="en-US" altLang="zh-TW" sz="1800" dirty="0">
                <a:hlinkClick r:id="rId4"/>
              </a:rPr>
              <a:t>https://www.intel.com/content/www/us/en/docs/programmable/683819/25-1/faq.html</a:t>
            </a:r>
            <a:endParaRPr lang="en-US" altLang="zh-TW" sz="1800" dirty="0"/>
          </a:p>
          <a:p>
            <a:pPr marL="228600" lvl="0" indent="-228600" algn="l" rtl="0">
              <a:lnSpc>
                <a:spcPct val="90000"/>
              </a:lnSpc>
              <a:spcBef>
                <a:spcPts val="1000"/>
              </a:spcBef>
              <a:spcAft>
                <a:spcPts val="0"/>
              </a:spcAft>
              <a:buClr>
                <a:schemeClr val="dk1"/>
              </a:buClr>
              <a:buSzPts val="2000"/>
              <a:buChar char="•"/>
            </a:pPr>
            <a:endParaRPr lang="zh-TW" altLang="en-US" sz="1800" dirty="0"/>
          </a:p>
        </p:txBody>
      </p:sp>
      <p:sp>
        <p:nvSpPr>
          <p:cNvPr id="652" name="Google Shape;652;p50"/>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653" name="Google Shape;653;p50"/>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pic>
        <p:nvPicPr>
          <p:cNvPr id="3" name="圖片 2">
            <a:extLst>
              <a:ext uri="{FF2B5EF4-FFF2-40B4-BE49-F238E27FC236}">
                <a16:creationId xmlns:a16="http://schemas.microsoft.com/office/drawing/2014/main" id="{CCB56FA3-E031-44A4-B9EF-DED30AB1FABE}"/>
              </a:ext>
            </a:extLst>
          </p:cNvPr>
          <p:cNvPicPr>
            <a:picLocks noChangeAspect="1"/>
          </p:cNvPicPr>
          <p:nvPr/>
        </p:nvPicPr>
        <p:blipFill>
          <a:blip r:embed="rId5"/>
          <a:stretch>
            <a:fillRect/>
          </a:stretch>
        </p:blipFill>
        <p:spPr>
          <a:xfrm>
            <a:off x="2231641" y="2478277"/>
            <a:ext cx="5984986" cy="4144456"/>
          </a:xfrm>
          <a:prstGeom prst="rect">
            <a:avLst/>
          </a:prstGeom>
        </p:spPr>
      </p:pic>
      <p:sp>
        <p:nvSpPr>
          <p:cNvPr id="4" name="文字方塊 3">
            <a:extLst>
              <a:ext uri="{FF2B5EF4-FFF2-40B4-BE49-F238E27FC236}">
                <a16:creationId xmlns:a16="http://schemas.microsoft.com/office/drawing/2014/main" id="{B2B83C26-1EC2-4932-AE8A-4A159E13D741}"/>
              </a:ext>
            </a:extLst>
          </p:cNvPr>
          <p:cNvSpPr txBox="1"/>
          <p:nvPr/>
        </p:nvSpPr>
        <p:spPr>
          <a:xfrm>
            <a:off x="556260" y="2926080"/>
            <a:ext cx="1371600" cy="738664"/>
          </a:xfrm>
          <a:prstGeom prst="rect">
            <a:avLst/>
          </a:prstGeom>
          <a:noFill/>
        </p:spPr>
        <p:txBody>
          <a:bodyPr wrap="square" rtlCol="0">
            <a:spAutoFit/>
          </a:bodyPr>
          <a:lstStyle/>
          <a:p>
            <a:r>
              <a:rPr lang="zh-TW" altLang="en-US" dirty="0"/>
              <a:t>需同時在有</a:t>
            </a:r>
            <a:r>
              <a:rPr lang="en-US" altLang="zh-TW" dirty="0"/>
              <a:t>quartus &amp; fpga</a:t>
            </a:r>
            <a:r>
              <a:rPr lang="zh-TW" altLang="en-US" dirty="0"/>
              <a:t>的</a:t>
            </a:r>
            <a:r>
              <a:rPr lang="en-US" altLang="zh-TW" dirty="0"/>
              <a:t>server</a:t>
            </a:r>
            <a:r>
              <a:rPr lang="zh-TW" altLang="en-US" dirty="0"/>
              <a:t>上</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33"/>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FPU IP</a:t>
            </a:r>
            <a:endParaRPr dirty="0"/>
          </a:p>
        </p:txBody>
      </p:sp>
      <p:sp>
        <p:nvSpPr>
          <p:cNvPr id="484" name="Google Shape;484;p33"/>
          <p:cNvSpPr txBox="1">
            <a:spLocks noGrp="1"/>
          </p:cNvSpPr>
          <p:nvPr>
            <p:ph type="body" idx="1"/>
          </p:nvPr>
        </p:nvSpPr>
        <p:spPr>
          <a:xfrm>
            <a:off x="527490" y="1331595"/>
            <a:ext cx="8254313" cy="5161279"/>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000"/>
              <a:buChar char="•"/>
            </a:pPr>
            <a:r>
              <a:rPr lang="en-US" dirty="0">
                <a:latin typeface="Times New Roman"/>
                <a:ea typeface="Times New Roman"/>
                <a:cs typeface="Times New Roman"/>
                <a:sym typeface="Times New Roman"/>
              </a:rPr>
              <a:t>Tools    &gt; IP catalog &gt; Library</a:t>
            </a:r>
          </a:p>
          <a:p>
            <a:pPr marL="228600" lvl="0" indent="-228600" algn="l" rtl="0">
              <a:lnSpc>
                <a:spcPct val="90000"/>
              </a:lnSpc>
              <a:spcBef>
                <a:spcPts val="0"/>
              </a:spcBef>
              <a:spcAft>
                <a:spcPts val="0"/>
              </a:spcAft>
              <a:buClr>
                <a:schemeClr val="dk1"/>
              </a:buClr>
              <a:buSzPts val="2000"/>
              <a:buChar char="•"/>
            </a:pPr>
            <a:r>
              <a:rPr lang="en-US" dirty="0">
                <a:latin typeface="Times New Roman"/>
                <a:ea typeface="Times New Roman"/>
                <a:cs typeface="Times New Roman"/>
                <a:sym typeface="Times New Roman"/>
              </a:rPr>
              <a:t>Library &gt; Basic Functions &gt; Arithmetic &gt; ALTERA_FP_FUCTIONS</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Example File name: </a:t>
            </a:r>
            <a:r>
              <a:rPr lang="en-US" dirty="0">
                <a:solidFill>
                  <a:srgbClr val="FF0000"/>
                </a:solidFill>
                <a:latin typeface="Times New Roman"/>
                <a:ea typeface="Times New Roman"/>
                <a:cs typeface="Times New Roman"/>
                <a:sym typeface="Times New Roman"/>
              </a:rPr>
              <a:t>FPU_add_sub.v</a:t>
            </a:r>
          </a:p>
          <a:p>
            <a:pPr marL="685800" lvl="1" indent="-228600" algn="l" rtl="0">
              <a:lnSpc>
                <a:spcPct val="90000"/>
              </a:lnSpc>
              <a:spcBef>
                <a:spcPts val="500"/>
              </a:spcBef>
              <a:spcAft>
                <a:spcPts val="0"/>
              </a:spcAft>
              <a:buClr>
                <a:schemeClr val="dk1"/>
              </a:buClr>
              <a:buSzPts val="1800"/>
              <a:buChar char="˗"/>
            </a:pPr>
            <a:r>
              <a:rPr lang="zh-TW" altLang="en-US" dirty="0"/>
              <a:t>選擇儲存的檔案名</a:t>
            </a:r>
            <a:r>
              <a:rPr lang="en-US" altLang="zh-TW" dirty="0">
                <a:solidFill>
                  <a:srgbClr val="FF0000"/>
                </a:solidFill>
                <a:latin typeface="Times New Roman"/>
                <a:cs typeface="Times New Roman"/>
                <a:sym typeface="Times New Roman"/>
              </a:rPr>
              <a:t> (save IP variation)</a:t>
            </a:r>
            <a:r>
              <a:rPr lang="en-US" altLang="zh-TW" dirty="0">
                <a:solidFill>
                  <a:srgbClr val="FF0000"/>
                </a:solidFill>
                <a:latin typeface="Times New Roman"/>
                <a:cs typeface="Times New Roman"/>
                <a:sym typeface="Wingdings" panose="05000000000000000000" pitchFamily="2" charset="2"/>
              </a:rPr>
              <a:t></a:t>
            </a:r>
            <a:endParaRPr dirty="0">
              <a:solidFill>
                <a:srgbClr val="FF0000"/>
              </a:solidFill>
              <a:latin typeface="Times New Roman"/>
              <a:ea typeface="Times New Roman"/>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dirty="0">
              <a:solidFill>
                <a:srgbClr val="FF0000"/>
              </a:solidFill>
              <a:latin typeface="Times New Roman"/>
              <a:ea typeface="Times New Roman"/>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dirty="0">
              <a:solidFill>
                <a:srgbClr val="FF0000"/>
              </a:solidFill>
              <a:latin typeface="Times New Roman"/>
              <a:ea typeface="Times New Roman"/>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dirty="0">
              <a:solidFill>
                <a:srgbClr val="FF0000"/>
              </a:solidFill>
              <a:latin typeface="Times New Roman"/>
              <a:ea typeface="Times New Roman"/>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dirty="0">
              <a:solidFill>
                <a:srgbClr val="FF0000"/>
              </a:solidFill>
              <a:latin typeface="Times New Roman"/>
              <a:ea typeface="Times New Roman"/>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dirty="0">
              <a:solidFill>
                <a:srgbClr val="FF0000"/>
              </a:solidFill>
              <a:latin typeface="Times New Roman"/>
              <a:ea typeface="Times New Roman"/>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dirty="0">
              <a:solidFill>
                <a:srgbClr val="FF0000"/>
              </a:solidFill>
              <a:latin typeface="Times New Roman"/>
              <a:ea typeface="Times New Roman"/>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dirty="0">
              <a:solidFill>
                <a:srgbClr val="FF0000"/>
              </a:solidFill>
              <a:latin typeface="Times New Roman"/>
              <a:ea typeface="Times New Roman"/>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dirty="0">
              <a:solidFill>
                <a:srgbClr val="FF0000"/>
              </a:solidFill>
              <a:latin typeface="Times New Roman"/>
              <a:ea typeface="Times New Roman"/>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dirty="0">
              <a:solidFill>
                <a:srgbClr val="FF0000"/>
              </a:solidFill>
              <a:latin typeface="Times New Roman"/>
              <a:ea typeface="Times New Roman"/>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dirty="0">
              <a:solidFill>
                <a:srgbClr val="FF0000"/>
              </a:solidFill>
              <a:latin typeface="Times New Roman"/>
              <a:ea typeface="Times New Roman"/>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lang="en-US" dirty="0">
              <a:solidFill>
                <a:srgbClr val="FF0000"/>
              </a:solidFill>
              <a:latin typeface="Times New Roman"/>
              <a:ea typeface="Times New Roman"/>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dirty="0">
              <a:solidFill>
                <a:srgbClr val="FF0000"/>
              </a:solidFill>
              <a:latin typeface="Times New Roman"/>
              <a:ea typeface="Times New Roman"/>
              <a:cs typeface="Times New Roman"/>
              <a:sym typeface="Times New Roman"/>
            </a:endParaRPr>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The file will be connect to .qsf file automatically</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The generated files will be generated at prj/ directory</a:t>
            </a:r>
            <a:endParaRPr dirty="0"/>
          </a:p>
        </p:txBody>
      </p:sp>
      <p:sp>
        <p:nvSpPr>
          <p:cNvPr id="485" name="Google Shape;485;p33"/>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
        <p:nvSpPr>
          <p:cNvPr id="486" name="Google Shape;486;p33"/>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pic>
        <p:nvPicPr>
          <p:cNvPr id="487" name="Google Shape;487;p33"/>
          <p:cNvPicPr preferRelativeResize="0"/>
          <p:nvPr/>
        </p:nvPicPr>
        <p:blipFill rotWithShape="1">
          <a:blip r:embed="rId3">
            <a:alphaModFix/>
          </a:blip>
          <a:srcRect/>
          <a:stretch/>
        </p:blipFill>
        <p:spPr>
          <a:xfrm>
            <a:off x="5094408" y="223654"/>
            <a:ext cx="3192514" cy="1331141"/>
          </a:xfrm>
          <a:prstGeom prst="rect">
            <a:avLst/>
          </a:prstGeom>
          <a:noFill/>
          <a:ln>
            <a:noFill/>
          </a:ln>
        </p:spPr>
      </p:pic>
      <p:pic>
        <p:nvPicPr>
          <p:cNvPr id="488" name="Google Shape;488;p33"/>
          <p:cNvPicPr preferRelativeResize="0"/>
          <p:nvPr/>
        </p:nvPicPr>
        <p:blipFill rotWithShape="1">
          <a:blip r:embed="rId4">
            <a:alphaModFix/>
          </a:blip>
          <a:srcRect/>
          <a:stretch/>
        </p:blipFill>
        <p:spPr>
          <a:xfrm>
            <a:off x="5287813" y="1909693"/>
            <a:ext cx="2844673" cy="1266543"/>
          </a:xfrm>
          <a:prstGeom prst="rect">
            <a:avLst/>
          </a:prstGeom>
          <a:noFill/>
          <a:ln>
            <a:noFill/>
          </a:ln>
        </p:spPr>
      </p:pic>
      <p:pic>
        <p:nvPicPr>
          <p:cNvPr id="489" name="Google Shape;489;p33"/>
          <p:cNvPicPr preferRelativeResize="0"/>
          <p:nvPr/>
        </p:nvPicPr>
        <p:blipFill rotWithShape="1">
          <a:blip r:embed="rId5">
            <a:alphaModFix/>
          </a:blip>
          <a:srcRect/>
          <a:stretch/>
        </p:blipFill>
        <p:spPr>
          <a:xfrm>
            <a:off x="527490" y="3278329"/>
            <a:ext cx="6508376" cy="2197929"/>
          </a:xfrm>
          <a:prstGeom prst="rect">
            <a:avLst/>
          </a:prstGeom>
          <a:noFill/>
          <a:ln>
            <a:noFill/>
          </a:ln>
        </p:spPr>
      </p:pic>
      <p:pic>
        <p:nvPicPr>
          <p:cNvPr id="490" name="Google Shape;490;p33"/>
          <p:cNvPicPr preferRelativeResize="0"/>
          <p:nvPr/>
        </p:nvPicPr>
        <p:blipFill rotWithShape="1">
          <a:blip r:embed="rId6">
            <a:alphaModFix/>
          </a:blip>
          <a:srcRect/>
          <a:stretch/>
        </p:blipFill>
        <p:spPr>
          <a:xfrm>
            <a:off x="4297663" y="3278329"/>
            <a:ext cx="3989259" cy="2197929"/>
          </a:xfrm>
          <a:prstGeom prst="rect">
            <a:avLst/>
          </a:prstGeom>
          <a:noFill/>
          <a:ln>
            <a:noFill/>
          </a:ln>
        </p:spPr>
      </p:pic>
      <p:sp>
        <p:nvSpPr>
          <p:cNvPr id="491" name="Google Shape;491;p33"/>
          <p:cNvSpPr/>
          <p:nvPr/>
        </p:nvSpPr>
        <p:spPr>
          <a:xfrm>
            <a:off x="4919961" y="3880148"/>
            <a:ext cx="864872" cy="274544"/>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2" name="Google Shape;492;p33"/>
          <p:cNvSpPr txBox="1"/>
          <p:nvPr/>
        </p:nvSpPr>
        <p:spPr>
          <a:xfrm>
            <a:off x="5857504" y="3658359"/>
            <a:ext cx="22749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Times New Roman"/>
                <a:ea typeface="Times New Roman"/>
                <a:cs typeface="Times New Roman"/>
                <a:sym typeface="Times New Roman"/>
              </a:rPr>
              <a:t>Choose 3 stages pipeline </a:t>
            </a:r>
            <a:endParaRPr dirty="0"/>
          </a:p>
          <a:p>
            <a:pPr marL="0" marR="0" lvl="0" indent="0" algn="l" rtl="0">
              <a:spcBef>
                <a:spcPts val="0"/>
              </a:spcBef>
              <a:spcAft>
                <a:spcPts val="0"/>
              </a:spcAft>
              <a:buNone/>
            </a:pPr>
            <a:r>
              <a:rPr lang="en-US" sz="1600" dirty="0">
                <a:solidFill>
                  <a:srgbClr val="FF0000"/>
                </a:solidFill>
                <a:latin typeface="Times New Roman"/>
                <a:ea typeface="Times New Roman"/>
                <a:cs typeface="Times New Roman"/>
                <a:sym typeface="Times New Roman"/>
              </a:rPr>
              <a:t>and check performance</a:t>
            </a:r>
            <a:endParaRPr sz="1600" dirty="0">
              <a:solidFill>
                <a:srgbClr val="FF0000"/>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8"/>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Adventure time</a:t>
            </a:r>
            <a:endParaRPr/>
          </a:p>
        </p:txBody>
      </p:sp>
      <p:sp>
        <p:nvSpPr>
          <p:cNvPr id="286" name="Google Shape;286;p18"/>
          <p:cNvSpPr txBox="1">
            <a:spLocks noGrp="1"/>
          </p:cNvSpPr>
          <p:nvPr>
            <p:ph type="body" idx="1"/>
          </p:nvPr>
        </p:nvSpPr>
        <p:spPr>
          <a:xfrm>
            <a:off x="477795" y="1252152"/>
            <a:ext cx="8254313" cy="509454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latin typeface="Times New Roman"/>
                <a:ea typeface="Times New Roman"/>
                <a:cs typeface="Times New Roman"/>
                <a:sym typeface="Times New Roman"/>
              </a:rPr>
              <a:t>Website</a:t>
            </a:r>
            <a:endParaRPr dirty="0">
              <a:latin typeface="Times New Roman"/>
              <a:ea typeface="Times New Roman"/>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dirty="0">
              <a:latin typeface="Times New Roman"/>
              <a:ea typeface="Times New Roman"/>
              <a:cs typeface="Times New Roman"/>
              <a:sym typeface="Times New Roman"/>
            </a:endParaRPr>
          </a:p>
          <a:p>
            <a:pPr marL="457200" lvl="1" indent="0" algn="l" rtl="0">
              <a:lnSpc>
                <a:spcPct val="90000"/>
              </a:lnSpc>
              <a:spcBef>
                <a:spcPts val="500"/>
              </a:spcBef>
              <a:spcAft>
                <a:spcPts val="0"/>
              </a:spcAft>
              <a:buClr>
                <a:schemeClr val="dk1"/>
              </a:buClr>
              <a:buSzPts val="1800"/>
              <a:buNone/>
            </a:pPr>
            <a:r>
              <a:rPr lang="en-US" dirty="0">
                <a:latin typeface="Times New Roman"/>
                <a:ea typeface="Times New Roman"/>
                <a:cs typeface="Times New Roman"/>
                <a:sym typeface="Times New Roman"/>
              </a:rPr>
              <a:t>RIFFA original paper:</a:t>
            </a:r>
            <a:endParaRPr dirty="0"/>
          </a:p>
          <a:p>
            <a:pPr marL="685800" lvl="1" indent="-228600" algn="l" rtl="0">
              <a:lnSpc>
                <a:spcPct val="90000"/>
              </a:lnSpc>
              <a:spcBef>
                <a:spcPts val="500"/>
              </a:spcBef>
              <a:spcAft>
                <a:spcPts val="0"/>
              </a:spcAft>
              <a:buClr>
                <a:schemeClr val="dk1"/>
              </a:buClr>
              <a:buSzPts val="1800"/>
              <a:buChar char="˗"/>
            </a:pPr>
            <a:r>
              <a:rPr lang="en-US" u="sng" dirty="0">
                <a:solidFill>
                  <a:schemeClr val="hlink"/>
                </a:solidFill>
                <a:latin typeface="Times New Roman"/>
                <a:ea typeface="Times New Roman"/>
                <a:cs typeface="Times New Roman"/>
                <a:sym typeface="Times New Roman"/>
                <a:hlinkClick r:id="rId3"/>
              </a:rPr>
              <a:t>http://kastner.ucsd.edu/wp-content/uploads/2014/04/admin/fpl-riffa2.pdf</a:t>
            </a:r>
            <a:endParaRPr dirty="0">
              <a:latin typeface="Times New Roman"/>
              <a:ea typeface="Times New Roman"/>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dirty="0">
              <a:latin typeface="Times New Roman"/>
              <a:ea typeface="Times New Roman"/>
              <a:cs typeface="Times New Roman"/>
              <a:sym typeface="Times New Roman"/>
            </a:endParaRPr>
          </a:p>
          <a:p>
            <a:pPr marL="457200" lvl="1" indent="0" algn="l" rtl="0">
              <a:lnSpc>
                <a:spcPct val="90000"/>
              </a:lnSpc>
              <a:spcBef>
                <a:spcPts val="500"/>
              </a:spcBef>
              <a:spcAft>
                <a:spcPts val="0"/>
              </a:spcAft>
              <a:buClr>
                <a:schemeClr val="dk1"/>
              </a:buClr>
              <a:buSzPts val="1800"/>
              <a:buNone/>
            </a:pPr>
            <a:r>
              <a:rPr lang="en-US" dirty="0">
                <a:latin typeface="Times New Roman"/>
                <a:ea typeface="Times New Roman"/>
                <a:cs typeface="Times New Roman"/>
                <a:sym typeface="Times New Roman"/>
              </a:rPr>
              <a:t>GitHub:</a:t>
            </a:r>
            <a:endParaRPr dirty="0"/>
          </a:p>
          <a:p>
            <a:pPr marL="685800" lvl="1" indent="-228600" algn="l" rtl="0">
              <a:lnSpc>
                <a:spcPct val="90000"/>
              </a:lnSpc>
              <a:spcBef>
                <a:spcPts val="500"/>
              </a:spcBef>
              <a:spcAft>
                <a:spcPts val="0"/>
              </a:spcAft>
              <a:buClr>
                <a:schemeClr val="dk1"/>
              </a:buClr>
              <a:buSzPts val="1800"/>
              <a:buChar char="˗"/>
            </a:pPr>
            <a:r>
              <a:rPr lang="en-US" u="sng" dirty="0">
                <a:solidFill>
                  <a:schemeClr val="hlink"/>
                </a:solidFill>
                <a:latin typeface="Times New Roman"/>
                <a:ea typeface="Times New Roman"/>
                <a:cs typeface="Times New Roman"/>
                <a:sym typeface="Times New Roman"/>
                <a:hlinkClick r:id="rId4"/>
              </a:rPr>
              <a:t>https://github.com/KastnerRG/riffa</a:t>
            </a:r>
            <a:endParaRPr dirty="0">
              <a:latin typeface="Times New Roman"/>
              <a:ea typeface="Times New Roman"/>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dirty="0">
              <a:latin typeface="Times New Roman"/>
              <a:ea typeface="Times New Roman"/>
              <a:cs typeface="Times New Roman"/>
              <a:sym typeface="Times New Roman"/>
            </a:endParaRPr>
          </a:p>
          <a:p>
            <a:pPr marL="457200" lvl="1" indent="0" algn="l" rtl="0">
              <a:lnSpc>
                <a:spcPct val="90000"/>
              </a:lnSpc>
              <a:spcBef>
                <a:spcPts val="500"/>
              </a:spcBef>
              <a:spcAft>
                <a:spcPts val="0"/>
              </a:spcAft>
              <a:buClr>
                <a:schemeClr val="dk1"/>
              </a:buClr>
              <a:buSzPts val="1800"/>
              <a:buNone/>
            </a:pPr>
            <a:endParaRPr dirty="0">
              <a:latin typeface="Times New Roman"/>
              <a:ea typeface="Times New Roman"/>
              <a:cs typeface="Times New Roman"/>
              <a:sym typeface="Times New Roman"/>
            </a:endParaRPr>
          </a:p>
          <a:p>
            <a:pPr marL="457200" lvl="1" indent="0" algn="l" rtl="0">
              <a:lnSpc>
                <a:spcPct val="90000"/>
              </a:lnSpc>
              <a:spcBef>
                <a:spcPts val="500"/>
              </a:spcBef>
              <a:spcAft>
                <a:spcPts val="0"/>
              </a:spcAft>
              <a:buClr>
                <a:schemeClr val="dk1"/>
              </a:buClr>
              <a:buSzPts val="2400"/>
              <a:buNone/>
            </a:pPr>
            <a:r>
              <a:rPr lang="en-US" sz="2400" dirty="0">
                <a:latin typeface="DFKai-SB"/>
                <a:ea typeface="DFKai-SB"/>
                <a:cs typeface="DFKai-SB"/>
                <a:sym typeface="DFKai-SB"/>
              </a:rPr>
              <a:t>這些網站裡可能有意想不到的寶藏</a:t>
            </a:r>
            <a:endParaRPr sz="2400" dirty="0">
              <a:latin typeface="DFKai-SB"/>
              <a:ea typeface="DFKai-SB"/>
              <a:cs typeface="DFKai-SB"/>
              <a:sym typeface="DFKai-SB"/>
            </a:endParaRPr>
          </a:p>
          <a:p>
            <a:pPr marL="685800" lvl="1" indent="-114300" algn="l" rtl="0">
              <a:lnSpc>
                <a:spcPct val="90000"/>
              </a:lnSpc>
              <a:spcBef>
                <a:spcPts val="500"/>
              </a:spcBef>
              <a:spcAft>
                <a:spcPts val="0"/>
              </a:spcAft>
              <a:buClr>
                <a:schemeClr val="dk1"/>
              </a:buClr>
              <a:buSzPts val="1800"/>
              <a:buNone/>
            </a:pPr>
            <a:endParaRPr dirty="0">
              <a:latin typeface="Times New Roman"/>
              <a:ea typeface="Times New Roman"/>
              <a:cs typeface="Times New Roman"/>
              <a:sym typeface="Times New Roman"/>
            </a:endParaRPr>
          </a:p>
          <a:p>
            <a:pPr marL="228600" lvl="0" indent="-101600" algn="l" rtl="0">
              <a:lnSpc>
                <a:spcPct val="90000"/>
              </a:lnSpc>
              <a:spcBef>
                <a:spcPts val="1000"/>
              </a:spcBef>
              <a:spcAft>
                <a:spcPts val="0"/>
              </a:spcAft>
              <a:buClr>
                <a:schemeClr val="dk1"/>
              </a:buClr>
              <a:buSzPts val="2000"/>
              <a:buNone/>
            </a:pPr>
            <a:endParaRPr dirty="0">
              <a:latin typeface="Times New Roman"/>
              <a:ea typeface="Times New Roman"/>
              <a:cs typeface="Times New Roman"/>
              <a:sym typeface="Times New Roman"/>
            </a:endParaRPr>
          </a:p>
          <a:p>
            <a:pPr marL="228600" lvl="0" indent="-101600" algn="l" rtl="0">
              <a:lnSpc>
                <a:spcPct val="90000"/>
              </a:lnSpc>
              <a:spcBef>
                <a:spcPts val="1000"/>
              </a:spcBef>
              <a:spcAft>
                <a:spcPts val="0"/>
              </a:spcAft>
              <a:buClr>
                <a:schemeClr val="dk1"/>
              </a:buClr>
              <a:buSzPts val="2000"/>
              <a:buNone/>
            </a:pPr>
            <a:endParaRPr dirty="0">
              <a:latin typeface="Times New Roman"/>
              <a:ea typeface="Times New Roman"/>
              <a:cs typeface="Times New Roman"/>
              <a:sym typeface="Times New Roman"/>
            </a:endParaRPr>
          </a:p>
        </p:txBody>
      </p:sp>
      <p:sp>
        <p:nvSpPr>
          <p:cNvPr id="287" name="Google Shape;287;p18"/>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
        <p:nvSpPr>
          <p:cNvPr id="288" name="Google Shape;288;p18"/>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pic>
        <p:nvPicPr>
          <p:cNvPr id="289" name="Google Shape;289;p18" descr="酷狗老皮- 維基百科，自由的百科全書"/>
          <p:cNvPicPr preferRelativeResize="0"/>
          <p:nvPr/>
        </p:nvPicPr>
        <p:blipFill rotWithShape="1">
          <a:blip r:embed="rId5">
            <a:alphaModFix/>
          </a:blip>
          <a:srcRect/>
          <a:stretch/>
        </p:blipFill>
        <p:spPr>
          <a:xfrm rot="8057391">
            <a:off x="5965610" y="3200315"/>
            <a:ext cx="2036817" cy="1954610"/>
          </a:xfrm>
          <a:prstGeom prst="rect">
            <a:avLst/>
          </a:prstGeom>
          <a:noFill/>
          <a:ln>
            <a:noFill/>
          </a:ln>
        </p:spPr>
      </p:pic>
      <p:pic>
        <p:nvPicPr>
          <p:cNvPr id="7" name="Google Shape;289;p18" descr="酷狗老皮- 維基百科，自由的百科全書">
            <a:extLst>
              <a:ext uri="{FF2B5EF4-FFF2-40B4-BE49-F238E27FC236}">
                <a16:creationId xmlns:a16="http://schemas.microsoft.com/office/drawing/2014/main" id="{EE7EADBB-E0E6-49EB-8264-5A4B3ECF573D}"/>
              </a:ext>
            </a:extLst>
          </p:cNvPr>
          <p:cNvPicPr preferRelativeResize="0"/>
          <p:nvPr/>
        </p:nvPicPr>
        <p:blipFill rotWithShape="1">
          <a:blip r:embed="rId5">
            <a:alphaModFix/>
          </a:blip>
          <a:srcRect/>
          <a:stretch/>
        </p:blipFill>
        <p:spPr>
          <a:xfrm rot="1410537">
            <a:off x="1527223" y="4594269"/>
            <a:ext cx="1592723" cy="2030330"/>
          </a:xfrm>
          <a:prstGeom prst="rect">
            <a:avLst/>
          </a:prstGeom>
          <a:noFill/>
          <a:ln>
            <a:noFill/>
          </a:ln>
        </p:spPr>
      </p:pic>
      <p:pic>
        <p:nvPicPr>
          <p:cNvPr id="8" name="Google Shape;289;p18" descr="酷狗老皮- 維基百科，自由的百科全書">
            <a:extLst>
              <a:ext uri="{FF2B5EF4-FFF2-40B4-BE49-F238E27FC236}">
                <a16:creationId xmlns:a16="http://schemas.microsoft.com/office/drawing/2014/main" id="{0FF10A71-BAEF-4262-8A46-E38A12B97055}"/>
              </a:ext>
            </a:extLst>
          </p:cNvPr>
          <p:cNvPicPr preferRelativeResize="0"/>
          <p:nvPr/>
        </p:nvPicPr>
        <p:blipFill rotWithShape="1">
          <a:blip r:embed="rId5">
            <a:alphaModFix/>
          </a:blip>
          <a:srcRect/>
          <a:stretch/>
        </p:blipFill>
        <p:spPr>
          <a:xfrm rot="18268823">
            <a:off x="4061996" y="4573890"/>
            <a:ext cx="1592723" cy="2030330"/>
          </a:xfrm>
          <a:prstGeom prst="rect">
            <a:avLst/>
          </a:prstGeom>
          <a:noFill/>
          <a:ln>
            <a:noFill/>
          </a:ln>
        </p:spPr>
      </p:pic>
      <p:pic>
        <p:nvPicPr>
          <p:cNvPr id="9" name="Google Shape;289;p18" descr="酷狗老皮- 維基百科，自由的百科全書">
            <a:extLst>
              <a:ext uri="{FF2B5EF4-FFF2-40B4-BE49-F238E27FC236}">
                <a16:creationId xmlns:a16="http://schemas.microsoft.com/office/drawing/2014/main" id="{4F41EC22-51EC-4EBC-9414-F2F8CCCFB543}"/>
              </a:ext>
            </a:extLst>
          </p:cNvPr>
          <p:cNvPicPr preferRelativeResize="0"/>
          <p:nvPr/>
        </p:nvPicPr>
        <p:blipFill rotWithShape="1">
          <a:blip r:embed="rId5">
            <a:alphaModFix/>
          </a:blip>
          <a:srcRect/>
          <a:stretch/>
        </p:blipFill>
        <p:spPr>
          <a:xfrm rot="17656957">
            <a:off x="4309730" y="236987"/>
            <a:ext cx="1592723" cy="2030330"/>
          </a:xfrm>
          <a:prstGeom prst="rect">
            <a:avLst/>
          </a:prstGeom>
          <a:noFill/>
          <a:ln>
            <a:noFill/>
          </a:ln>
        </p:spPr>
      </p:pic>
      <p:pic>
        <p:nvPicPr>
          <p:cNvPr id="10" name="Google Shape;289;p18" descr="酷狗老皮- 維基百科，自由的百科全書">
            <a:extLst>
              <a:ext uri="{FF2B5EF4-FFF2-40B4-BE49-F238E27FC236}">
                <a16:creationId xmlns:a16="http://schemas.microsoft.com/office/drawing/2014/main" id="{71968B74-9EB8-4900-8083-3AE1832310B1}"/>
              </a:ext>
            </a:extLst>
          </p:cNvPr>
          <p:cNvPicPr preferRelativeResize="0"/>
          <p:nvPr/>
        </p:nvPicPr>
        <p:blipFill rotWithShape="1">
          <a:blip r:embed="rId5">
            <a:alphaModFix/>
          </a:blip>
          <a:srcRect/>
          <a:stretch/>
        </p:blipFill>
        <p:spPr>
          <a:xfrm rot="1410537">
            <a:off x="7200294" y="203573"/>
            <a:ext cx="1402246" cy="183362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77795" y="365126"/>
            <a:ext cx="8254313" cy="7155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sz="3200">
                <a:latin typeface="Times New Roman"/>
                <a:ea typeface="Times New Roman"/>
                <a:cs typeface="Times New Roman"/>
                <a:sym typeface="Times New Roman"/>
              </a:rPr>
              <a:t>Outline</a:t>
            </a:r>
            <a:endParaRPr sz="3200">
              <a:latin typeface="Times New Roman"/>
              <a:ea typeface="Times New Roman"/>
              <a:cs typeface="Times New Roman"/>
              <a:sym typeface="Times New Roman"/>
            </a:endParaRPr>
          </a:p>
        </p:txBody>
      </p:sp>
      <p:sp>
        <p:nvSpPr>
          <p:cNvPr id="97" name="Google Shape;97;p2"/>
          <p:cNvSpPr txBox="1">
            <a:spLocks noGrp="1"/>
          </p:cNvSpPr>
          <p:nvPr>
            <p:ph type="body" idx="1"/>
          </p:nvPr>
        </p:nvSpPr>
        <p:spPr>
          <a:xfrm>
            <a:off x="477795" y="1221972"/>
            <a:ext cx="8254313" cy="495499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solidFill>
                  <a:schemeClr val="tx2"/>
                </a:solidFill>
                <a:latin typeface="Times New Roman"/>
                <a:ea typeface="Times New Roman"/>
                <a:cs typeface="Times New Roman"/>
                <a:sym typeface="Times New Roman"/>
              </a:rPr>
              <a:t>FPGA introduction</a:t>
            </a:r>
            <a:endParaRPr dirty="0">
              <a:solidFill>
                <a:schemeClr val="tx2"/>
              </a:solidFill>
            </a:endParaRPr>
          </a:p>
          <a:p>
            <a:pPr marL="228600" lvl="0" indent="-228600" algn="l" rtl="0">
              <a:lnSpc>
                <a:spcPct val="90000"/>
              </a:lnSpc>
              <a:spcBef>
                <a:spcPts val="1000"/>
              </a:spcBef>
              <a:spcAft>
                <a:spcPts val="0"/>
              </a:spcAft>
              <a:buClr>
                <a:schemeClr val="dk1"/>
              </a:buClr>
              <a:buSzPts val="2000"/>
              <a:buChar char="•"/>
            </a:pPr>
            <a:r>
              <a:rPr lang="en-US" dirty="0">
                <a:solidFill>
                  <a:schemeClr val="tx2"/>
                </a:solidFill>
                <a:latin typeface="Times New Roman"/>
                <a:ea typeface="Times New Roman"/>
                <a:cs typeface="Times New Roman"/>
                <a:sym typeface="Times New Roman"/>
              </a:rPr>
              <a:t>What is RIFFA</a:t>
            </a:r>
            <a:endParaRPr dirty="0">
              <a:solidFill>
                <a:schemeClr val="tx2"/>
              </a:solidFill>
            </a:endParaRPr>
          </a:p>
          <a:p>
            <a:pPr marL="228600" lvl="0" indent="-228600" algn="l" rtl="0">
              <a:lnSpc>
                <a:spcPct val="90000"/>
              </a:lnSpc>
              <a:spcBef>
                <a:spcPts val="1000"/>
              </a:spcBef>
              <a:spcAft>
                <a:spcPts val="0"/>
              </a:spcAft>
              <a:buClr>
                <a:schemeClr val="dk1"/>
              </a:buClr>
              <a:buSzPts val="2000"/>
              <a:buChar char="•"/>
            </a:pPr>
            <a:r>
              <a:rPr lang="en-US" dirty="0">
                <a:solidFill>
                  <a:schemeClr val="tx1"/>
                </a:solidFill>
                <a:latin typeface="Times New Roman"/>
                <a:ea typeface="Times New Roman"/>
                <a:cs typeface="Times New Roman"/>
                <a:sym typeface="Times New Roman"/>
              </a:rPr>
              <a:t>Practice </a:t>
            </a:r>
            <a:endParaRPr dirty="0">
              <a:solidFill>
                <a:schemeClr val="tx1"/>
              </a:solidFill>
            </a:endParaRPr>
          </a:p>
          <a:p>
            <a:pPr marL="228600" lvl="0" indent="-228600" algn="l" rtl="0">
              <a:lnSpc>
                <a:spcPct val="90000"/>
              </a:lnSpc>
              <a:spcBef>
                <a:spcPts val="1000"/>
              </a:spcBef>
              <a:spcAft>
                <a:spcPts val="0"/>
              </a:spcAft>
              <a:buClr>
                <a:schemeClr val="dk1"/>
              </a:buClr>
              <a:buSzPts val="2000"/>
              <a:buChar char="•"/>
            </a:pPr>
            <a:r>
              <a:rPr lang="en-US" dirty="0">
                <a:solidFill>
                  <a:schemeClr val="tx2"/>
                </a:solidFill>
                <a:latin typeface="Times New Roman"/>
                <a:ea typeface="Times New Roman"/>
                <a:cs typeface="Times New Roman"/>
                <a:sym typeface="Times New Roman"/>
              </a:rPr>
              <a:t>Other useful utilities</a:t>
            </a:r>
            <a:endParaRPr dirty="0">
              <a:solidFill>
                <a:schemeClr val="tx2"/>
              </a:solidFill>
              <a:latin typeface="Times New Roman"/>
              <a:ea typeface="Times New Roman"/>
              <a:cs typeface="Times New Roman"/>
              <a:sym typeface="Times New Roman"/>
            </a:endParaRPr>
          </a:p>
        </p:txBody>
      </p:sp>
      <p:sp>
        <p:nvSpPr>
          <p:cNvPr id="98" name="Google Shape;98;p2"/>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
        <p:nvSpPr>
          <p:cNvPr id="99" name="Google Shape;99;p2"/>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Tree>
    <p:extLst>
      <p:ext uri="{BB962C8B-B14F-4D97-AF65-F5344CB8AC3E}">
        <p14:creationId xmlns:p14="http://schemas.microsoft.com/office/powerpoint/2010/main" val="2709414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5"/>
          <p:cNvSpPr txBox="1">
            <a:spLocks noGrp="1"/>
          </p:cNvSpPr>
          <p:nvPr>
            <p:ph type="body" idx="1"/>
          </p:nvPr>
        </p:nvSpPr>
        <p:spPr>
          <a:xfrm>
            <a:off x="477795" y="888484"/>
            <a:ext cx="8254313" cy="289483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latin typeface="Times New Roman"/>
                <a:ea typeface="Times New Roman"/>
                <a:cs typeface="Times New Roman"/>
                <a:sym typeface="Times New Roman"/>
              </a:rPr>
              <a:t>It is recommended that you separate </a:t>
            </a:r>
            <a:r>
              <a:rPr lang="en-US" dirty="0">
                <a:solidFill>
                  <a:srgbClr val="FF0000"/>
                </a:solidFill>
                <a:latin typeface="Times New Roman"/>
                <a:ea typeface="Times New Roman"/>
                <a:cs typeface="Times New Roman"/>
                <a:sym typeface="Times New Roman"/>
              </a:rPr>
              <a:t>your design </a:t>
            </a:r>
            <a:r>
              <a:rPr lang="en-US" dirty="0">
                <a:latin typeface="Times New Roman"/>
                <a:ea typeface="Times New Roman"/>
                <a:cs typeface="Times New Roman"/>
                <a:sym typeface="Times New Roman"/>
              </a:rPr>
              <a:t>from</a:t>
            </a:r>
            <a:r>
              <a:rPr lang="en-US" dirty="0">
                <a:solidFill>
                  <a:srgbClr val="FF0000"/>
                </a:solidFill>
                <a:latin typeface="Times New Roman"/>
                <a:ea typeface="Times New Roman"/>
                <a:cs typeface="Times New Roman"/>
                <a:sym typeface="Times New Roman"/>
              </a:rPr>
              <a:t> the RIFFA transmission</a:t>
            </a:r>
            <a:r>
              <a:rPr lang="en-US" dirty="0">
                <a:latin typeface="Times New Roman"/>
                <a:ea typeface="Times New Roman"/>
                <a:cs typeface="Times New Roman"/>
                <a:sym typeface="Times New Roman"/>
              </a:rPr>
              <a:t> part</a:t>
            </a:r>
            <a:endParaRPr dirty="0"/>
          </a:p>
          <a:p>
            <a:pPr marL="457200" lvl="0" indent="-457200" algn="l" rtl="0">
              <a:lnSpc>
                <a:spcPct val="90000"/>
              </a:lnSpc>
              <a:spcBef>
                <a:spcPts val="1000"/>
              </a:spcBef>
              <a:spcAft>
                <a:spcPts val="0"/>
              </a:spcAft>
              <a:buClr>
                <a:schemeClr val="dk1"/>
              </a:buClr>
              <a:buSzPts val="2000"/>
              <a:buFont typeface="Calibri"/>
              <a:buAutoNum type="arabicPeriod"/>
            </a:pPr>
            <a:r>
              <a:rPr lang="en-US" dirty="0">
                <a:latin typeface="Times New Roman"/>
                <a:ea typeface="Times New Roman"/>
                <a:cs typeface="Times New Roman"/>
                <a:sym typeface="Times New Roman"/>
              </a:rPr>
              <a:t>Use testbench to complete and debug your design.</a:t>
            </a:r>
            <a:endParaRPr dirty="0"/>
          </a:p>
          <a:p>
            <a:pPr marL="457200" lvl="0" indent="-457200" algn="l" rtl="0">
              <a:lnSpc>
                <a:spcPct val="90000"/>
              </a:lnSpc>
              <a:spcBef>
                <a:spcPts val="1000"/>
              </a:spcBef>
              <a:spcAft>
                <a:spcPts val="0"/>
              </a:spcAft>
              <a:buClr>
                <a:schemeClr val="dk1"/>
              </a:buClr>
              <a:buSzPts val="2000"/>
              <a:buFont typeface="Calibri"/>
              <a:buAutoNum type="arabicPeriod"/>
            </a:pPr>
            <a:r>
              <a:rPr lang="en-US" dirty="0">
                <a:latin typeface="Times New Roman"/>
                <a:ea typeface="Times New Roman"/>
                <a:cs typeface="Times New Roman"/>
                <a:sym typeface="Times New Roman"/>
              </a:rPr>
              <a:t>Put your design into RIFFA channel (</a:t>
            </a:r>
            <a:r>
              <a:rPr lang="en-US" dirty="0" err="1">
                <a:latin typeface="Times New Roman"/>
                <a:ea typeface="Times New Roman"/>
                <a:cs typeface="Times New Roman"/>
                <a:sym typeface="Times New Roman"/>
              </a:rPr>
              <a:t>chnl_tester.v</a:t>
            </a:r>
            <a:r>
              <a:rPr lang="en-US" dirty="0">
                <a:latin typeface="Times New Roman"/>
                <a:ea typeface="Times New Roman"/>
                <a:cs typeface="Times New Roman"/>
                <a:sym typeface="Times New Roman"/>
              </a:rPr>
              <a:t>)</a:t>
            </a:r>
            <a:endParaRPr dirty="0"/>
          </a:p>
          <a:p>
            <a:pPr marL="457200" lvl="0" indent="-457200" algn="l" rtl="0">
              <a:lnSpc>
                <a:spcPct val="90000"/>
              </a:lnSpc>
              <a:spcBef>
                <a:spcPts val="1000"/>
              </a:spcBef>
              <a:spcAft>
                <a:spcPts val="0"/>
              </a:spcAft>
              <a:buClr>
                <a:schemeClr val="dk1"/>
              </a:buClr>
              <a:buSzPts val="2000"/>
              <a:buFont typeface="Calibri"/>
              <a:buAutoNum type="arabicPeriod"/>
            </a:pPr>
            <a:r>
              <a:rPr lang="en-US" dirty="0">
                <a:latin typeface="Times New Roman"/>
                <a:ea typeface="Times New Roman"/>
                <a:cs typeface="Times New Roman"/>
                <a:sym typeface="Times New Roman"/>
              </a:rPr>
              <a:t>Use testbench to complete RIFFA channel with your design concluded</a:t>
            </a:r>
            <a:endParaRPr dirty="0"/>
          </a:p>
          <a:p>
            <a:pPr marL="457200" lvl="0" indent="-457200" algn="l" rtl="0">
              <a:lnSpc>
                <a:spcPct val="90000"/>
              </a:lnSpc>
              <a:spcBef>
                <a:spcPts val="1000"/>
              </a:spcBef>
              <a:spcAft>
                <a:spcPts val="0"/>
              </a:spcAft>
              <a:buClr>
                <a:schemeClr val="dk1"/>
              </a:buClr>
              <a:buSzPts val="2000"/>
              <a:buFont typeface="Calibri"/>
              <a:buAutoNum type="arabicPeriod"/>
            </a:pPr>
            <a:r>
              <a:rPr lang="en-US" dirty="0">
                <a:latin typeface="Times New Roman"/>
                <a:ea typeface="Times New Roman"/>
                <a:cs typeface="Times New Roman"/>
                <a:sym typeface="Times New Roman"/>
              </a:rPr>
              <a:t>Complete C++ interface , print and check pattern from C++ interface</a:t>
            </a:r>
            <a:endParaRPr dirty="0"/>
          </a:p>
          <a:p>
            <a:pPr marL="457200" lvl="0" indent="-457200" algn="l" rtl="0">
              <a:lnSpc>
                <a:spcPct val="90000"/>
              </a:lnSpc>
              <a:spcBef>
                <a:spcPts val="1000"/>
              </a:spcBef>
              <a:spcAft>
                <a:spcPts val="0"/>
              </a:spcAft>
              <a:buClr>
                <a:schemeClr val="dk1"/>
              </a:buClr>
              <a:buSzPts val="2000"/>
              <a:buFont typeface="Calibri"/>
              <a:buAutoNum type="arabicPeriod"/>
            </a:pPr>
            <a:r>
              <a:rPr lang="en-US" dirty="0">
                <a:latin typeface="Times New Roman"/>
                <a:ea typeface="Times New Roman"/>
                <a:cs typeface="Times New Roman"/>
                <a:sym typeface="Times New Roman"/>
              </a:rPr>
              <a:t>Compile and test on FPGA  -&gt;	 d(`･∀･)b </a:t>
            </a:r>
            <a:endParaRPr dirty="0"/>
          </a:p>
          <a:p>
            <a:pPr marL="1143000" lvl="2" indent="-127000" algn="l" rtl="0">
              <a:lnSpc>
                <a:spcPct val="90000"/>
              </a:lnSpc>
              <a:spcBef>
                <a:spcPts val="500"/>
              </a:spcBef>
              <a:spcAft>
                <a:spcPts val="0"/>
              </a:spcAft>
              <a:buClr>
                <a:schemeClr val="dk1"/>
              </a:buClr>
              <a:buSzPts val="1600"/>
              <a:buNone/>
            </a:pPr>
            <a:endParaRPr dirty="0">
              <a:latin typeface="Times New Roman"/>
              <a:ea typeface="Times New Roman"/>
              <a:cs typeface="Times New Roman"/>
              <a:sym typeface="Times New Roman"/>
            </a:endParaRPr>
          </a:p>
          <a:p>
            <a:pPr marL="228600" lvl="0" indent="-101600" algn="l" rtl="0">
              <a:lnSpc>
                <a:spcPct val="90000"/>
              </a:lnSpc>
              <a:spcBef>
                <a:spcPts val="1000"/>
              </a:spcBef>
              <a:spcAft>
                <a:spcPts val="0"/>
              </a:spcAft>
              <a:buClr>
                <a:schemeClr val="dk1"/>
              </a:buClr>
              <a:buSzPts val="2000"/>
              <a:buNone/>
            </a:pPr>
            <a:endParaRPr dirty="0">
              <a:latin typeface="Times New Roman"/>
              <a:ea typeface="Times New Roman"/>
              <a:cs typeface="Times New Roman"/>
              <a:sym typeface="Times New Roman"/>
            </a:endParaRPr>
          </a:p>
          <a:p>
            <a:pPr marL="228600" lvl="0" indent="-101600" algn="l" rtl="0">
              <a:lnSpc>
                <a:spcPct val="90000"/>
              </a:lnSpc>
              <a:spcBef>
                <a:spcPts val="1000"/>
              </a:spcBef>
              <a:spcAft>
                <a:spcPts val="0"/>
              </a:spcAft>
              <a:buClr>
                <a:schemeClr val="dk1"/>
              </a:buClr>
              <a:buSzPts val="2000"/>
              <a:buNone/>
            </a:pPr>
            <a:endParaRPr dirty="0">
              <a:latin typeface="Times New Roman"/>
              <a:ea typeface="Times New Roman"/>
              <a:cs typeface="Times New Roman"/>
              <a:sym typeface="Times New Roman"/>
            </a:endParaRPr>
          </a:p>
        </p:txBody>
      </p:sp>
      <p:sp>
        <p:nvSpPr>
          <p:cNvPr id="237" name="Google Shape;237;p15"/>
          <p:cNvSpPr/>
          <p:nvPr/>
        </p:nvSpPr>
        <p:spPr>
          <a:xfrm>
            <a:off x="2322219" y="4169592"/>
            <a:ext cx="3782290" cy="1008610"/>
          </a:xfrm>
          <a:prstGeom prst="roundRect">
            <a:avLst>
              <a:gd name="adj" fmla="val 16667"/>
            </a:avLst>
          </a:prstGeom>
          <a:solidFill>
            <a:srgbClr val="DEEBF7"/>
          </a:solidFill>
          <a:ln w="127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238" name="Google Shape;238;p15"/>
          <p:cNvSpPr txBox="1">
            <a:spLocks noGrp="1"/>
          </p:cNvSpPr>
          <p:nvPr>
            <p:ph type="title"/>
          </p:nvPr>
        </p:nvSpPr>
        <p:spPr>
          <a:xfrm>
            <a:off x="477795" y="170719"/>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Recommended design flow</a:t>
            </a:r>
            <a:endParaRPr/>
          </a:p>
        </p:txBody>
      </p:sp>
      <p:sp>
        <p:nvSpPr>
          <p:cNvPr id="239" name="Google Shape;239;p15"/>
          <p:cNvSpPr txBox="1">
            <a:spLocks noGrp="1"/>
          </p:cNvSpPr>
          <p:nvPr>
            <p:ph type="sldNum" idx="12"/>
          </p:nvPr>
        </p:nvSpPr>
        <p:spPr>
          <a:xfrm>
            <a:off x="6937860" y="6501242"/>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
        <p:nvSpPr>
          <p:cNvPr id="240" name="Google Shape;240;p15"/>
          <p:cNvSpPr/>
          <p:nvPr/>
        </p:nvSpPr>
        <p:spPr>
          <a:xfrm>
            <a:off x="2571598" y="4394036"/>
            <a:ext cx="1803863" cy="590202"/>
          </a:xfrm>
          <a:prstGeom prst="roundRect">
            <a:avLst>
              <a:gd name="adj" fmla="val 16667"/>
            </a:avLst>
          </a:prstGeom>
          <a:solidFill>
            <a:srgbClr val="FBE4D4"/>
          </a:solidFill>
          <a:ln w="127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Times New Roman"/>
                <a:ea typeface="Times New Roman"/>
                <a:cs typeface="Times New Roman"/>
                <a:sym typeface="Times New Roman"/>
              </a:rPr>
              <a:t>Your design</a:t>
            </a:r>
            <a:endParaRPr sz="1800">
              <a:solidFill>
                <a:schemeClr val="dk1"/>
              </a:solidFill>
              <a:latin typeface="Times New Roman"/>
              <a:ea typeface="Times New Roman"/>
              <a:cs typeface="Times New Roman"/>
              <a:sym typeface="Times New Roman"/>
            </a:endParaRPr>
          </a:p>
        </p:txBody>
      </p:sp>
      <p:sp>
        <p:nvSpPr>
          <p:cNvPr id="241" name="Google Shape;241;p15"/>
          <p:cNvSpPr/>
          <p:nvPr/>
        </p:nvSpPr>
        <p:spPr>
          <a:xfrm>
            <a:off x="2571598" y="5669652"/>
            <a:ext cx="1803863" cy="590202"/>
          </a:xfrm>
          <a:prstGeom prst="roundRect">
            <a:avLst>
              <a:gd name="adj" fmla="val 16667"/>
            </a:avLst>
          </a:prstGeom>
          <a:solidFill>
            <a:srgbClr val="F2F2F2"/>
          </a:solidFill>
          <a:ln w="127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Times New Roman"/>
                <a:ea typeface="Times New Roman"/>
                <a:cs typeface="Times New Roman"/>
                <a:sym typeface="Times New Roman"/>
              </a:rPr>
              <a:t>Testbench for</a:t>
            </a:r>
            <a:endParaRPr/>
          </a:p>
          <a:p>
            <a:pPr marL="0" marR="0" lvl="0" indent="0" algn="ctr" rtl="0">
              <a:spcBef>
                <a:spcPts val="0"/>
              </a:spcBef>
              <a:spcAft>
                <a:spcPts val="0"/>
              </a:spcAft>
              <a:buNone/>
            </a:pPr>
            <a:r>
              <a:rPr lang="en-US" sz="1800">
                <a:solidFill>
                  <a:schemeClr val="dk1"/>
                </a:solidFill>
                <a:latin typeface="Times New Roman"/>
                <a:ea typeface="Times New Roman"/>
                <a:cs typeface="Times New Roman"/>
                <a:sym typeface="Times New Roman"/>
              </a:rPr>
              <a:t>design</a:t>
            </a:r>
            <a:endParaRPr sz="1800">
              <a:solidFill>
                <a:schemeClr val="dk1"/>
              </a:solidFill>
              <a:latin typeface="Times New Roman"/>
              <a:ea typeface="Times New Roman"/>
              <a:cs typeface="Times New Roman"/>
              <a:sym typeface="Times New Roman"/>
            </a:endParaRPr>
          </a:p>
        </p:txBody>
      </p:sp>
      <p:sp>
        <p:nvSpPr>
          <p:cNvPr id="242" name="Google Shape;242;p15"/>
          <p:cNvSpPr txBox="1"/>
          <p:nvPr/>
        </p:nvSpPr>
        <p:spPr>
          <a:xfrm>
            <a:off x="484684" y="5780087"/>
            <a:ext cx="1755609" cy="369332"/>
          </a:xfrm>
          <a:prstGeom prst="rect">
            <a:avLst/>
          </a:prstGeom>
          <a:noFill/>
          <a:ln w="127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00"/>
                </a:solidFill>
                <a:latin typeface="Times New Roman"/>
                <a:ea typeface="Times New Roman"/>
                <a:cs typeface="Times New Roman"/>
                <a:sym typeface="Times New Roman"/>
              </a:rPr>
              <a:t>pattern generator</a:t>
            </a:r>
            <a:endParaRPr sz="1800">
              <a:solidFill>
                <a:srgbClr val="000000"/>
              </a:solidFill>
              <a:latin typeface="Times New Roman"/>
              <a:ea typeface="Times New Roman"/>
              <a:cs typeface="Times New Roman"/>
              <a:sym typeface="Times New Roman"/>
            </a:endParaRPr>
          </a:p>
        </p:txBody>
      </p:sp>
      <p:cxnSp>
        <p:nvCxnSpPr>
          <p:cNvPr id="243" name="Google Shape;243;p15"/>
          <p:cNvCxnSpPr>
            <a:stCxn id="242" idx="3"/>
            <a:endCxn id="241" idx="1"/>
          </p:cNvCxnSpPr>
          <p:nvPr/>
        </p:nvCxnSpPr>
        <p:spPr>
          <a:xfrm>
            <a:off x="2240293" y="5964753"/>
            <a:ext cx="331200" cy="0"/>
          </a:xfrm>
          <a:prstGeom prst="straightConnector1">
            <a:avLst/>
          </a:prstGeom>
          <a:noFill/>
          <a:ln w="9525" cap="flat" cmpd="sng">
            <a:solidFill>
              <a:srgbClr val="0C0C0C"/>
            </a:solidFill>
            <a:prstDash val="solid"/>
            <a:miter lim="800000"/>
            <a:headEnd type="none" w="sm" len="sm"/>
            <a:tailEnd type="triangle" w="med" len="med"/>
          </a:ln>
        </p:spPr>
      </p:cxnSp>
      <p:cxnSp>
        <p:nvCxnSpPr>
          <p:cNvPr id="244" name="Google Shape;244;p15"/>
          <p:cNvCxnSpPr/>
          <p:nvPr/>
        </p:nvCxnSpPr>
        <p:spPr>
          <a:xfrm rot="10800000" flipH="1">
            <a:off x="2970611" y="4984238"/>
            <a:ext cx="8313" cy="681645"/>
          </a:xfrm>
          <a:prstGeom prst="straightConnector1">
            <a:avLst/>
          </a:prstGeom>
          <a:noFill/>
          <a:ln w="9525" cap="flat" cmpd="sng">
            <a:solidFill>
              <a:srgbClr val="0C0C0C"/>
            </a:solidFill>
            <a:prstDash val="solid"/>
            <a:miter lim="800000"/>
            <a:headEnd type="none" w="sm" len="sm"/>
            <a:tailEnd type="triangle" w="med" len="med"/>
          </a:ln>
        </p:spPr>
      </p:cxnSp>
      <p:cxnSp>
        <p:nvCxnSpPr>
          <p:cNvPr id="245" name="Google Shape;245;p15"/>
          <p:cNvCxnSpPr/>
          <p:nvPr/>
        </p:nvCxnSpPr>
        <p:spPr>
          <a:xfrm>
            <a:off x="3909949" y="4984238"/>
            <a:ext cx="0" cy="681646"/>
          </a:xfrm>
          <a:prstGeom prst="straightConnector1">
            <a:avLst/>
          </a:prstGeom>
          <a:noFill/>
          <a:ln w="9525" cap="flat" cmpd="sng">
            <a:solidFill>
              <a:srgbClr val="0C0C0C"/>
            </a:solidFill>
            <a:prstDash val="solid"/>
            <a:miter lim="800000"/>
            <a:headEnd type="none" w="sm" len="sm"/>
            <a:tailEnd type="triangle" w="med" len="med"/>
          </a:ln>
        </p:spPr>
      </p:cxnSp>
      <p:sp>
        <p:nvSpPr>
          <p:cNvPr id="246" name="Google Shape;246;p15"/>
          <p:cNvSpPr/>
          <p:nvPr/>
        </p:nvSpPr>
        <p:spPr>
          <a:xfrm>
            <a:off x="4443023" y="4209370"/>
            <a:ext cx="169366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 RIFFA Channel</a:t>
            </a:r>
            <a:endParaRPr sz="1800" dirty="0">
              <a:solidFill>
                <a:schemeClr val="dk1"/>
              </a:solidFill>
              <a:latin typeface="Calibri"/>
              <a:ea typeface="Calibri"/>
              <a:cs typeface="Calibri"/>
              <a:sym typeface="Calibri"/>
            </a:endParaRPr>
          </a:p>
        </p:txBody>
      </p:sp>
      <p:sp>
        <p:nvSpPr>
          <p:cNvPr id="247" name="Google Shape;247;p15"/>
          <p:cNvSpPr/>
          <p:nvPr/>
        </p:nvSpPr>
        <p:spPr>
          <a:xfrm>
            <a:off x="6643085" y="4378796"/>
            <a:ext cx="1803863" cy="590202"/>
          </a:xfrm>
          <a:prstGeom prst="roundRect">
            <a:avLst>
              <a:gd name="adj" fmla="val 16667"/>
            </a:avLst>
          </a:prstGeom>
          <a:solidFill>
            <a:srgbClr val="DEEBF7"/>
          </a:solidFill>
          <a:ln w="127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Times New Roman"/>
                <a:ea typeface="Times New Roman"/>
                <a:cs typeface="Times New Roman"/>
                <a:sym typeface="Times New Roman"/>
              </a:rPr>
              <a:t>RIFFA C++ interface</a:t>
            </a:r>
            <a:endParaRPr sz="1800" dirty="0">
              <a:solidFill>
                <a:schemeClr val="dk1"/>
              </a:solidFill>
              <a:latin typeface="Times New Roman"/>
              <a:ea typeface="Times New Roman"/>
              <a:cs typeface="Times New Roman"/>
              <a:sym typeface="Times New Roman"/>
            </a:endParaRPr>
          </a:p>
        </p:txBody>
      </p:sp>
      <p:cxnSp>
        <p:nvCxnSpPr>
          <p:cNvPr id="248" name="Google Shape;248;p15"/>
          <p:cNvCxnSpPr>
            <a:stCxn id="237" idx="3"/>
            <a:endCxn id="247" idx="1"/>
          </p:cNvCxnSpPr>
          <p:nvPr/>
        </p:nvCxnSpPr>
        <p:spPr>
          <a:xfrm>
            <a:off x="6104509" y="4673897"/>
            <a:ext cx="538500" cy="0"/>
          </a:xfrm>
          <a:prstGeom prst="straightConnector1">
            <a:avLst/>
          </a:prstGeom>
          <a:noFill/>
          <a:ln w="9525" cap="flat" cmpd="sng">
            <a:solidFill>
              <a:srgbClr val="171616"/>
            </a:solidFill>
            <a:prstDash val="solid"/>
            <a:miter lim="800000"/>
            <a:headEnd type="triangle" w="med" len="med"/>
            <a:tailEnd type="triangle" w="med" len="med"/>
          </a:ln>
        </p:spPr>
      </p:cxnSp>
      <p:sp>
        <p:nvSpPr>
          <p:cNvPr id="249" name="Google Shape;249;p15"/>
          <p:cNvSpPr/>
          <p:nvPr/>
        </p:nvSpPr>
        <p:spPr>
          <a:xfrm>
            <a:off x="308638" y="4169592"/>
            <a:ext cx="6083772" cy="2587088"/>
          </a:xfrm>
          <a:prstGeom prst="rect">
            <a:avLst/>
          </a:prstGeom>
          <a:noFill/>
          <a:ln w="28575"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 name="Google Shape;250;p15"/>
          <p:cNvSpPr txBox="1"/>
          <p:nvPr/>
        </p:nvSpPr>
        <p:spPr>
          <a:xfrm>
            <a:off x="2718597" y="3783316"/>
            <a:ext cx="119135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ASIC flow</a:t>
            </a:r>
            <a:endParaRPr sz="1800" dirty="0">
              <a:solidFill>
                <a:schemeClr val="dk1"/>
              </a:solidFill>
              <a:latin typeface="Times New Roman"/>
              <a:ea typeface="Times New Roman"/>
              <a:cs typeface="Times New Roman"/>
              <a:sym typeface="Times New Roman"/>
            </a:endParaRPr>
          </a:p>
        </p:txBody>
      </p:sp>
      <p:sp>
        <p:nvSpPr>
          <p:cNvPr id="251" name="Google Shape;251;p15"/>
          <p:cNvSpPr/>
          <p:nvPr/>
        </p:nvSpPr>
        <p:spPr>
          <a:xfrm>
            <a:off x="2322219" y="4164254"/>
            <a:ext cx="6257582" cy="1013947"/>
          </a:xfrm>
          <a:prstGeom prst="rect">
            <a:avLst/>
          </a:prstGeom>
          <a:noFill/>
          <a:ln w="28575"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2" name="Google Shape;252;p15"/>
          <p:cNvSpPr txBox="1"/>
          <p:nvPr/>
        </p:nvSpPr>
        <p:spPr>
          <a:xfrm>
            <a:off x="6937860" y="3770385"/>
            <a:ext cx="12427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FPGA flow</a:t>
            </a:r>
            <a:endParaRPr sz="1800" dirty="0">
              <a:solidFill>
                <a:schemeClr val="dk1"/>
              </a:solidFill>
              <a:latin typeface="Times New Roman"/>
              <a:ea typeface="Times New Roman"/>
              <a:cs typeface="Times New Roman"/>
              <a:sym typeface="Times New Roman"/>
            </a:endParaRPr>
          </a:p>
        </p:txBody>
      </p:sp>
      <p:sp>
        <p:nvSpPr>
          <p:cNvPr id="253" name="Google Shape;253;p15"/>
          <p:cNvSpPr/>
          <p:nvPr/>
        </p:nvSpPr>
        <p:spPr>
          <a:xfrm>
            <a:off x="4443023" y="5672339"/>
            <a:ext cx="1803863" cy="590202"/>
          </a:xfrm>
          <a:prstGeom prst="roundRect">
            <a:avLst>
              <a:gd name="adj" fmla="val 16667"/>
            </a:avLst>
          </a:prstGeom>
          <a:solidFill>
            <a:srgbClr val="F2F2F2"/>
          </a:solidFill>
          <a:ln w="127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Times New Roman"/>
                <a:ea typeface="Times New Roman"/>
                <a:cs typeface="Times New Roman"/>
                <a:sym typeface="Times New Roman"/>
              </a:rPr>
              <a:t>Testbench for</a:t>
            </a:r>
            <a:endParaRPr/>
          </a:p>
          <a:p>
            <a:pPr marL="0" marR="0" lvl="0" indent="0" algn="ctr" rtl="0">
              <a:spcBef>
                <a:spcPts val="0"/>
              </a:spcBef>
              <a:spcAft>
                <a:spcPts val="0"/>
              </a:spcAft>
              <a:buNone/>
            </a:pPr>
            <a:r>
              <a:rPr lang="en-US" sz="1800">
                <a:solidFill>
                  <a:schemeClr val="dk1"/>
                </a:solidFill>
                <a:latin typeface="Times New Roman"/>
                <a:ea typeface="Times New Roman"/>
                <a:cs typeface="Times New Roman"/>
                <a:sym typeface="Times New Roman"/>
              </a:rPr>
              <a:t>chnl_tester.v</a:t>
            </a:r>
            <a:endParaRPr sz="1800">
              <a:solidFill>
                <a:schemeClr val="dk1"/>
              </a:solidFill>
              <a:latin typeface="Times New Roman"/>
              <a:ea typeface="Times New Roman"/>
              <a:cs typeface="Times New Roman"/>
              <a:sym typeface="Times New Roman"/>
            </a:endParaRPr>
          </a:p>
        </p:txBody>
      </p:sp>
      <p:cxnSp>
        <p:nvCxnSpPr>
          <p:cNvPr id="254" name="Google Shape;254;p15"/>
          <p:cNvCxnSpPr/>
          <p:nvPr/>
        </p:nvCxnSpPr>
        <p:spPr>
          <a:xfrm rot="10800000">
            <a:off x="4871610" y="5176098"/>
            <a:ext cx="0" cy="489785"/>
          </a:xfrm>
          <a:prstGeom prst="straightConnector1">
            <a:avLst/>
          </a:prstGeom>
          <a:noFill/>
          <a:ln w="9525" cap="flat" cmpd="sng">
            <a:solidFill>
              <a:srgbClr val="0C0C0C"/>
            </a:solidFill>
            <a:prstDash val="solid"/>
            <a:miter lim="800000"/>
            <a:headEnd type="none" w="sm" len="sm"/>
            <a:tailEnd type="triangle" w="med" len="med"/>
          </a:ln>
        </p:spPr>
      </p:cxnSp>
      <p:cxnSp>
        <p:nvCxnSpPr>
          <p:cNvPr id="255" name="Google Shape;255;p15"/>
          <p:cNvCxnSpPr/>
          <p:nvPr/>
        </p:nvCxnSpPr>
        <p:spPr>
          <a:xfrm>
            <a:off x="5810948" y="5217979"/>
            <a:ext cx="0" cy="447905"/>
          </a:xfrm>
          <a:prstGeom prst="straightConnector1">
            <a:avLst/>
          </a:prstGeom>
          <a:noFill/>
          <a:ln w="9525" cap="flat" cmpd="sng">
            <a:solidFill>
              <a:srgbClr val="0C0C0C"/>
            </a:solidFill>
            <a:prstDash val="solid"/>
            <a:miter lim="800000"/>
            <a:headEnd type="none" w="sm" len="sm"/>
            <a:tailEnd type="triangle" w="med" len="med"/>
          </a:ln>
        </p:spPr>
      </p:cxnSp>
      <p:cxnSp>
        <p:nvCxnSpPr>
          <p:cNvPr id="256" name="Google Shape;256;p15"/>
          <p:cNvCxnSpPr>
            <a:endCxn id="253" idx="2"/>
          </p:cNvCxnSpPr>
          <p:nvPr/>
        </p:nvCxnSpPr>
        <p:spPr>
          <a:xfrm rot="10800000" flipH="1">
            <a:off x="4730855" y="6262541"/>
            <a:ext cx="614100" cy="295200"/>
          </a:xfrm>
          <a:prstGeom prst="straightConnector1">
            <a:avLst/>
          </a:prstGeom>
          <a:noFill/>
          <a:ln w="9525" cap="flat" cmpd="sng">
            <a:solidFill>
              <a:schemeClr val="dk1"/>
            </a:solidFill>
            <a:prstDash val="solid"/>
            <a:miter lim="800000"/>
            <a:headEnd type="none" w="sm" len="sm"/>
            <a:tailEnd type="triangle" w="med" len="med"/>
          </a:ln>
        </p:spPr>
      </p:cxnSp>
      <p:cxnSp>
        <p:nvCxnSpPr>
          <p:cNvPr id="257" name="Google Shape;257;p15"/>
          <p:cNvCxnSpPr>
            <a:stCxn id="242" idx="2"/>
          </p:cNvCxnSpPr>
          <p:nvPr/>
        </p:nvCxnSpPr>
        <p:spPr>
          <a:xfrm>
            <a:off x="1362489" y="6149419"/>
            <a:ext cx="114000" cy="351900"/>
          </a:xfrm>
          <a:prstGeom prst="straightConnector1">
            <a:avLst/>
          </a:prstGeom>
          <a:noFill/>
          <a:ln w="9525" cap="flat" cmpd="sng">
            <a:solidFill>
              <a:schemeClr val="dk1"/>
            </a:solidFill>
            <a:prstDash val="solid"/>
            <a:miter lim="800000"/>
            <a:headEnd type="none" w="sm" len="sm"/>
            <a:tailEnd type="none" w="sm" len="sm"/>
          </a:ln>
        </p:spPr>
      </p:cxnSp>
      <p:cxnSp>
        <p:nvCxnSpPr>
          <p:cNvPr id="258" name="Google Shape;258;p15"/>
          <p:cNvCxnSpPr/>
          <p:nvPr/>
        </p:nvCxnSpPr>
        <p:spPr>
          <a:xfrm>
            <a:off x="1476462" y="6501242"/>
            <a:ext cx="3254427" cy="56399"/>
          </a:xfrm>
          <a:prstGeom prst="straightConnector1">
            <a:avLst/>
          </a:prstGeom>
          <a:noFill/>
          <a:ln w="9525" cap="flat" cmpd="sng">
            <a:solidFill>
              <a:schemeClr val="dk1"/>
            </a:solidFill>
            <a:prstDash val="solid"/>
            <a:miter lim="800000"/>
            <a:headEnd type="none" w="sm" len="sm"/>
            <a:tailEnd type="none" w="sm" len="sm"/>
          </a:ln>
        </p:spPr>
      </p:cxnSp>
      <p:cxnSp>
        <p:nvCxnSpPr>
          <p:cNvPr id="259" name="Google Shape;259;p15"/>
          <p:cNvCxnSpPr/>
          <p:nvPr/>
        </p:nvCxnSpPr>
        <p:spPr>
          <a:xfrm>
            <a:off x="7564983" y="4968998"/>
            <a:ext cx="0" cy="356062"/>
          </a:xfrm>
          <a:prstGeom prst="straightConnector1">
            <a:avLst/>
          </a:prstGeom>
          <a:noFill/>
          <a:ln w="9525" cap="flat" cmpd="sng">
            <a:solidFill>
              <a:srgbClr val="0C0C0C"/>
            </a:solidFill>
            <a:prstDash val="solid"/>
            <a:miter lim="800000"/>
            <a:headEnd type="none" w="sm" len="sm"/>
            <a:tailEnd type="triangle" w="med" len="med"/>
          </a:ln>
        </p:spPr>
      </p:cxnSp>
      <p:sp>
        <p:nvSpPr>
          <p:cNvPr id="260" name="Google Shape;260;p15"/>
          <p:cNvSpPr/>
          <p:nvPr/>
        </p:nvSpPr>
        <p:spPr>
          <a:xfrm>
            <a:off x="6723715" y="5315899"/>
            <a:ext cx="1803863" cy="590202"/>
          </a:xfrm>
          <a:prstGeom prst="roundRect">
            <a:avLst>
              <a:gd name="adj" fmla="val 16667"/>
            </a:avLst>
          </a:prstGeom>
          <a:solidFill>
            <a:srgbClr val="F2F2F2"/>
          </a:solidFill>
          <a:ln w="127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Times New Roman"/>
                <a:ea typeface="Times New Roman"/>
                <a:cs typeface="Times New Roman"/>
                <a:sym typeface="Times New Roman"/>
              </a:rPr>
              <a:t>Print pattern</a:t>
            </a:r>
            <a:endParaRPr sz="1800">
              <a:solidFill>
                <a:schemeClr val="dk1"/>
              </a:solidFill>
              <a:latin typeface="Times New Roman"/>
              <a:ea typeface="Times New Roman"/>
              <a:cs typeface="Times New Roman"/>
              <a:sym typeface="Times New Roman"/>
            </a:endParaRPr>
          </a:p>
        </p:txBody>
      </p:sp>
      <p:sp>
        <p:nvSpPr>
          <p:cNvPr id="261" name="Google Shape;261;p15"/>
          <p:cNvSpPr/>
          <p:nvPr/>
        </p:nvSpPr>
        <p:spPr>
          <a:xfrm rot="-706008">
            <a:off x="6309546" y="5765918"/>
            <a:ext cx="377984" cy="243318"/>
          </a:xfrm>
          <a:prstGeom prst="leftRightArrow">
            <a:avLst>
              <a:gd name="adj1" fmla="val 50000"/>
              <a:gd name="adj2" fmla="val 50000"/>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 name="Google Shape;262;p15"/>
          <p:cNvSpPr txBox="1"/>
          <p:nvPr/>
        </p:nvSpPr>
        <p:spPr>
          <a:xfrm>
            <a:off x="6378363" y="5984262"/>
            <a:ext cx="192418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FF0000"/>
                </a:solidFill>
                <a:latin typeface="Calibri"/>
                <a:ea typeface="Calibri"/>
                <a:cs typeface="Calibri"/>
                <a:sym typeface="Calibri"/>
              </a:rPr>
              <a:t>Should be same pattern</a:t>
            </a:r>
            <a:endParaRPr sz="1400">
              <a:solidFill>
                <a:srgbClr val="FF0000"/>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9"/>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Practice time</a:t>
            </a:r>
            <a:endParaRPr/>
          </a:p>
        </p:txBody>
      </p:sp>
      <p:sp>
        <p:nvSpPr>
          <p:cNvPr id="295" name="Google Shape;295;p19"/>
          <p:cNvSpPr txBox="1">
            <a:spLocks noGrp="1"/>
          </p:cNvSpPr>
          <p:nvPr>
            <p:ph type="body" idx="1"/>
          </p:nvPr>
        </p:nvSpPr>
        <p:spPr>
          <a:xfrm>
            <a:off x="477795" y="1252152"/>
            <a:ext cx="8254313" cy="5094546"/>
          </a:xfrm>
          <a:prstGeom prst="rect">
            <a:avLst/>
          </a:prstGeom>
          <a:blipFill rotWithShape="1">
            <a:blip r:embed="rId3">
              <a:alphaModFix/>
            </a:blip>
            <a:stretch>
              <a:fillRect l="-664" t="-1195"/>
            </a:stretch>
          </a:blip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000"/>
              <a:buChar char="•"/>
            </a:pPr>
            <a:r>
              <a:rPr lang="en-US"/>
              <a:t> </a:t>
            </a:r>
            <a:endParaRPr/>
          </a:p>
        </p:txBody>
      </p:sp>
      <p:sp>
        <p:nvSpPr>
          <p:cNvPr id="296" name="Google Shape;296;p19"/>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
        <p:nvSpPr>
          <p:cNvPr id="297" name="Google Shape;297;p19"/>
          <p:cNvSpPr/>
          <p:nvPr/>
        </p:nvSpPr>
        <p:spPr>
          <a:xfrm>
            <a:off x="3374967" y="2252678"/>
            <a:ext cx="1945178" cy="3823855"/>
          </a:xfrm>
          <a:prstGeom prst="rect">
            <a:avLst/>
          </a:prstGeom>
          <a:solidFill>
            <a:srgbClr val="DDEAF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dk1"/>
                </a:solidFill>
                <a:latin typeface="Times New Roman"/>
                <a:ea typeface="Times New Roman"/>
                <a:cs typeface="Times New Roman"/>
                <a:sym typeface="Times New Roman"/>
              </a:rPr>
              <a:t>Block RAM</a:t>
            </a:r>
            <a:endParaRPr sz="2000">
              <a:solidFill>
                <a:schemeClr val="dk1"/>
              </a:solidFill>
              <a:latin typeface="Times New Roman"/>
              <a:ea typeface="Times New Roman"/>
              <a:cs typeface="Times New Roman"/>
              <a:sym typeface="Times New Roman"/>
            </a:endParaRPr>
          </a:p>
        </p:txBody>
      </p:sp>
      <p:sp>
        <p:nvSpPr>
          <p:cNvPr id="298" name="Google Shape;298;p19"/>
          <p:cNvSpPr txBox="1"/>
          <p:nvPr/>
        </p:nvSpPr>
        <p:spPr>
          <a:xfrm>
            <a:off x="1321209" y="2252678"/>
            <a:ext cx="116878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Data input</a:t>
            </a:r>
            <a:endParaRPr sz="1800">
              <a:solidFill>
                <a:schemeClr val="dk1"/>
              </a:solidFill>
              <a:latin typeface="Times New Roman"/>
              <a:ea typeface="Times New Roman"/>
              <a:cs typeface="Times New Roman"/>
              <a:sym typeface="Times New Roman"/>
            </a:endParaRPr>
          </a:p>
        </p:txBody>
      </p:sp>
      <p:cxnSp>
        <p:nvCxnSpPr>
          <p:cNvPr id="299" name="Google Shape;299;p19"/>
          <p:cNvCxnSpPr>
            <a:stCxn id="298" idx="3"/>
          </p:cNvCxnSpPr>
          <p:nvPr/>
        </p:nvCxnSpPr>
        <p:spPr>
          <a:xfrm rot="10800000" flipH="1">
            <a:off x="2489990" y="2435544"/>
            <a:ext cx="885000" cy="1800"/>
          </a:xfrm>
          <a:prstGeom prst="straightConnector1">
            <a:avLst/>
          </a:prstGeom>
          <a:noFill/>
          <a:ln w="19050" cap="flat" cmpd="sng">
            <a:solidFill>
              <a:schemeClr val="dk1"/>
            </a:solidFill>
            <a:prstDash val="solid"/>
            <a:miter lim="800000"/>
            <a:headEnd type="none" w="sm" len="sm"/>
            <a:tailEnd type="triangle" w="med" len="med"/>
          </a:ln>
        </p:spPr>
      </p:cxnSp>
      <p:sp>
        <p:nvSpPr>
          <p:cNvPr id="300" name="Google Shape;300;p19"/>
          <p:cNvSpPr/>
          <p:nvPr/>
        </p:nvSpPr>
        <p:spPr>
          <a:xfrm>
            <a:off x="2957416" y="2620224"/>
            <a:ext cx="365760" cy="3454523"/>
          </a:xfrm>
          <a:prstGeom prst="downArrow">
            <a:avLst>
              <a:gd name="adj1" fmla="val 26271"/>
              <a:gd name="adj2" fmla="val 50000"/>
            </a:avLst>
          </a:prstGeom>
          <a:noFill/>
          <a:ln w="127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1" name="Google Shape;301;p19"/>
          <p:cNvSpPr/>
          <p:nvPr/>
        </p:nvSpPr>
        <p:spPr>
          <a:xfrm rot="10800000">
            <a:off x="5371936" y="2252678"/>
            <a:ext cx="365760" cy="3454523"/>
          </a:xfrm>
          <a:prstGeom prst="downArrow">
            <a:avLst>
              <a:gd name="adj1" fmla="val 26271"/>
              <a:gd name="adj2" fmla="val 50000"/>
            </a:avLst>
          </a:prstGeom>
          <a:noFill/>
          <a:ln w="127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02" name="Google Shape;302;p19"/>
          <p:cNvCxnSpPr/>
          <p:nvPr/>
        </p:nvCxnSpPr>
        <p:spPr>
          <a:xfrm rot="10800000" flipH="1">
            <a:off x="5320145" y="5923299"/>
            <a:ext cx="884977" cy="1786"/>
          </a:xfrm>
          <a:prstGeom prst="straightConnector1">
            <a:avLst/>
          </a:prstGeom>
          <a:noFill/>
          <a:ln w="19050" cap="flat" cmpd="sng">
            <a:solidFill>
              <a:schemeClr val="dk1"/>
            </a:solidFill>
            <a:prstDash val="solid"/>
            <a:miter lim="800000"/>
            <a:headEnd type="none" w="sm" len="sm"/>
            <a:tailEnd type="triangle" w="med" len="med"/>
          </a:ln>
        </p:spPr>
      </p:cxnSp>
      <p:sp>
        <p:nvSpPr>
          <p:cNvPr id="303" name="Google Shape;303;p19"/>
          <p:cNvSpPr txBox="1"/>
          <p:nvPr/>
        </p:nvSpPr>
        <p:spPr>
          <a:xfrm>
            <a:off x="6194460" y="5738633"/>
            <a:ext cx="126829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Data output</a:t>
            </a:r>
            <a:endParaRPr sz="1800">
              <a:solidFill>
                <a:schemeClr val="dk1"/>
              </a:solidFill>
              <a:latin typeface="Times New Roman"/>
              <a:ea typeface="Times New Roman"/>
              <a:cs typeface="Times New Roman"/>
              <a:sym typeface="Times New Roman"/>
            </a:endParaRPr>
          </a:p>
        </p:txBody>
      </p:sp>
      <p:sp>
        <p:nvSpPr>
          <p:cNvPr id="304" name="Google Shape;304;p19"/>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305" name="Google Shape;305;p19"/>
          <p:cNvSpPr txBox="1"/>
          <p:nvPr/>
        </p:nvSpPr>
        <p:spPr>
          <a:xfrm>
            <a:off x="1907177" y="3918857"/>
            <a:ext cx="113383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Increasing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Addr</a:t>
            </a:r>
            <a:endParaRPr sz="1800">
              <a:solidFill>
                <a:schemeClr val="dk1"/>
              </a:solidFill>
              <a:latin typeface="Calibri"/>
              <a:ea typeface="Calibri"/>
              <a:cs typeface="Calibri"/>
              <a:sym typeface="Calibri"/>
            </a:endParaRPr>
          </a:p>
        </p:txBody>
      </p:sp>
      <p:sp>
        <p:nvSpPr>
          <p:cNvPr id="306" name="Google Shape;306;p19"/>
          <p:cNvSpPr txBox="1"/>
          <p:nvPr/>
        </p:nvSpPr>
        <p:spPr>
          <a:xfrm>
            <a:off x="5638203" y="3441657"/>
            <a:ext cx="121719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Decreasing</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Addr</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0"/>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Practice time</a:t>
            </a:r>
            <a:endParaRPr/>
          </a:p>
        </p:txBody>
      </p:sp>
      <p:sp>
        <p:nvSpPr>
          <p:cNvPr id="312" name="Google Shape;312;p20"/>
          <p:cNvSpPr txBox="1">
            <a:spLocks noGrp="1"/>
          </p:cNvSpPr>
          <p:nvPr>
            <p:ph type="body" idx="1"/>
          </p:nvPr>
        </p:nvSpPr>
        <p:spPr>
          <a:xfrm>
            <a:off x="477795" y="1252152"/>
            <a:ext cx="8254313" cy="509454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a:latin typeface="Times New Roman"/>
                <a:ea typeface="Times New Roman"/>
                <a:cs typeface="Times New Roman"/>
                <a:sym typeface="Times New Roman"/>
              </a:rPr>
              <a:t>Channel tester:</a:t>
            </a:r>
            <a:endParaRPr/>
          </a:p>
          <a:p>
            <a:pPr marL="685800" lvl="1" indent="-114300" algn="l" rtl="0">
              <a:lnSpc>
                <a:spcPct val="90000"/>
              </a:lnSpc>
              <a:spcBef>
                <a:spcPts val="500"/>
              </a:spcBef>
              <a:spcAft>
                <a:spcPts val="0"/>
              </a:spcAft>
              <a:buClr>
                <a:schemeClr val="dk1"/>
              </a:buClr>
              <a:buSzPts val="1800"/>
              <a:buNone/>
            </a:pPr>
            <a:endParaRPr>
              <a:latin typeface="Times New Roman"/>
              <a:ea typeface="Times New Roman"/>
              <a:cs typeface="Times New Roman"/>
              <a:sym typeface="Times New Roman"/>
            </a:endParaRPr>
          </a:p>
          <a:p>
            <a:pPr marL="228600" lvl="0" indent="-101600" algn="l" rtl="0">
              <a:lnSpc>
                <a:spcPct val="90000"/>
              </a:lnSpc>
              <a:spcBef>
                <a:spcPts val="1000"/>
              </a:spcBef>
              <a:spcAft>
                <a:spcPts val="0"/>
              </a:spcAft>
              <a:buClr>
                <a:schemeClr val="dk1"/>
              </a:buClr>
              <a:buSzPts val="2000"/>
              <a:buNone/>
            </a:pPr>
            <a:endParaRPr>
              <a:latin typeface="Times New Roman"/>
              <a:ea typeface="Times New Roman"/>
              <a:cs typeface="Times New Roman"/>
              <a:sym typeface="Times New Roman"/>
            </a:endParaRPr>
          </a:p>
          <a:p>
            <a:pPr marL="228600" lvl="0" indent="-101600" algn="l" rtl="0">
              <a:lnSpc>
                <a:spcPct val="90000"/>
              </a:lnSpc>
              <a:spcBef>
                <a:spcPts val="1000"/>
              </a:spcBef>
              <a:spcAft>
                <a:spcPts val="0"/>
              </a:spcAft>
              <a:buClr>
                <a:schemeClr val="dk1"/>
              </a:buClr>
              <a:buSzPts val="2000"/>
              <a:buNone/>
            </a:pPr>
            <a:endParaRPr>
              <a:latin typeface="Times New Roman"/>
              <a:ea typeface="Times New Roman"/>
              <a:cs typeface="Times New Roman"/>
              <a:sym typeface="Times New Roman"/>
            </a:endParaRPr>
          </a:p>
        </p:txBody>
      </p:sp>
      <p:sp>
        <p:nvSpPr>
          <p:cNvPr id="313" name="Google Shape;313;p20"/>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pic>
        <p:nvPicPr>
          <p:cNvPr id="314" name="Google Shape;314;p20"/>
          <p:cNvPicPr preferRelativeResize="0"/>
          <p:nvPr/>
        </p:nvPicPr>
        <p:blipFill rotWithShape="1">
          <a:blip r:embed="rId3">
            <a:alphaModFix/>
          </a:blip>
          <a:srcRect/>
          <a:stretch/>
        </p:blipFill>
        <p:spPr>
          <a:xfrm>
            <a:off x="2931566" y="1252152"/>
            <a:ext cx="4702041" cy="1475238"/>
          </a:xfrm>
          <a:prstGeom prst="rect">
            <a:avLst/>
          </a:prstGeom>
          <a:noFill/>
          <a:ln>
            <a:noFill/>
          </a:ln>
        </p:spPr>
      </p:pic>
      <p:pic>
        <p:nvPicPr>
          <p:cNvPr id="315" name="Google Shape;315;p20"/>
          <p:cNvPicPr preferRelativeResize="0"/>
          <p:nvPr/>
        </p:nvPicPr>
        <p:blipFill rotWithShape="1">
          <a:blip r:embed="rId4">
            <a:alphaModFix/>
          </a:blip>
          <a:srcRect/>
          <a:stretch/>
        </p:blipFill>
        <p:spPr>
          <a:xfrm>
            <a:off x="477795" y="2822985"/>
            <a:ext cx="4411362" cy="2654782"/>
          </a:xfrm>
          <a:prstGeom prst="rect">
            <a:avLst/>
          </a:prstGeom>
          <a:noFill/>
          <a:ln>
            <a:noFill/>
          </a:ln>
        </p:spPr>
      </p:pic>
      <p:pic>
        <p:nvPicPr>
          <p:cNvPr id="316" name="Google Shape;316;p20"/>
          <p:cNvPicPr preferRelativeResize="0"/>
          <p:nvPr/>
        </p:nvPicPr>
        <p:blipFill rotWithShape="1">
          <a:blip r:embed="rId5">
            <a:alphaModFix/>
          </a:blip>
          <a:srcRect/>
          <a:stretch/>
        </p:blipFill>
        <p:spPr>
          <a:xfrm>
            <a:off x="4952044" y="2822985"/>
            <a:ext cx="3780064" cy="1996264"/>
          </a:xfrm>
          <a:prstGeom prst="rect">
            <a:avLst/>
          </a:prstGeom>
          <a:noFill/>
          <a:ln>
            <a:noFill/>
          </a:ln>
        </p:spPr>
      </p:pic>
      <p:pic>
        <p:nvPicPr>
          <p:cNvPr id="317" name="Google Shape;317;p20"/>
          <p:cNvPicPr preferRelativeResize="0"/>
          <p:nvPr/>
        </p:nvPicPr>
        <p:blipFill rotWithShape="1">
          <a:blip r:embed="rId6">
            <a:alphaModFix/>
          </a:blip>
          <a:srcRect/>
          <a:stretch/>
        </p:blipFill>
        <p:spPr>
          <a:xfrm>
            <a:off x="4952044" y="4999645"/>
            <a:ext cx="1955590" cy="1442648"/>
          </a:xfrm>
          <a:prstGeom prst="rect">
            <a:avLst/>
          </a:prstGeom>
          <a:noFill/>
          <a:ln w="9525" cap="flat" cmpd="sng">
            <a:solidFill>
              <a:schemeClr val="dk1"/>
            </a:solidFill>
            <a:prstDash val="solid"/>
            <a:round/>
            <a:headEnd type="none" w="sm" len="sm"/>
            <a:tailEnd type="none" w="sm" len="sm"/>
          </a:ln>
        </p:spPr>
      </p:pic>
      <p:sp>
        <p:nvSpPr>
          <p:cNvPr id="318" name="Google Shape;318;p20"/>
          <p:cNvSpPr txBox="1"/>
          <p:nvPr/>
        </p:nvSpPr>
        <p:spPr>
          <a:xfrm>
            <a:off x="7431585" y="5551692"/>
            <a:ext cx="144623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Times New Roman"/>
                <a:ea typeface="Times New Roman"/>
                <a:cs typeface="Times New Roman"/>
                <a:sym typeface="Times New Roman"/>
              </a:rPr>
              <a:t>Plugged design</a:t>
            </a:r>
            <a:endParaRPr sz="1600">
              <a:solidFill>
                <a:schemeClr val="dk1"/>
              </a:solidFill>
              <a:latin typeface="Times New Roman"/>
              <a:ea typeface="Times New Roman"/>
              <a:cs typeface="Times New Roman"/>
              <a:sym typeface="Times New Roman"/>
            </a:endParaRPr>
          </a:p>
        </p:txBody>
      </p:sp>
      <p:sp>
        <p:nvSpPr>
          <p:cNvPr id="319" name="Google Shape;319;p20"/>
          <p:cNvSpPr/>
          <p:nvPr/>
        </p:nvSpPr>
        <p:spPr>
          <a:xfrm rot="10800000">
            <a:off x="6970521" y="5643305"/>
            <a:ext cx="436891" cy="155328"/>
          </a:xfrm>
          <a:prstGeom prst="rightArrow">
            <a:avLst>
              <a:gd name="adj1" fmla="val 50000"/>
              <a:gd name="adj2" fmla="val 50000"/>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0" name="Google Shape;320;p20"/>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21"/>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Practice time</a:t>
            </a:r>
            <a:endParaRPr/>
          </a:p>
        </p:txBody>
      </p:sp>
      <p:sp>
        <p:nvSpPr>
          <p:cNvPr id="326" name="Google Shape;326;p21"/>
          <p:cNvSpPr txBox="1">
            <a:spLocks noGrp="1"/>
          </p:cNvSpPr>
          <p:nvPr>
            <p:ph type="body" idx="1"/>
          </p:nvPr>
        </p:nvSpPr>
        <p:spPr>
          <a:xfrm>
            <a:off x="477795" y="1252152"/>
            <a:ext cx="4094205" cy="509454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a:latin typeface="Times New Roman"/>
                <a:ea typeface="Times New Roman"/>
                <a:cs typeface="Times New Roman"/>
                <a:sym typeface="Times New Roman"/>
              </a:rPr>
              <a:t>Inferred dual port Block RAM:</a:t>
            </a:r>
            <a:endParaRPr/>
          </a:p>
          <a:p>
            <a:pPr marL="228600" lvl="0" indent="-101600" algn="l" rtl="0">
              <a:lnSpc>
                <a:spcPct val="90000"/>
              </a:lnSpc>
              <a:spcBef>
                <a:spcPts val="1000"/>
              </a:spcBef>
              <a:spcAft>
                <a:spcPts val="0"/>
              </a:spcAft>
              <a:buClr>
                <a:schemeClr val="dk1"/>
              </a:buClr>
              <a:buSzPts val="2000"/>
              <a:buNone/>
            </a:pPr>
            <a:endParaRPr>
              <a:latin typeface="Times New Roman"/>
              <a:ea typeface="Times New Roman"/>
              <a:cs typeface="Times New Roman"/>
              <a:sym typeface="Times New Roman"/>
            </a:endParaRPr>
          </a:p>
          <a:p>
            <a:pPr marL="228600" lvl="0" indent="-101600" algn="l" rtl="0">
              <a:lnSpc>
                <a:spcPct val="90000"/>
              </a:lnSpc>
              <a:spcBef>
                <a:spcPts val="1000"/>
              </a:spcBef>
              <a:spcAft>
                <a:spcPts val="0"/>
              </a:spcAft>
              <a:buClr>
                <a:schemeClr val="dk1"/>
              </a:buClr>
              <a:buSzPts val="2000"/>
              <a:buNone/>
            </a:pPr>
            <a:endParaRPr>
              <a:latin typeface="Times New Roman"/>
              <a:ea typeface="Times New Roman"/>
              <a:cs typeface="Times New Roman"/>
              <a:sym typeface="Times New Roman"/>
            </a:endParaRPr>
          </a:p>
        </p:txBody>
      </p:sp>
      <p:sp>
        <p:nvSpPr>
          <p:cNvPr id="327" name="Google Shape;327;p21"/>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pic>
        <p:nvPicPr>
          <p:cNvPr id="328" name="Google Shape;328;p21"/>
          <p:cNvPicPr preferRelativeResize="0"/>
          <p:nvPr/>
        </p:nvPicPr>
        <p:blipFill rotWithShape="1">
          <a:blip r:embed="rId3">
            <a:alphaModFix/>
          </a:blip>
          <a:srcRect/>
          <a:stretch/>
        </p:blipFill>
        <p:spPr>
          <a:xfrm>
            <a:off x="897132" y="1764414"/>
            <a:ext cx="3797332" cy="4582284"/>
          </a:xfrm>
          <a:prstGeom prst="rect">
            <a:avLst/>
          </a:prstGeom>
          <a:noFill/>
          <a:ln>
            <a:noFill/>
          </a:ln>
        </p:spPr>
      </p:pic>
      <p:sp>
        <p:nvSpPr>
          <p:cNvPr id="329" name="Google Shape;329;p21"/>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330" name="Google Shape;330;p21"/>
          <p:cNvSpPr txBox="1"/>
          <p:nvPr/>
        </p:nvSpPr>
        <p:spPr>
          <a:xfrm>
            <a:off x="4694464" y="1252152"/>
            <a:ext cx="4234522" cy="5094546"/>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2000"/>
              <a:buFont typeface="Arial"/>
              <a:buChar char="•"/>
            </a:pPr>
            <a:r>
              <a:rPr lang="en-US" sz="2000" dirty="0">
                <a:solidFill>
                  <a:schemeClr val="dk1"/>
                </a:solidFill>
                <a:latin typeface="Times New Roman"/>
                <a:ea typeface="Times New Roman"/>
                <a:cs typeface="Times New Roman"/>
                <a:sym typeface="Times New Roman"/>
              </a:rPr>
              <a:t>Tips</a:t>
            </a:r>
            <a:endParaRPr dirty="0"/>
          </a:p>
          <a:p>
            <a:pPr marL="685800" marR="0" lvl="1" indent="-228600" algn="l" rtl="0">
              <a:lnSpc>
                <a:spcPct val="90000"/>
              </a:lnSpc>
              <a:spcBef>
                <a:spcPts val="500"/>
              </a:spcBef>
              <a:spcAft>
                <a:spcPts val="0"/>
              </a:spcAft>
              <a:buClr>
                <a:schemeClr val="dk1"/>
              </a:buClr>
              <a:buSzPts val="1800"/>
              <a:buFont typeface="Calibri"/>
              <a:buChar char="˗"/>
            </a:pPr>
            <a:r>
              <a:rPr lang="en-US" sz="1800" b="0" i="0" u="none" strike="noStrike" cap="none" dirty="0">
                <a:solidFill>
                  <a:schemeClr val="dk1"/>
                </a:solidFill>
                <a:latin typeface="Times New Roman"/>
                <a:ea typeface="Times New Roman"/>
                <a:cs typeface="Times New Roman"/>
                <a:sym typeface="Times New Roman"/>
              </a:rPr>
              <a:t>Generate template memory file</a:t>
            </a:r>
            <a:endParaRPr dirty="0"/>
          </a:p>
          <a:p>
            <a:pPr marL="685800" marR="0" lvl="1" indent="-228600" algn="l" rtl="0">
              <a:lnSpc>
                <a:spcPct val="90000"/>
              </a:lnSpc>
              <a:spcBef>
                <a:spcPts val="500"/>
              </a:spcBef>
              <a:spcAft>
                <a:spcPts val="0"/>
              </a:spcAft>
              <a:buClr>
                <a:schemeClr val="dk1"/>
              </a:buClr>
              <a:buSzPts val="1800"/>
              <a:buFont typeface="Calibri"/>
              <a:buChar char="˗"/>
            </a:pPr>
            <a:r>
              <a:rPr lang="en-US" sz="1800" b="0" i="0" u="none" strike="noStrike" cap="none" dirty="0">
                <a:solidFill>
                  <a:schemeClr val="dk1"/>
                </a:solidFill>
                <a:latin typeface="Times New Roman"/>
                <a:ea typeface="Times New Roman"/>
                <a:cs typeface="Times New Roman"/>
                <a:sym typeface="Times New Roman"/>
              </a:rPr>
              <a:t>Quartus </a:t>
            </a:r>
            <a:r>
              <a:rPr lang="en-US" sz="1800" b="0" i="0" u="none" strike="noStrike" cap="none" dirty="0">
                <a:solidFill>
                  <a:schemeClr val="dk1"/>
                </a:solidFill>
                <a:latin typeface="Times New Roman"/>
                <a:ea typeface="Times New Roman"/>
                <a:cs typeface="Times New Roman"/>
                <a:sym typeface="Wingdings" panose="05000000000000000000" pitchFamily="2" charset="2"/>
              </a:rPr>
              <a:t></a:t>
            </a:r>
            <a:r>
              <a:rPr lang="en-US" sz="1800" b="0" i="0" u="none" strike="noStrike" cap="none" dirty="0">
                <a:solidFill>
                  <a:schemeClr val="dk1"/>
                </a:solidFill>
                <a:latin typeface="Times New Roman"/>
                <a:ea typeface="Times New Roman"/>
                <a:cs typeface="Times New Roman"/>
                <a:sym typeface="Times New Roman"/>
              </a:rPr>
              <a:t> File </a:t>
            </a:r>
            <a:r>
              <a:rPr lang="en-US" sz="1800" b="0" i="0" u="none" strike="noStrike" cap="none" dirty="0">
                <a:solidFill>
                  <a:schemeClr val="dk1"/>
                </a:solidFill>
                <a:latin typeface="Times New Roman"/>
                <a:ea typeface="Times New Roman"/>
                <a:cs typeface="Times New Roman"/>
                <a:sym typeface="Wingdings" panose="05000000000000000000" pitchFamily="2" charset="2"/>
              </a:rPr>
              <a:t></a:t>
            </a:r>
            <a:r>
              <a:rPr lang="en-US" sz="1800" b="0" i="0" u="none" strike="noStrike" cap="none" dirty="0">
                <a:solidFill>
                  <a:schemeClr val="dk1"/>
                </a:solidFill>
                <a:latin typeface="Times New Roman"/>
                <a:ea typeface="Times New Roman"/>
                <a:cs typeface="Times New Roman"/>
                <a:sym typeface="Times New Roman"/>
              </a:rPr>
              <a:t> New file </a:t>
            </a:r>
            <a:r>
              <a:rPr lang="en-US" sz="1800" b="0" i="0" u="none" strike="noStrike" cap="none" dirty="0">
                <a:solidFill>
                  <a:schemeClr val="dk1"/>
                </a:solidFill>
                <a:latin typeface="Times New Roman"/>
                <a:ea typeface="Times New Roman"/>
                <a:cs typeface="Times New Roman"/>
                <a:sym typeface="Wingdings" panose="05000000000000000000" pitchFamily="2" charset="2"/>
              </a:rPr>
              <a:t></a:t>
            </a:r>
            <a:r>
              <a:rPr lang="en-US" sz="1800" b="0" i="0" u="none" strike="noStrike" cap="none" dirty="0">
                <a:solidFill>
                  <a:schemeClr val="dk1"/>
                </a:solidFill>
                <a:latin typeface="Times New Roman"/>
                <a:ea typeface="Times New Roman"/>
                <a:cs typeface="Times New Roman"/>
                <a:sym typeface="Times New Roman"/>
              </a:rPr>
              <a:t> Verilog HDL file</a:t>
            </a:r>
            <a:endParaRPr dirty="0"/>
          </a:p>
          <a:p>
            <a:pPr marL="685800" marR="0" lvl="1" indent="-114300" algn="l" rtl="0">
              <a:lnSpc>
                <a:spcPct val="90000"/>
              </a:lnSpc>
              <a:spcBef>
                <a:spcPts val="500"/>
              </a:spcBef>
              <a:spcAft>
                <a:spcPts val="0"/>
              </a:spcAft>
              <a:buClr>
                <a:schemeClr val="dk1"/>
              </a:buClr>
              <a:buSzPts val="1800"/>
              <a:buFont typeface="Calibri"/>
              <a:buNone/>
            </a:pPr>
            <a:endParaRPr sz="1800" b="0" i="0" u="none" strike="noStrike" cap="none" dirty="0">
              <a:solidFill>
                <a:schemeClr val="dk1"/>
              </a:solidFill>
              <a:latin typeface="Times New Roman"/>
              <a:ea typeface="Times New Roman"/>
              <a:cs typeface="Times New Roman"/>
              <a:sym typeface="Times New Roman"/>
            </a:endParaRPr>
          </a:p>
          <a:p>
            <a:pPr marL="685800" marR="0" lvl="1" indent="-114300" algn="l" rtl="0">
              <a:lnSpc>
                <a:spcPct val="90000"/>
              </a:lnSpc>
              <a:spcBef>
                <a:spcPts val="500"/>
              </a:spcBef>
              <a:spcAft>
                <a:spcPts val="0"/>
              </a:spcAft>
              <a:buClr>
                <a:schemeClr val="dk1"/>
              </a:buClr>
              <a:buSzPts val="1800"/>
              <a:buFont typeface="Calibri"/>
              <a:buNone/>
            </a:pPr>
            <a:endParaRPr sz="1800" b="0" i="0" u="none" strike="noStrike" cap="none" dirty="0">
              <a:solidFill>
                <a:schemeClr val="dk1"/>
              </a:solidFill>
              <a:latin typeface="Times New Roman"/>
              <a:ea typeface="Times New Roman"/>
              <a:cs typeface="Times New Roman"/>
              <a:sym typeface="Times New Roman"/>
            </a:endParaRPr>
          </a:p>
          <a:p>
            <a:pPr marL="685800" marR="0" lvl="1" indent="-228600" algn="l" rtl="0">
              <a:lnSpc>
                <a:spcPct val="90000"/>
              </a:lnSpc>
              <a:spcBef>
                <a:spcPts val="500"/>
              </a:spcBef>
              <a:spcAft>
                <a:spcPts val="0"/>
              </a:spcAft>
              <a:buClr>
                <a:schemeClr val="dk1"/>
              </a:buClr>
              <a:buSzPts val="1800"/>
              <a:buFont typeface="Calibri"/>
              <a:buChar char="˗"/>
            </a:pPr>
            <a:r>
              <a:rPr lang="en-US" sz="1800" b="0" i="0" u="none" strike="noStrike" cap="none" dirty="0">
                <a:solidFill>
                  <a:schemeClr val="dk1"/>
                </a:solidFill>
                <a:latin typeface="Times New Roman"/>
                <a:ea typeface="Times New Roman"/>
                <a:cs typeface="Times New Roman"/>
                <a:sym typeface="Times New Roman"/>
              </a:rPr>
              <a:t>Insert template</a:t>
            </a:r>
            <a:endParaRPr dirty="0"/>
          </a:p>
          <a:p>
            <a:pPr marL="1143000" marR="0" lvl="2" indent="-228600" algn="l" rtl="0">
              <a:lnSpc>
                <a:spcPct val="90000"/>
              </a:lnSpc>
              <a:spcBef>
                <a:spcPts val="500"/>
              </a:spcBef>
              <a:spcAft>
                <a:spcPts val="0"/>
              </a:spcAft>
              <a:buClr>
                <a:schemeClr val="dk1"/>
              </a:buClr>
              <a:buSzPts val="1600"/>
              <a:buFont typeface="Calibri"/>
              <a:buChar char="˗"/>
            </a:pPr>
            <a:r>
              <a:rPr lang="en-US" sz="1600" b="0" i="0" u="none" strike="noStrike" cap="none" dirty="0">
                <a:solidFill>
                  <a:schemeClr val="dk1"/>
                </a:solidFill>
                <a:latin typeface="Times New Roman"/>
                <a:ea typeface="Times New Roman"/>
                <a:cs typeface="Times New Roman"/>
                <a:sym typeface="Times New Roman"/>
              </a:rPr>
              <a:t>Verilog HDL</a:t>
            </a:r>
            <a:endParaRPr dirty="0"/>
          </a:p>
          <a:p>
            <a:pPr marL="1600200" marR="0" lvl="3" indent="-228600" algn="l" rtl="0">
              <a:lnSpc>
                <a:spcPct val="90000"/>
              </a:lnSpc>
              <a:spcBef>
                <a:spcPts val="500"/>
              </a:spcBef>
              <a:spcAft>
                <a:spcPts val="0"/>
              </a:spcAft>
              <a:buClr>
                <a:schemeClr val="dk1"/>
              </a:buClr>
              <a:buSzPts val="1400"/>
              <a:buFont typeface="Calibri"/>
              <a:buChar char="˗"/>
            </a:pPr>
            <a:r>
              <a:rPr lang="en-US" sz="1400" b="0" i="0" u="none" strike="noStrike" cap="none" dirty="0">
                <a:solidFill>
                  <a:schemeClr val="dk1"/>
                </a:solidFill>
                <a:latin typeface="Times New Roman"/>
                <a:ea typeface="Times New Roman"/>
                <a:cs typeface="Times New Roman"/>
                <a:sym typeface="Times New Roman"/>
              </a:rPr>
              <a:t>There are lots of template to use</a:t>
            </a:r>
            <a:endParaRPr dirty="0"/>
          </a:p>
          <a:p>
            <a:pPr marL="1600200" marR="0" lvl="3" indent="-228600" algn="l" rtl="0">
              <a:lnSpc>
                <a:spcPct val="90000"/>
              </a:lnSpc>
              <a:spcBef>
                <a:spcPts val="500"/>
              </a:spcBef>
              <a:spcAft>
                <a:spcPts val="0"/>
              </a:spcAft>
              <a:buClr>
                <a:schemeClr val="dk1"/>
              </a:buClr>
              <a:buSzPts val="1400"/>
              <a:buFont typeface="Calibri"/>
              <a:buChar char="˗"/>
            </a:pPr>
            <a:r>
              <a:rPr lang="en-US" sz="1400" b="0" i="0" u="none" strike="noStrike" cap="none" dirty="0">
                <a:solidFill>
                  <a:schemeClr val="dk1"/>
                </a:solidFill>
                <a:latin typeface="Times New Roman"/>
                <a:ea typeface="Times New Roman"/>
                <a:cs typeface="Times New Roman"/>
                <a:sym typeface="Times New Roman"/>
              </a:rPr>
              <a:t>Select the RAM by your own</a:t>
            </a:r>
            <a:endParaRPr dirty="0"/>
          </a:p>
          <a:p>
            <a:pPr marL="685800" marR="0" lvl="1" indent="-114300" algn="l" rtl="0">
              <a:lnSpc>
                <a:spcPct val="90000"/>
              </a:lnSpc>
              <a:spcBef>
                <a:spcPts val="500"/>
              </a:spcBef>
              <a:spcAft>
                <a:spcPts val="0"/>
              </a:spcAft>
              <a:buClr>
                <a:schemeClr val="dk1"/>
              </a:buClr>
              <a:buSzPts val="1800"/>
              <a:buFont typeface="Calibri"/>
              <a:buNone/>
            </a:pPr>
            <a:endParaRPr sz="1800" b="0" i="0" u="none" strike="noStrike" cap="none" dirty="0">
              <a:solidFill>
                <a:schemeClr val="dk1"/>
              </a:solidFill>
              <a:latin typeface="Times New Roman"/>
              <a:ea typeface="Times New Roman"/>
              <a:cs typeface="Times New Roman"/>
              <a:sym typeface="Times New Roman"/>
            </a:endParaRPr>
          </a:p>
          <a:p>
            <a:pPr marL="228600" marR="0" lvl="0" indent="-101600" algn="l" rtl="0">
              <a:lnSpc>
                <a:spcPct val="90000"/>
              </a:lnSpc>
              <a:spcBef>
                <a:spcPts val="1000"/>
              </a:spcBef>
              <a:spcAft>
                <a:spcPts val="0"/>
              </a:spcAft>
              <a:buClr>
                <a:schemeClr val="dk1"/>
              </a:buClr>
              <a:buSzPts val="2000"/>
              <a:buFont typeface="Arial"/>
              <a:buNone/>
            </a:pPr>
            <a:endParaRPr sz="2000" dirty="0">
              <a:solidFill>
                <a:schemeClr val="dk1"/>
              </a:solidFill>
              <a:latin typeface="Times New Roman"/>
              <a:ea typeface="Times New Roman"/>
              <a:cs typeface="Times New Roman"/>
              <a:sym typeface="Times New Roman"/>
            </a:endParaRPr>
          </a:p>
        </p:txBody>
      </p:sp>
      <p:pic>
        <p:nvPicPr>
          <p:cNvPr id="331" name="Google Shape;331;p21"/>
          <p:cNvPicPr preferRelativeResize="0"/>
          <p:nvPr/>
        </p:nvPicPr>
        <p:blipFill rotWithShape="1">
          <a:blip r:embed="rId4">
            <a:alphaModFix/>
          </a:blip>
          <a:srcRect/>
          <a:stretch/>
        </p:blipFill>
        <p:spPr>
          <a:xfrm>
            <a:off x="4816927" y="2469571"/>
            <a:ext cx="4112059" cy="483179"/>
          </a:xfrm>
          <a:prstGeom prst="rect">
            <a:avLst/>
          </a:prstGeom>
          <a:noFill/>
          <a:ln>
            <a:noFill/>
          </a:ln>
        </p:spPr>
      </p:pic>
      <p:sp>
        <p:nvSpPr>
          <p:cNvPr id="332" name="Google Shape;332;p21"/>
          <p:cNvSpPr/>
          <p:nvPr/>
        </p:nvSpPr>
        <p:spPr>
          <a:xfrm>
            <a:off x="7105650" y="2686050"/>
            <a:ext cx="285750" cy="266700"/>
          </a:xfrm>
          <a:prstGeom prst="rect">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2"/>
          <p:cNvSpPr txBox="1">
            <a:spLocks noGrp="1"/>
          </p:cNvSpPr>
          <p:nvPr>
            <p:ph type="body" idx="1"/>
          </p:nvPr>
        </p:nvSpPr>
        <p:spPr>
          <a:xfrm>
            <a:off x="477795" y="1252152"/>
            <a:ext cx="8254313" cy="509454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dirty="0">
                <a:latin typeface="Times New Roman"/>
                <a:ea typeface="Times New Roman"/>
                <a:cs typeface="Times New Roman"/>
                <a:sym typeface="Times New Roman"/>
              </a:rPr>
              <a:t>1. Download sample code:</a:t>
            </a:r>
            <a:endParaRPr dirty="0"/>
          </a:p>
          <a:p>
            <a:pPr marL="457200" lvl="0" indent="-330200" algn="l" rtl="0">
              <a:lnSpc>
                <a:spcPct val="90000"/>
              </a:lnSpc>
              <a:spcBef>
                <a:spcPts val="1000"/>
              </a:spcBef>
              <a:spcAft>
                <a:spcPts val="0"/>
              </a:spcAft>
              <a:buClr>
                <a:schemeClr val="dk1"/>
              </a:buClr>
              <a:buSzPts val="2000"/>
              <a:buFont typeface="Calibri"/>
              <a:buNone/>
            </a:pPr>
            <a:endParaRPr dirty="0">
              <a:latin typeface="Times New Roman"/>
              <a:ea typeface="Times New Roman"/>
              <a:cs typeface="Times New Roman"/>
              <a:sym typeface="Times New Roman"/>
            </a:endParaRPr>
          </a:p>
          <a:p>
            <a:pPr marL="457200" lvl="0" indent="-330200" algn="l" rtl="0">
              <a:lnSpc>
                <a:spcPct val="90000"/>
              </a:lnSpc>
              <a:spcBef>
                <a:spcPts val="1000"/>
              </a:spcBef>
              <a:spcAft>
                <a:spcPts val="0"/>
              </a:spcAft>
              <a:buClr>
                <a:schemeClr val="dk1"/>
              </a:buClr>
              <a:buSzPts val="2000"/>
              <a:buFont typeface="Calibri"/>
              <a:buNone/>
            </a:pPr>
            <a:endParaRPr dirty="0">
              <a:latin typeface="Times New Roman"/>
              <a:ea typeface="Times New Roman"/>
              <a:cs typeface="Times New Roman"/>
              <a:sym typeface="Times New Roman"/>
            </a:endParaRPr>
          </a:p>
          <a:p>
            <a:pPr marL="457200" lvl="0" indent="-330200" algn="l" rtl="0">
              <a:lnSpc>
                <a:spcPct val="90000"/>
              </a:lnSpc>
              <a:spcBef>
                <a:spcPts val="1000"/>
              </a:spcBef>
              <a:spcAft>
                <a:spcPts val="0"/>
              </a:spcAft>
              <a:buClr>
                <a:schemeClr val="dk1"/>
              </a:buClr>
              <a:buSzPts val="2000"/>
              <a:buFont typeface="Calibri"/>
              <a:buNone/>
            </a:pPr>
            <a:endParaRPr dirty="0">
              <a:latin typeface="Times New Roman"/>
              <a:ea typeface="Times New Roman"/>
              <a:cs typeface="Times New Roman"/>
              <a:sym typeface="Times New Roman"/>
            </a:endParaRPr>
          </a:p>
          <a:p>
            <a:pPr marL="457200" lvl="0" indent="-330200" algn="l" rtl="0">
              <a:lnSpc>
                <a:spcPct val="90000"/>
              </a:lnSpc>
              <a:spcBef>
                <a:spcPts val="1000"/>
              </a:spcBef>
              <a:spcAft>
                <a:spcPts val="0"/>
              </a:spcAft>
              <a:buClr>
                <a:schemeClr val="dk1"/>
              </a:buClr>
              <a:buSzPts val="2000"/>
              <a:buFont typeface="Calibri"/>
              <a:buNone/>
            </a:pPr>
            <a:endParaRPr dirty="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000"/>
              <a:buNone/>
            </a:pPr>
            <a:r>
              <a:rPr lang="en-US" dirty="0">
                <a:latin typeface="Times New Roman"/>
                <a:ea typeface="Times New Roman"/>
                <a:cs typeface="Times New Roman"/>
                <a:sym typeface="Times New Roman"/>
              </a:rPr>
              <a:t>2. Generate pattern from </a:t>
            </a:r>
            <a:r>
              <a:rPr lang="en-US" dirty="0">
                <a:solidFill>
                  <a:srgbClr val="FF0000"/>
                </a:solidFill>
                <a:latin typeface="Times New Roman"/>
                <a:ea typeface="Times New Roman"/>
                <a:cs typeface="Times New Roman"/>
                <a:sym typeface="Times New Roman"/>
              </a:rPr>
              <a:t>bram_wrapper.m</a:t>
            </a:r>
            <a:r>
              <a:rPr lang="en-US" dirty="0">
                <a:latin typeface="Times New Roman"/>
                <a:ea typeface="Times New Roman"/>
                <a:cs typeface="Times New Roman"/>
                <a:sym typeface="Times New Roman"/>
              </a:rPr>
              <a:t> (done)</a:t>
            </a:r>
            <a:endParaRPr dirty="0"/>
          </a:p>
          <a:p>
            <a:pPr marL="0" lvl="0" indent="0" algn="l" rtl="0">
              <a:lnSpc>
                <a:spcPct val="90000"/>
              </a:lnSpc>
              <a:spcBef>
                <a:spcPts val="1000"/>
              </a:spcBef>
              <a:spcAft>
                <a:spcPts val="0"/>
              </a:spcAft>
              <a:buClr>
                <a:schemeClr val="dk1"/>
              </a:buClr>
              <a:buSzPts val="2000"/>
              <a:buNone/>
            </a:pPr>
            <a:r>
              <a:rPr lang="en-US" dirty="0">
                <a:latin typeface="Times New Roman"/>
                <a:ea typeface="Times New Roman"/>
                <a:cs typeface="Times New Roman"/>
                <a:sym typeface="Times New Roman"/>
              </a:rPr>
              <a:t>3. Check design</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Only need bram_wrapper.v in.dat out.dat tb_bram.v for simulation</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Source file: </a:t>
            </a:r>
            <a:r>
              <a:rPr lang="en-US" dirty="0">
                <a:solidFill>
                  <a:srgbClr val="FF0000"/>
                </a:solidFill>
                <a:latin typeface="Times New Roman"/>
                <a:ea typeface="Times New Roman"/>
                <a:cs typeface="Times New Roman"/>
                <a:sym typeface="Times New Roman"/>
              </a:rPr>
              <a:t>source /cad/</a:t>
            </a:r>
            <a:r>
              <a:rPr lang="en-US" dirty="0" err="1">
                <a:solidFill>
                  <a:srgbClr val="FF0000"/>
                </a:solidFill>
                <a:latin typeface="Times New Roman"/>
                <a:ea typeface="Times New Roman"/>
                <a:cs typeface="Times New Roman"/>
                <a:sym typeface="Times New Roman"/>
              </a:rPr>
              <a:t>source.cshrc</a:t>
            </a:r>
            <a:endParaRPr dirty="0">
              <a:solidFill>
                <a:srgbClr val="FF0000"/>
              </a:solidFill>
              <a:latin typeface="Times New Roman"/>
              <a:ea typeface="Times New Roman"/>
              <a:cs typeface="Times New Roman"/>
              <a:sym typeface="Times New Roman"/>
            </a:endParaRPr>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For design: </a:t>
            </a:r>
            <a:r>
              <a:rPr lang="en-US" dirty="0">
                <a:solidFill>
                  <a:srgbClr val="FF0000"/>
                </a:solidFill>
                <a:latin typeface="Times New Roman"/>
                <a:ea typeface="Times New Roman"/>
                <a:cs typeface="Times New Roman"/>
                <a:sym typeface="Times New Roman"/>
              </a:rPr>
              <a:t>ncverilog tb_bram.v bram_wrapper.v +access+r</a:t>
            </a:r>
            <a:endParaRPr dirty="0">
              <a:solidFill>
                <a:srgbClr val="FF0000"/>
              </a:solidFill>
              <a:latin typeface="Times New Roman"/>
              <a:ea typeface="Times New Roman"/>
              <a:cs typeface="Times New Roman"/>
              <a:sym typeface="Times New Roman"/>
            </a:endParaRPr>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For RIFFA + design: </a:t>
            </a:r>
            <a:r>
              <a:rPr lang="en-US" dirty="0">
                <a:solidFill>
                  <a:srgbClr val="FF0000"/>
                </a:solidFill>
                <a:latin typeface="Times New Roman"/>
                <a:ea typeface="Times New Roman"/>
                <a:cs typeface="Times New Roman"/>
                <a:sym typeface="Times New Roman"/>
              </a:rPr>
              <a:t>source test_chnl</a:t>
            </a:r>
            <a:endParaRPr dirty="0">
              <a:solidFill>
                <a:srgbClr val="FF0000"/>
              </a:solidFill>
              <a:latin typeface="Times New Roman"/>
              <a:ea typeface="Times New Roman"/>
              <a:cs typeface="Times New Roman"/>
              <a:sym typeface="Times New Roman"/>
            </a:endParaRPr>
          </a:p>
        </p:txBody>
      </p:sp>
      <p:sp>
        <p:nvSpPr>
          <p:cNvPr id="338" name="Google Shape;338;p22"/>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Step-by-step guide - RTL simulation</a:t>
            </a:r>
            <a:endParaRPr dirty="0">
              <a:latin typeface="Times New Roman"/>
              <a:ea typeface="Times New Roman"/>
              <a:cs typeface="Times New Roman"/>
              <a:sym typeface="Times New Roman"/>
            </a:endParaRPr>
          </a:p>
        </p:txBody>
      </p:sp>
      <p:sp>
        <p:nvSpPr>
          <p:cNvPr id="339" name="Google Shape;339;p22"/>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dirty="0"/>
          </a:p>
        </p:txBody>
      </p:sp>
      <p:grpSp>
        <p:nvGrpSpPr>
          <p:cNvPr id="340" name="Google Shape;340;p22"/>
          <p:cNvGrpSpPr/>
          <p:nvPr/>
        </p:nvGrpSpPr>
        <p:grpSpPr>
          <a:xfrm>
            <a:off x="914114" y="1508271"/>
            <a:ext cx="3448328" cy="1631405"/>
            <a:chOff x="942689" y="1867459"/>
            <a:chExt cx="3448328" cy="1631405"/>
          </a:xfrm>
        </p:grpSpPr>
        <p:pic>
          <p:nvPicPr>
            <p:cNvPr id="341" name="Google Shape;341;p22"/>
            <p:cNvPicPr preferRelativeResize="0"/>
            <p:nvPr/>
          </p:nvPicPr>
          <p:blipFill rotWithShape="1">
            <a:blip r:embed="rId3">
              <a:alphaModFix/>
            </a:blip>
            <a:srcRect/>
            <a:stretch/>
          </p:blipFill>
          <p:spPr>
            <a:xfrm>
              <a:off x="1048325" y="2160105"/>
              <a:ext cx="1495634" cy="447737"/>
            </a:xfrm>
            <a:prstGeom prst="rect">
              <a:avLst/>
            </a:prstGeom>
            <a:noFill/>
            <a:ln>
              <a:noFill/>
            </a:ln>
          </p:spPr>
        </p:pic>
        <p:pic>
          <p:nvPicPr>
            <p:cNvPr id="342" name="Google Shape;342;p22"/>
            <p:cNvPicPr preferRelativeResize="0"/>
            <p:nvPr/>
          </p:nvPicPr>
          <p:blipFill rotWithShape="1">
            <a:blip r:embed="rId4">
              <a:alphaModFix/>
            </a:blip>
            <a:srcRect/>
            <a:stretch/>
          </p:blipFill>
          <p:spPr>
            <a:xfrm>
              <a:off x="3114489" y="2022283"/>
              <a:ext cx="1276528" cy="1476581"/>
            </a:xfrm>
            <a:prstGeom prst="rect">
              <a:avLst/>
            </a:prstGeom>
            <a:noFill/>
            <a:ln w="9525" cap="flat" cmpd="sng">
              <a:solidFill>
                <a:srgbClr val="FF0000"/>
              </a:solidFill>
              <a:prstDash val="solid"/>
              <a:round/>
              <a:headEnd type="none" w="sm" len="sm"/>
              <a:tailEnd type="none" w="sm" len="sm"/>
            </a:ln>
          </p:spPr>
        </p:pic>
        <p:sp>
          <p:nvSpPr>
            <p:cNvPr id="343" name="Google Shape;343;p22"/>
            <p:cNvSpPr/>
            <p:nvPr/>
          </p:nvSpPr>
          <p:spPr>
            <a:xfrm>
              <a:off x="1048325" y="2160105"/>
              <a:ext cx="930224" cy="223868"/>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44" name="Google Shape;344;p22"/>
            <p:cNvCxnSpPr/>
            <p:nvPr/>
          </p:nvCxnSpPr>
          <p:spPr>
            <a:xfrm>
              <a:off x="1978549" y="2383973"/>
              <a:ext cx="1135940" cy="1114891"/>
            </a:xfrm>
            <a:prstGeom prst="straightConnector1">
              <a:avLst/>
            </a:prstGeom>
            <a:noFill/>
            <a:ln w="9525" cap="flat" cmpd="sng">
              <a:solidFill>
                <a:srgbClr val="FF0000"/>
              </a:solidFill>
              <a:prstDash val="solid"/>
              <a:miter lim="800000"/>
              <a:headEnd type="none" w="sm" len="sm"/>
              <a:tailEnd type="triangle" w="med" len="med"/>
            </a:ln>
          </p:spPr>
        </p:cxnSp>
        <p:cxnSp>
          <p:nvCxnSpPr>
            <p:cNvPr id="345" name="Google Shape;345;p22"/>
            <p:cNvCxnSpPr/>
            <p:nvPr/>
          </p:nvCxnSpPr>
          <p:spPr>
            <a:xfrm rot="10800000" flipH="1">
              <a:off x="1978549" y="2021347"/>
              <a:ext cx="1135940" cy="138758"/>
            </a:xfrm>
            <a:prstGeom prst="straightConnector1">
              <a:avLst/>
            </a:prstGeom>
            <a:noFill/>
            <a:ln w="9525" cap="flat" cmpd="sng">
              <a:solidFill>
                <a:srgbClr val="FF0000"/>
              </a:solidFill>
              <a:prstDash val="solid"/>
              <a:miter lim="800000"/>
              <a:headEnd type="none" w="sm" len="sm"/>
              <a:tailEnd type="triangle" w="med" len="med"/>
            </a:ln>
          </p:spPr>
        </p:cxnSp>
        <p:sp>
          <p:nvSpPr>
            <p:cNvPr id="346" name="Google Shape;346;p22"/>
            <p:cNvSpPr txBox="1"/>
            <p:nvPr/>
          </p:nvSpPr>
          <p:spPr>
            <a:xfrm>
              <a:off x="942689" y="1867459"/>
              <a:ext cx="89800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Times New Roman"/>
                  <a:ea typeface="Times New Roman"/>
                  <a:cs typeface="Times New Roman"/>
                  <a:sym typeface="Times New Roman"/>
                </a:rPr>
                <a:t>Practice 1</a:t>
              </a:r>
              <a:endParaRPr sz="1400">
                <a:solidFill>
                  <a:schemeClr val="dk1"/>
                </a:solidFill>
                <a:latin typeface="Times New Roman"/>
                <a:ea typeface="Times New Roman"/>
                <a:cs typeface="Times New Roman"/>
                <a:sym typeface="Times New Roman"/>
              </a:endParaRPr>
            </a:p>
          </p:txBody>
        </p:sp>
      </p:grpSp>
      <p:sp>
        <p:nvSpPr>
          <p:cNvPr id="347" name="Google Shape;347;p22"/>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2021/07/30</a:t>
            </a:r>
            <a:endParaRPr dirty="0"/>
          </a:p>
        </p:txBody>
      </p:sp>
      <p:pic>
        <p:nvPicPr>
          <p:cNvPr id="348" name="Google Shape;348;p22"/>
          <p:cNvPicPr preferRelativeResize="0"/>
          <p:nvPr/>
        </p:nvPicPr>
        <p:blipFill rotWithShape="1">
          <a:blip r:embed="rId5">
            <a:alphaModFix/>
          </a:blip>
          <a:srcRect/>
          <a:stretch/>
        </p:blipFill>
        <p:spPr>
          <a:xfrm>
            <a:off x="2390164" y="5291235"/>
            <a:ext cx="3686197" cy="146726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3"/>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Step-by-step guide - FPGA simulation</a:t>
            </a:r>
            <a:endParaRPr dirty="0">
              <a:latin typeface="Times New Roman"/>
              <a:ea typeface="Times New Roman"/>
              <a:cs typeface="Times New Roman"/>
              <a:sym typeface="Times New Roman"/>
            </a:endParaRPr>
          </a:p>
        </p:txBody>
      </p:sp>
      <p:sp>
        <p:nvSpPr>
          <p:cNvPr id="354" name="Google Shape;354;p23"/>
          <p:cNvSpPr txBox="1">
            <a:spLocks noGrp="1"/>
          </p:cNvSpPr>
          <p:nvPr>
            <p:ph type="body" idx="1"/>
          </p:nvPr>
        </p:nvSpPr>
        <p:spPr>
          <a:xfrm>
            <a:off x="477795" y="1252152"/>
            <a:ext cx="8254313" cy="5094546"/>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Clr>
                <a:schemeClr val="dk1"/>
              </a:buClr>
              <a:buSzPts val="2000"/>
              <a:buFont typeface="Calibri"/>
              <a:buAutoNum type="arabicPeriod"/>
            </a:pPr>
            <a:r>
              <a:rPr lang="en-US" dirty="0">
                <a:latin typeface="Times New Roman"/>
                <a:ea typeface="Times New Roman"/>
                <a:cs typeface="Times New Roman"/>
                <a:sym typeface="Times New Roman"/>
              </a:rPr>
              <a:t>Open Quartus II </a:t>
            </a:r>
            <a:r>
              <a:rPr lang="en-US" sz="1600" dirty="0">
                <a:solidFill>
                  <a:srgbClr val="FF0000"/>
                </a:solidFill>
                <a:latin typeface="Times New Roman"/>
                <a:ea typeface="Times New Roman"/>
                <a:cs typeface="Times New Roman"/>
                <a:sym typeface="Times New Roman"/>
              </a:rPr>
              <a:t>(License file: 25000@140.112.33.164)</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Quartus 17.0:</a:t>
            </a:r>
            <a:endParaRPr dirty="0"/>
          </a:p>
          <a:p>
            <a:pPr marL="1143000" lvl="2" indent="-228600" algn="l" rtl="0">
              <a:lnSpc>
                <a:spcPct val="90000"/>
              </a:lnSpc>
              <a:spcBef>
                <a:spcPts val="500"/>
              </a:spcBef>
              <a:spcAft>
                <a:spcPts val="0"/>
              </a:spcAft>
              <a:buClr>
                <a:srgbClr val="FF0000"/>
              </a:buClr>
              <a:buSzPts val="1600"/>
              <a:buChar char="˗"/>
            </a:pPr>
            <a:r>
              <a:rPr lang="en-US" dirty="0">
                <a:solidFill>
                  <a:srgbClr val="FF0000"/>
                </a:solidFill>
                <a:latin typeface="Times New Roman"/>
                <a:ea typeface="Times New Roman"/>
                <a:cs typeface="Times New Roman"/>
                <a:sym typeface="Times New Roman"/>
              </a:rPr>
              <a:t>/mnt/ds1515/opt/intelFPGA/17.0/quartus/bin/quartus &amp;</a:t>
            </a:r>
            <a:endParaRPr dirty="0"/>
          </a:p>
          <a:p>
            <a:pPr marL="457200" lvl="0" indent="-457200" algn="l" rtl="0">
              <a:lnSpc>
                <a:spcPct val="90000"/>
              </a:lnSpc>
              <a:spcBef>
                <a:spcPts val="1000"/>
              </a:spcBef>
              <a:spcAft>
                <a:spcPts val="0"/>
              </a:spcAft>
              <a:buClr>
                <a:schemeClr val="dk1"/>
              </a:buClr>
              <a:buSzPts val="2000"/>
              <a:buFont typeface="Calibri"/>
              <a:buAutoNum type="arabicPeriod"/>
            </a:pPr>
            <a:r>
              <a:rPr lang="en-US" dirty="0">
                <a:latin typeface="Times New Roman"/>
                <a:ea typeface="Times New Roman"/>
                <a:cs typeface="Times New Roman"/>
                <a:sym typeface="Times New Roman"/>
              </a:rPr>
              <a:t>Copy RIFFA from workstation</a:t>
            </a:r>
            <a:endParaRPr dirty="0"/>
          </a:p>
          <a:p>
            <a:pPr marL="1143000" lvl="2" indent="-228600" algn="l" rtl="0">
              <a:lnSpc>
                <a:spcPct val="90000"/>
              </a:lnSpc>
              <a:spcBef>
                <a:spcPts val="500"/>
              </a:spcBef>
              <a:spcAft>
                <a:spcPts val="0"/>
              </a:spcAft>
              <a:buClr>
                <a:srgbClr val="FF0000"/>
              </a:buClr>
              <a:buSzPts val="1600"/>
              <a:buChar char="˗"/>
            </a:pPr>
            <a:r>
              <a:rPr lang="en-US" dirty="0">
                <a:solidFill>
                  <a:srgbClr val="FF0000"/>
                </a:solidFill>
                <a:latin typeface="Times New Roman"/>
                <a:ea typeface="Times New Roman"/>
                <a:cs typeface="Times New Roman"/>
                <a:sym typeface="Times New Roman"/>
              </a:rPr>
              <a:t>cp -r /mnt/ds1515/fpga/riffa_2.2.2/ ./</a:t>
            </a:r>
            <a:endParaRPr dirty="0"/>
          </a:p>
          <a:p>
            <a:pPr marL="457200" lvl="0" indent="-457200" algn="l" rtl="0">
              <a:lnSpc>
                <a:spcPct val="90000"/>
              </a:lnSpc>
              <a:spcBef>
                <a:spcPts val="1000"/>
              </a:spcBef>
              <a:spcAft>
                <a:spcPts val="0"/>
              </a:spcAft>
              <a:buClr>
                <a:schemeClr val="dk1"/>
              </a:buClr>
              <a:buSzPts val="2000"/>
              <a:buFont typeface="Calibri"/>
              <a:buAutoNum type="arabicPeriod"/>
            </a:pPr>
            <a:r>
              <a:rPr lang="en-US" dirty="0">
                <a:latin typeface="Times New Roman"/>
                <a:ea typeface="Times New Roman"/>
                <a:cs typeface="Times New Roman"/>
                <a:sym typeface="Times New Roman"/>
              </a:rPr>
              <a:t>Open Project</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Located at:</a:t>
            </a:r>
            <a:endParaRPr dirty="0"/>
          </a:p>
          <a:p>
            <a:pPr marL="628650" lvl="2" indent="0" algn="l" rtl="0">
              <a:lnSpc>
                <a:spcPct val="90000"/>
              </a:lnSpc>
              <a:spcBef>
                <a:spcPts val="500"/>
              </a:spcBef>
              <a:spcAft>
                <a:spcPts val="0"/>
              </a:spcAft>
              <a:buClr>
                <a:schemeClr val="dk1"/>
              </a:buClr>
              <a:buSzPts val="1600"/>
              <a:buNone/>
            </a:pPr>
            <a:r>
              <a:rPr lang="en-US" dirty="0">
                <a:latin typeface="Times New Roman"/>
                <a:ea typeface="Times New Roman"/>
                <a:cs typeface="Times New Roman"/>
                <a:sym typeface="Times New Roman"/>
              </a:rPr>
              <a:t>&lt;your path&gt;/riffa_2.2.2/source/fpga/altera/</a:t>
            </a:r>
            <a:r>
              <a:rPr lang="en-US" dirty="0">
                <a:solidFill>
                  <a:srgbClr val="00B0F0"/>
                </a:solidFill>
                <a:latin typeface="Times New Roman"/>
                <a:ea typeface="Times New Roman"/>
                <a:cs typeface="Times New Roman"/>
                <a:sym typeface="Times New Roman"/>
              </a:rPr>
              <a:t>de5</a:t>
            </a:r>
            <a:r>
              <a:rPr lang="en-US" dirty="0">
                <a:latin typeface="Times New Roman"/>
                <a:ea typeface="Times New Roman"/>
                <a:cs typeface="Times New Roman"/>
                <a:sym typeface="Times New Roman"/>
              </a:rPr>
              <a:t>/</a:t>
            </a:r>
            <a:r>
              <a:rPr lang="en-US" dirty="0">
                <a:solidFill>
                  <a:srgbClr val="00B050"/>
                </a:solidFill>
                <a:latin typeface="Times New Roman"/>
                <a:ea typeface="Times New Roman"/>
                <a:cs typeface="Times New Roman"/>
                <a:sym typeface="Times New Roman"/>
              </a:rPr>
              <a:t>DE#Gen#x#If###</a:t>
            </a:r>
            <a:r>
              <a:rPr lang="en-US" dirty="0">
                <a:latin typeface="Times New Roman"/>
                <a:ea typeface="Times New Roman"/>
                <a:cs typeface="Times New Roman"/>
                <a:sym typeface="Times New Roman"/>
              </a:rPr>
              <a:t>/prj/</a:t>
            </a:r>
            <a:r>
              <a:rPr lang="en-US" dirty="0">
                <a:solidFill>
                  <a:srgbClr val="00B050"/>
                </a:solidFill>
                <a:latin typeface="Times New Roman"/>
                <a:ea typeface="Times New Roman"/>
                <a:cs typeface="Times New Roman"/>
                <a:sym typeface="Times New Roman"/>
              </a:rPr>
              <a:t>DE#Gen#x#lf###</a:t>
            </a:r>
            <a:r>
              <a:rPr lang="en-US" dirty="0">
                <a:latin typeface="Times New Roman"/>
                <a:ea typeface="Times New Roman"/>
                <a:cs typeface="Times New Roman"/>
                <a:sym typeface="Times New Roman"/>
              </a:rPr>
              <a:t>.qpf</a:t>
            </a:r>
            <a:endParaRPr dirty="0">
              <a:latin typeface="Times New Roman"/>
              <a:ea typeface="Times New Roman"/>
              <a:cs typeface="Times New Roman"/>
              <a:sym typeface="Times New Roman"/>
            </a:endParaRPr>
          </a:p>
          <a:p>
            <a:pPr marL="914400" lvl="2" indent="-285750" algn="l" rtl="0">
              <a:lnSpc>
                <a:spcPct val="90000"/>
              </a:lnSpc>
              <a:spcBef>
                <a:spcPts val="500"/>
              </a:spcBef>
              <a:spcAft>
                <a:spcPts val="0"/>
              </a:spcAft>
              <a:buClr>
                <a:srgbClr val="00B050"/>
              </a:buClr>
              <a:buSzPts val="1600"/>
              <a:buChar char="˗"/>
            </a:pPr>
            <a:r>
              <a:rPr lang="en-US" dirty="0">
                <a:solidFill>
                  <a:srgbClr val="00B050"/>
                </a:solidFill>
                <a:latin typeface="Times New Roman"/>
                <a:ea typeface="Times New Roman"/>
                <a:cs typeface="Times New Roman"/>
                <a:sym typeface="Times New Roman"/>
              </a:rPr>
              <a:t>DE#Gen#x#If###: we use </a:t>
            </a:r>
            <a:r>
              <a:rPr lang="en-US" b="1" u="sng" dirty="0">
                <a:solidFill>
                  <a:srgbClr val="FF0000"/>
                </a:solidFill>
                <a:latin typeface="Times New Roman"/>
                <a:ea typeface="Times New Roman"/>
                <a:cs typeface="Times New Roman"/>
                <a:sym typeface="Times New Roman"/>
              </a:rPr>
              <a:t>DE5Gen2x8If128</a:t>
            </a:r>
            <a:endParaRPr b="1" u="sng" dirty="0">
              <a:solidFill>
                <a:srgbClr val="FF0000"/>
              </a:solidFill>
              <a:latin typeface="Times New Roman"/>
              <a:ea typeface="Times New Roman"/>
              <a:cs typeface="Times New Roman"/>
              <a:sym typeface="Times New Roman"/>
            </a:endParaRPr>
          </a:p>
          <a:p>
            <a:pPr marL="1371600" lvl="3" indent="-285750" algn="l" rtl="0">
              <a:lnSpc>
                <a:spcPct val="90000"/>
              </a:lnSpc>
              <a:spcBef>
                <a:spcPts val="500"/>
              </a:spcBef>
              <a:spcAft>
                <a:spcPts val="0"/>
              </a:spcAft>
              <a:buClr>
                <a:schemeClr val="dk1"/>
              </a:buClr>
              <a:buSzPts val="1400"/>
              <a:buChar char="˗"/>
            </a:pPr>
            <a:r>
              <a:rPr lang="en-US" dirty="0">
                <a:latin typeface="Times New Roman"/>
                <a:ea typeface="Times New Roman"/>
                <a:cs typeface="Times New Roman"/>
                <a:sym typeface="Times New Roman"/>
              </a:rPr>
              <a:t>Our FPGA: </a:t>
            </a:r>
            <a:r>
              <a:rPr lang="en-US" b="1" u="sng" dirty="0">
                <a:solidFill>
                  <a:srgbClr val="FF0000"/>
                </a:solidFill>
                <a:latin typeface="Times New Roman"/>
                <a:ea typeface="Times New Roman"/>
                <a:cs typeface="Times New Roman"/>
                <a:sym typeface="Times New Roman"/>
              </a:rPr>
              <a:t>DE5</a:t>
            </a:r>
            <a:endParaRPr b="1" u="sng" dirty="0">
              <a:solidFill>
                <a:srgbClr val="FF0000"/>
              </a:solidFill>
            </a:endParaRPr>
          </a:p>
          <a:p>
            <a:pPr marL="1371600" lvl="3" indent="-285750" algn="l" rtl="0">
              <a:lnSpc>
                <a:spcPct val="90000"/>
              </a:lnSpc>
              <a:spcBef>
                <a:spcPts val="500"/>
              </a:spcBef>
              <a:spcAft>
                <a:spcPts val="0"/>
              </a:spcAft>
              <a:buClr>
                <a:schemeClr val="dk1"/>
              </a:buClr>
              <a:buSzPts val="1400"/>
              <a:buChar char="˗"/>
            </a:pPr>
            <a:r>
              <a:rPr lang="en-US" dirty="0">
                <a:latin typeface="Times New Roman"/>
                <a:ea typeface="Times New Roman"/>
                <a:cs typeface="Times New Roman"/>
                <a:sym typeface="Times New Roman"/>
              </a:rPr>
              <a:t>PCIe Spec: generation 2; 8 lanes; 128 bits width (250 MHz)</a:t>
            </a:r>
            <a:endParaRPr dirty="0"/>
          </a:p>
          <a:p>
            <a:pPr marL="228600" lvl="0" indent="-101600" algn="l" rtl="0">
              <a:lnSpc>
                <a:spcPct val="90000"/>
              </a:lnSpc>
              <a:spcBef>
                <a:spcPts val="1000"/>
              </a:spcBef>
              <a:spcAft>
                <a:spcPts val="0"/>
              </a:spcAft>
              <a:buClr>
                <a:schemeClr val="dk1"/>
              </a:buClr>
              <a:buSzPts val="2000"/>
              <a:buNone/>
            </a:pPr>
            <a:endParaRPr dirty="0">
              <a:latin typeface="Times New Roman"/>
              <a:ea typeface="Times New Roman"/>
              <a:cs typeface="Times New Roman"/>
              <a:sym typeface="Times New Roman"/>
            </a:endParaRPr>
          </a:p>
        </p:txBody>
      </p:sp>
      <p:sp>
        <p:nvSpPr>
          <p:cNvPr id="355" name="Google Shape;355;p23"/>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pic>
        <p:nvPicPr>
          <p:cNvPr id="356" name="Google Shape;356;p23"/>
          <p:cNvPicPr preferRelativeResize="0"/>
          <p:nvPr/>
        </p:nvPicPr>
        <p:blipFill rotWithShape="1">
          <a:blip r:embed="rId3">
            <a:alphaModFix/>
          </a:blip>
          <a:srcRect/>
          <a:stretch/>
        </p:blipFill>
        <p:spPr>
          <a:xfrm>
            <a:off x="1065372" y="5037453"/>
            <a:ext cx="7600833" cy="1323439"/>
          </a:xfrm>
          <a:prstGeom prst="rect">
            <a:avLst/>
          </a:prstGeom>
          <a:noFill/>
          <a:ln>
            <a:noFill/>
          </a:ln>
        </p:spPr>
      </p:pic>
      <p:graphicFrame>
        <p:nvGraphicFramePr>
          <p:cNvPr id="357" name="Google Shape;357;p23"/>
          <p:cNvGraphicFramePr/>
          <p:nvPr>
            <p:extLst>
              <p:ext uri="{D42A27DB-BD31-4B8C-83A1-F6EECF244321}">
                <p14:modId xmlns:p14="http://schemas.microsoft.com/office/powerpoint/2010/main" val="2960015760"/>
              </p:ext>
            </p:extLst>
          </p:nvPr>
        </p:nvGraphicFramePr>
        <p:xfrm>
          <a:off x="6348680" y="4303353"/>
          <a:ext cx="2317525" cy="609620"/>
        </p:xfrm>
        <a:graphic>
          <a:graphicData uri="http://schemas.openxmlformats.org/drawingml/2006/table">
            <a:tbl>
              <a:tblPr firstRow="1" bandRow="1">
                <a:noFill/>
                <a:tableStyleId>{9A529AEC-49ED-4D0A-81CD-03B23D9B34B1}</a:tableStyleId>
              </a:tblPr>
              <a:tblGrid>
                <a:gridCol w="747175">
                  <a:extLst>
                    <a:ext uri="{9D8B030D-6E8A-4147-A177-3AD203B41FA5}">
                      <a16:colId xmlns:a16="http://schemas.microsoft.com/office/drawing/2014/main" val="20000"/>
                    </a:ext>
                  </a:extLst>
                </a:gridCol>
                <a:gridCol w="1570350">
                  <a:extLst>
                    <a:ext uri="{9D8B030D-6E8A-4147-A177-3AD203B41FA5}">
                      <a16:colId xmlns:a16="http://schemas.microsoft.com/office/drawing/2014/main" val="20001"/>
                    </a:ext>
                  </a:extLst>
                </a:gridCol>
              </a:tblGrid>
              <a:tr h="284825">
                <a:tc>
                  <a:txBody>
                    <a:bodyPr/>
                    <a:lstStyle/>
                    <a:p>
                      <a:pPr marL="0" marR="0" lvl="0" indent="0" algn="l" rtl="0">
                        <a:spcBef>
                          <a:spcPts val="0"/>
                        </a:spcBef>
                        <a:spcAft>
                          <a:spcPts val="0"/>
                        </a:spcAft>
                        <a:buNone/>
                      </a:pPr>
                      <a:r>
                        <a:rPr lang="en-US" sz="1400">
                          <a:latin typeface="Times New Roman"/>
                          <a:ea typeface="Times New Roman"/>
                          <a:cs typeface="Times New Roman"/>
                          <a:sym typeface="Times New Roman"/>
                        </a:rPr>
                        <a:t>Gen2x8</a:t>
                      </a:r>
                      <a:endParaRPr sz="1400">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400" dirty="0">
                          <a:latin typeface="Times New Roman"/>
                          <a:ea typeface="Times New Roman"/>
                          <a:cs typeface="Times New Roman"/>
                          <a:sym typeface="Times New Roman"/>
                        </a:rPr>
                        <a:t>250 MHz/ 128 bits</a:t>
                      </a:r>
                      <a:endParaRPr sz="1400" dirty="0">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84825">
                <a:tc>
                  <a:txBody>
                    <a:bodyPr/>
                    <a:lstStyle/>
                    <a:p>
                      <a:pPr marL="0" marR="0" lvl="0" indent="0" algn="l" rtl="0">
                        <a:spcBef>
                          <a:spcPts val="0"/>
                        </a:spcBef>
                        <a:spcAft>
                          <a:spcPts val="0"/>
                        </a:spcAft>
                        <a:buNone/>
                      </a:pPr>
                      <a:r>
                        <a:rPr lang="en-US" sz="1400" dirty="0">
                          <a:latin typeface="Times New Roman"/>
                          <a:ea typeface="Times New Roman"/>
                          <a:cs typeface="Times New Roman"/>
                          <a:sym typeface="Times New Roman"/>
                        </a:rPr>
                        <a:t>Gen2x4</a:t>
                      </a:r>
                      <a:endParaRPr sz="1400" dirty="0">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400" dirty="0">
                          <a:latin typeface="Times New Roman"/>
                          <a:ea typeface="Times New Roman"/>
                          <a:cs typeface="Times New Roman"/>
                          <a:sym typeface="Times New Roman"/>
                        </a:rPr>
                        <a:t>125 MHz/ 128 bits</a:t>
                      </a:r>
                      <a:endParaRPr sz="1400" dirty="0">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58" name="Google Shape;358;p23"/>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3" name="文字方塊 2">
            <a:extLst>
              <a:ext uri="{FF2B5EF4-FFF2-40B4-BE49-F238E27FC236}">
                <a16:creationId xmlns:a16="http://schemas.microsoft.com/office/drawing/2014/main" id="{FB75248C-BA33-4362-BE4D-C8FB5B76BB5C}"/>
              </a:ext>
            </a:extLst>
          </p:cNvPr>
          <p:cNvSpPr txBox="1"/>
          <p:nvPr/>
        </p:nvSpPr>
        <p:spPr>
          <a:xfrm>
            <a:off x="5049748" y="2193714"/>
            <a:ext cx="3682360" cy="1323439"/>
          </a:xfrm>
          <a:prstGeom prst="rect">
            <a:avLst/>
          </a:prstGeom>
          <a:noFill/>
        </p:spPr>
        <p:txBody>
          <a:bodyPr wrap="square" rtlCol="0">
            <a:spAutoFit/>
          </a:bodyPr>
          <a:lstStyle/>
          <a:p>
            <a:r>
              <a:rPr lang="zh-TW" altLang="en-US" sz="1600" dirty="0">
                <a:latin typeface="標楷體" panose="03000509000000000000" pitchFamily="65" charset="-120"/>
                <a:ea typeface="標楷體" panose="03000509000000000000" pitchFamily="65" charset="-120"/>
              </a:rPr>
              <a:t>你也可以選擇不同版本的 </a:t>
            </a:r>
            <a:r>
              <a:rPr lang="en-US" altLang="zh-TW" sz="1600" b="1" dirty="0">
                <a:latin typeface="標楷體" panose="03000509000000000000" pitchFamily="65" charset="-120"/>
                <a:ea typeface="標楷體" panose="03000509000000000000" pitchFamily="65" charset="-120"/>
              </a:rPr>
              <a:t>Gen</a:t>
            </a:r>
            <a:r>
              <a:rPr lang="zh-TW" altLang="en-US" sz="1600" dirty="0">
                <a:latin typeface="標楷體" panose="03000509000000000000" pitchFamily="65" charset="-120"/>
                <a:ea typeface="標楷體" panose="03000509000000000000" pitchFamily="65" charset="-120"/>
              </a:rPr>
              <a:t>，</a:t>
            </a:r>
            <a:r>
              <a:rPr lang="en-US" altLang="zh-TW" sz="1600" dirty="0">
                <a:latin typeface="標楷體" panose="03000509000000000000" pitchFamily="65" charset="-120"/>
                <a:ea typeface="標楷體" panose="03000509000000000000" pitchFamily="65" charset="-120"/>
              </a:rPr>
              <a:t>RIFFA </a:t>
            </a:r>
            <a:r>
              <a:rPr lang="zh-TW" altLang="en-US" sz="1600" dirty="0">
                <a:latin typeface="標楷體" panose="03000509000000000000" pitchFamily="65" charset="-120"/>
                <a:ea typeface="標楷體" panose="03000509000000000000" pitchFamily="65" charset="-120"/>
              </a:rPr>
              <a:t>支援多個 </a:t>
            </a:r>
            <a:r>
              <a:rPr lang="en-US" altLang="zh-TW" sz="1600" b="1" dirty="0">
                <a:latin typeface="標楷體" panose="03000509000000000000" pitchFamily="65" charset="-120"/>
                <a:ea typeface="標楷體" panose="03000509000000000000" pitchFamily="65" charset="-120"/>
              </a:rPr>
              <a:t>PCIe Gen</a:t>
            </a:r>
            <a:r>
              <a:rPr lang="zh-TW" altLang="en-US" sz="1600" dirty="0">
                <a:latin typeface="標楷體" panose="03000509000000000000" pitchFamily="65" charset="-120"/>
                <a:ea typeface="標楷體" panose="03000509000000000000" pitchFamily="65" charset="-120"/>
              </a:rPr>
              <a:t> 版本，但請確認你的主機板支援 </a:t>
            </a:r>
            <a:r>
              <a:rPr lang="en-US" altLang="zh-TW" sz="1600" b="1" dirty="0">
                <a:latin typeface="標楷體" panose="03000509000000000000" pitchFamily="65" charset="-120"/>
                <a:ea typeface="標楷體" panose="03000509000000000000" pitchFamily="65" charset="-120"/>
              </a:rPr>
              <a:t>PCIe x8</a:t>
            </a:r>
            <a:r>
              <a:rPr lang="zh-TW" altLang="en-US" sz="1600" dirty="0">
                <a:latin typeface="標楷體" panose="03000509000000000000" pitchFamily="65" charset="-120"/>
                <a:ea typeface="標楷體" panose="03000509000000000000" pitchFamily="65" charset="-120"/>
              </a:rPr>
              <a:t> 介面，通常大多數 </a:t>
            </a:r>
            <a:r>
              <a:rPr lang="en-US" altLang="zh-TW" sz="1600" b="1" dirty="0">
                <a:latin typeface="標楷體" panose="03000509000000000000" pitchFamily="65" charset="-120"/>
                <a:ea typeface="標楷體" panose="03000509000000000000" pitchFamily="65" charset="-120"/>
              </a:rPr>
              <a:t>PCIe 2x8</a:t>
            </a:r>
            <a:r>
              <a:rPr lang="zh-TW" altLang="en-US" sz="1600" dirty="0">
                <a:latin typeface="標楷體" panose="03000509000000000000" pitchFamily="65" charset="-120"/>
                <a:ea typeface="標楷體" panose="03000509000000000000" pitchFamily="65" charset="-120"/>
              </a:rPr>
              <a:t>（</a:t>
            </a:r>
            <a:r>
              <a:rPr lang="en-US" altLang="zh-TW" sz="1600" dirty="0">
                <a:latin typeface="標楷體" panose="03000509000000000000" pitchFamily="65" charset="-120"/>
                <a:ea typeface="標楷體" panose="03000509000000000000" pitchFamily="65" charset="-120"/>
              </a:rPr>
              <a:t>Gen2 x8</a:t>
            </a:r>
            <a:r>
              <a:rPr lang="zh-TW" altLang="en-US" sz="1600" dirty="0">
                <a:latin typeface="標楷體" panose="03000509000000000000" pitchFamily="65" charset="-120"/>
                <a:ea typeface="標楷體" panose="03000509000000000000" pitchFamily="65" charset="-120"/>
              </a:rPr>
              <a:t>）配置的主機板都可以支援</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24"/>
          <p:cNvSpPr txBox="1">
            <a:spLocks noGrp="1"/>
          </p:cNvSpPr>
          <p:nvPr>
            <p:ph type="title"/>
          </p:nvPr>
        </p:nvSpPr>
        <p:spPr>
          <a:xfrm>
            <a:off x="444843" y="460721"/>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Step-by-step guide</a:t>
            </a:r>
            <a:endParaRPr dirty="0">
              <a:latin typeface="Times New Roman"/>
              <a:ea typeface="Times New Roman"/>
              <a:cs typeface="Times New Roman"/>
              <a:sym typeface="Times New Roman"/>
            </a:endParaRPr>
          </a:p>
        </p:txBody>
      </p:sp>
      <p:sp>
        <p:nvSpPr>
          <p:cNvPr id="364" name="Google Shape;364;p24"/>
          <p:cNvSpPr txBox="1">
            <a:spLocks noGrp="1"/>
          </p:cNvSpPr>
          <p:nvPr>
            <p:ph type="body" idx="1"/>
          </p:nvPr>
        </p:nvSpPr>
        <p:spPr>
          <a:xfrm>
            <a:off x="477795" y="1252152"/>
            <a:ext cx="8166969" cy="199812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dirty="0">
                <a:latin typeface="Times New Roman"/>
                <a:ea typeface="Times New Roman"/>
                <a:cs typeface="Times New Roman"/>
                <a:sym typeface="Times New Roman"/>
              </a:rPr>
              <a:t>4-1. Copy files from &lt;WORKDIR&gt;/</a:t>
            </a:r>
            <a:r>
              <a:rPr lang="en-US" dirty="0" err="1">
                <a:latin typeface="Times New Roman"/>
                <a:ea typeface="Times New Roman"/>
                <a:cs typeface="Times New Roman"/>
                <a:sym typeface="Times New Roman"/>
              </a:rPr>
              <a:t>test_BRAM</a:t>
            </a:r>
            <a:r>
              <a:rPr lang="en-US" dirty="0">
                <a:latin typeface="Times New Roman"/>
                <a:ea typeface="Times New Roman"/>
                <a:cs typeface="Times New Roman"/>
                <a:sym typeface="Times New Roman"/>
              </a:rPr>
              <a:t>/ to RIFFA directory:</a:t>
            </a:r>
            <a:endParaRPr dirty="0"/>
          </a:p>
          <a:p>
            <a:pPr marL="457200" lvl="0" indent="-330200" algn="l" rtl="0">
              <a:lnSpc>
                <a:spcPct val="90000"/>
              </a:lnSpc>
              <a:spcBef>
                <a:spcPts val="1000"/>
              </a:spcBef>
              <a:spcAft>
                <a:spcPts val="0"/>
              </a:spcAft>
              <a:buClr>
                <a:schemeClr val="dk1"/>
              </a:buClr>
              <a:buSzPts val="2000"/>
              <a:buFont typeface="Calibri"/>
              <a:buNone/>
            </a:pPr>
            <a:endParaRPr dirty="0">
              <a:latin typeface="Times New Roman"/>
              <a:ea typeface="Times New Roman"/>
              <a:cs typeface="Times New Roman"/>
              <a:sym typeface="Times New Roman"/>
            </a:endParaRPr>
          </a:p>
          <a:p>
            <a:pPr marL="457200" lvl="0" indent="-330200" algn="l" rtl="0">
              <a:lnSpc>
                <a:spcPct val="90000"/>
              </a:lnSpc>
              <a:spcBef>
                <a:spcPts val="1000"/>
              </a:spcBef>
              <a:spcAft>
                <a:spcPts val="0"/>
              </a:spcAft>
              <a:buClr>
                <a:schemeClr val="dk1"/>
              </a:buClr>
              <a:buSzPts val="2000"/>
              <a:buFont typeface="Calibri"/>
              <a:buNone/>
            </a:pPr>
            <a:endParaRPr dirty="0">
              <a:latin typeface="Times New Roman"/>
              <a:ea typeface="Times New Roman"/>
              <a:cs typeface="Times New Roman"/>
              <a:sym typeface="Times New Roman"/>
            </a:endParaRPr>
          </a:p>
          <a:p>
            <a:pPr marL="457200" lvl="0" indent="-330200" algn="l" rtl="0">
              <a:lnSpc>
                <a:spcPct val="90000"/>
              </a:lnSpc>
              <a:spcBef>
                <a:spcPts val="1000"/>
              </a:spcBef>
              <a:spcAft>
                <a:spcPts val="0"/>
              </a:spcAft>
              <a:buClr>
                <a:schemeClr val="dk1"/>
              </a:buClr>
              <a:buSzPts val="2000"/>
              <a:buFont typeface="Calibri"/>
              <a:buNone/>
            </a:pPr>
            <a:endParaRPr dirty="0">
              <a:latin typeface="Times New Roman"/>
              <a:ea typeface="Times New Roman"/>
              <a:cs typeface="Times New Roman"/>
              <a:sym typeface="Times New Roman"/>
            </a:endParaRPr>
          </a:p>
          <a:p>
            <a:pPr marL="457200" lvl="0" indent="-330200" algn="l" rtl="0">
              <a:lnSpc>
                <a:spcPct val="90000"/>
              </a:lnSpc>
              <a:spcBef>
                <a:spcPts val="1000"/>
              </a:spcBef>
              <a:spcAft>
                <a:spcPts val="0"/>
              </a:spcAft>
              <a:buClr>
                <a:schemeClr val="dk1"/>
              </a:buClr>
              <a:buSzPts val="2000"/>
              <a:buFont typeface="Calibri"/>
              <a:buNone/>
            </a:pPr>
            <a:endParaRPr dirty="0">
              <a:latin typeface="Times New Roman"/>
              <a:ea typeface="Times New Roman"/>
              <a:cs typeface="Times New Roman"/>
              <a:sym typeface="Times New Roman"/>
            </a:endParaRPr>
          </a:p>
        </p:txBody>
      </p:sp>
      <p:sp>
        <p:nvSpPr>
          <p:cNvPr id="365" name="Google Shape;365;p24"/>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pic>
        <p:nvPicPr>
          <p:cNvPr id="366" name="Google Shape;366;p24"/>
          <p:cNvPicPr preferRelativeResize="0"/>
          <p:nvPr/>
        </p:nvPicPr>
        <p:blipFill rotWithShape="1">
          <a:blip r:embed="rId3">
            <a:alphaModFix/>
          </a:blip>
          <a:srcRect/>
          <a:stretch/>
        </p:blipFill>
        <p:spPr>
          <a:xfrm>
            <a:off x="957333" y="1673097"/>
            <a:ext cx="1276528" cy="1476581"/>
          </a:xfrm>
          <a:prstGeom prst="rect">
            <a:avLst/>
          </a:prstGeom>
          <a:noFill/>
          <a:ln>
            <a:noFill/>
          </a:ln>
        </p:spPr>
      </p:pic>
      <p:sp>
        <p:nvSpPr>
          <p:cNvPr id="367" name="Google Shape;367;p24"/>
          <p:cNvSpPr/>
          <p:nvPr/>
        </p:nvSpPr>
        <p:spPr>
          <a:xfrm>
            <a:off x="967283" y="2139045"/>
            <a:ext cx="1276528" cy="391886"/>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8" name="Google Shape;368;p24"/>
          <p:cNvSpPr/>
          <p:nvPr/>
        </p:nvSpPr>
        <p:spPr>
          <a:xfrm>
            <a:off x="967283" y="1749427"/>
            <a:ext cx="1276528" cy="195943"/>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9" name="Google Shape;369;p24"/>
          <p:cNvSpPr/>
          <p:nvPr/>
        </p:nvSpPr>
        <p:spPr>
          <a:xfrm>
            <a:off x="3013991" y="2192111"/>
            <a:ext cx="397153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dk1"/>
                </a:solidFill>
                <a:latin typeface="Times New Roman"/>
                <a:ea typeface="Times New Roman"/>
                <a:cs typeface="Times New Roman"/>
                <a:sym typeface="Times New Roman"/>
              </a:rPr>
              <a:t>&lt;your path&gt;/riffa_2.2.2/source/fpga/riffa_hdl/</a:t>
            </a:r>
            <a:endParaRPr sz="1600" dirty="0">
              <a:solidFill>
                <a:schemeClr val="dk1"/>
              </a:solidFill>
              <a:latin typeface="Calibri"/>
              <a:ea typeface="Calibri"/>
              <a:cs typeface="Calibri"/>
              <a:sym typeface="Calibri"/>
            </a:endParaRPr>
          </a:p>
        </p:txBody>
      </p:sp>
      <p:sp>
        <p:nvSpPr>
          <p:cNvPr id="370" name="Google Shape;370;p24"/>
          <p:cNvSpPr/>
          <p:nvPr/>
        </p:nvSpPr>
        <p:spPr>
          <a:xfrm>
            <a:off x="2343151" y="2245180"/>
            <a:ext cx="571500" cy="201641"/>
          </a:xfrm>
          <a:prstGeom prst="rightArrow">
            <a:avLst>
              <a:gd name="adj1" fmla="val 50000"/>
              <a:gd name="adj2" fmla="val 50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1" name="Google Shape;371;p24"/>
          <p:cNvSpPr/>
          <p:nvPr/>
        </p:nvSpPr>
        <p:spPr>
          <a:xfrm>
            <a:off x="3013991" y="1673097"/>
            <a:ext cx="419326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dk1"/>
                </a:solidFill>
                <a:latin typeface="Times New Roman"/>
                <a:ea typeface="Times New Roman"/>
                <a:cs typeface="Times New Roman"/>
                <a:sym typeface="Times New Roman"/>
              </a:rPr>
              <a:t>&lt;your path&gt;/riffa_2.2.2/source/c_c++/linux/x64/</a:t>
            </a:r>
            <a:endParaRPr sz="1600" dirty="0">
              <a:solidFill>
                <a:schemeClr val="dk1"/>
              </a:solidFill>
              <a:latin typeface="Calibri"/>
              <a:ea typeface="Calibri"/>
              <a:cs typeface="Calibri"/>
              <a:sym typeface="Calibri"/>
            </a:endParaRPr>
          </a:p>
        </p:txBody>
      </p:sp>
      <p:sp>
        <p:nvSpPr>
          <p:cNvPr id="372" name="Google Shape;372;p24"/>
          <p:cNvSpPr/>
          <p:nvPr/>
        </p:nvSpPr>
        <p:spPr>
          <a:xfrm>
            <a:off x="2343151" y="1726166"/>
            <a:ext cx="571500" cy="201641"/>
          </a:xfrm>
          <a:prstGeom prst="rightArrow">
            <a:avLst>
              <a:gd name="adj1" fmla="val 50000"/>
              <a:gd name="adj2" fmla="val 50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4" name="Google Shape;374;p24"/>
          <p:cNvSpPr txBox="1"/>
          <p:nvPr/>
        </p:nvSpPr>
        <p:spPr>
          <a:xfrm>
            <a:off x="1555787" y="4002136"/>
            <a:ext cx="603242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rgbClr val="FF0000"/>
                </a:solidFill>
                <a:latin typeface="DFKai-SB"/>
                <a:ea typeface="DFKai-SB"/>
                <a:cs typeface="DFKai-SB"/>
                <a:sym typeface="DFKai-SB"/>
              </a:rPr>
              <a:t>須先把sample_app裡面原有的資料全部刪除</a:t>
            </a:r>
            <a:endParaRPr dirty="0"/>
          </a:p>
        </p:txBody>
      </p:sp>
      <p:sp>
        <p:nvSpPr>
          <p:cNvPr id="375" name="Google Shape;375;p24"/>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pic>
        <p:nvPicPr>
          <p:cNvPr id="7" name="圖片 6">
            <a:extLst>
              <a:ext uri="{FF2B5EF4-FFF2-40B4-BE49-F238E27FC236}">
                <a16:creationId xmlns:a16="http://schemas.microsoft.com/office/drawing/2014/main" id="{5D8BBF10-416B-4A79-8630-3724A5CF47F3}"/>
              </a:ext>
            </a:extLst>
          </p:cNvPr>
          <p:cNvPicPr>
            <a:picLocks noChangeAspect="1"/>
          </p:cNvPicPr>
          <p:nvPr/>
        </p:nvPicPr>
        <p:blipFill>
          <a:blip r:embed="rId4"/>
          <a:stretch>
            <a:fillRect/>
          </a:stretch>
        </p:blipFill>
        <p:spPr>
          <a:xfrm>
            <a:off x="1885575" y="3348026"/>
            <a:ext cx="5372850" cy="161948"/>
          </a:xfrm>
          <a:prstGeom prst="rect">
            <a:avLst/>
          </a:prstGeom>
        </p:spPr>
      </p:pic>
      <p:pic>
        <p:nvPicPr>
          <p:cNvPr id="11" name="圖片 10">
            <a:extLst>
              <a:ext uri="{FF2B5EF4-FFF2-40B4-BE49-F238E27FC236}">
                <a16:creationId xmlns:a16="http://schemas.microsoft.com/office/drawing/2014/main" id="{DD80A92F-A18C-40CF-915E-40A2BB867AD3}"/>
              </a:ext>
            </a:extLst>
          </p:cNvPr>
          <p:cNvPicPr>
            <a:picLocks noChangeAspect="1"/>
          </p:cNvPicPr>
          <p:nvPr/>
        </p:nvPicPr>
        <p:blipFill>
          <a:blip r:embed="rId5"/>
          <a:stretch>
            <a:fillRect/>
          </a:stretch>
        </p:blipFill>
        <p:spPr>
          <a:xfrm>
            <a:off x="1866521" y="3556503"/>
            <a:ext cx="5410955" cy="16194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24"/>
          <p:cNvSpPr txBox="1">
            <a:spLocks noGrp="1"/>
          </p:cNvSpPr>
          <p:nvPr>
            <p:ph type="title"/>
          </p:nvPr>
        </p:nvSpPr>
        <p:spPr>
          <a:xfrm>
            <a:off x="444843" y="460721"/>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Step-by-step guide</a:t>
            </a:r>
            <a:endParaRPr dirty="0">
              <a:latin typeface="Times New Roman"/>
              <a:ea typeface="Times New Roman"/>
              <a:cs typeface="Times New Roman"/>
              <a:sym typeface="Times New Roman"/>
            </a:endParaRPr>
          </a:p>
        </p:txBody>
      </p:sp>
      <p:sp>
        <p:nvSpPr>
          <p:cNvPr id="364" name="Google Shape;364;p24"/>
          <p:cNvSpPr txBox="1">
            <a:spLocks noGrp="1"/>
          </p:cNvSpPr>
          <p:nvPr>
            <p:ph type="body" idx="1"/>
          </p:nvPr>
        </p:nvSpPr>
        <p:spPr>
          <a:xfrm>
            <a:off x="477795" y="1252152"/>
            <a:ext cx="8166969" cy="199812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dirty="0">
                <a:latin typeface="Times New Roman"/>
                <a:ea typeface="Times New Roman"/>
                <a:cs typeface="Times New Roman"/>
                <a:sym typeface="Times New Roman"/>
              </a:rPr>
              <a:t>4-2. If not added, use project navigator in quartus</a:t>
            </a:r>
            <a:endParaRPr lang="en-US" dirty="0"/>
          </a:p>
          <a:p>
            <a:pPr marL="457200" lvl="0" indent="-330200" algn="l" rtl="0">
              <a:lnSpc>
                <a:spcPct val="90000"/>
              </a:lnSpc>
              <a:spcBef>
                <a:spcPts val="1000"/>
              </a:spcBef>
              <a:spcAft>
                <a:spcPts val="0"/>
              </a:spcAft>
              <a:buClr>
                <a:schemeClr val="dk1"/>
              </a:buClr>
              <a:buSzPts val="2000"/>
              <a:buFont typeface="Calibri"/>
              <a:buNone/>
            </a:pPr>
            <a:endParaRPr lang="en-US" dirty="0">
              <a:latin typeface="Times New Roman"/>
              <a:ea typeface="Times New Roman"/>
              <a:cs typeface="Times New Roman"/>
              <a:sym typeface="Times New Roman"/>
            </a:endParaRPr>
          </a:p>
          <a:p>
            <a:pPr marL="457200" lvl="0" indent="-330200" algn="l" rtl="0">
              <a:lnSpc>
                <a:spcPct val="90000"/>
              </a:lnSpc>
              <a:spcBef>
                <a:spcPts val="1000"/>
              </a:spcBef>
              <a:spcAft>
                <a:spcPts val="0"/>
              </a:spcAft>
              <a:buClr>
                <a:schemeClr val="dk1"/>
              </a:buClr>
              <a:buSzPts val="2000"/>
              <a:buFont typeface="Calibri"/>
              <a:buNone/>
            </a:pPr>
            <a:endParaRPr dirty="0">
              <a:latin typeface="Times New Roman"/>
              <a:ea typeface="Times New Roman"/>
              <a:cs typeface="Times New Roman"/>
              <a:sym typeface="Times New Roman"/>
            </a:endParaRPr>
          </a:p>
          <a:p>
            <a:pPr marL="457200" lvl="0" indent="-330200" algn="l" rtl="0">
              <a:lnSpc>
                <a:spcPct val="90000"/>
              </a:lnSpc>
              <a:spcBef>
                <a:spcPts val="1000"/>
              </a:spcBef>
              <a:spcAft>
                <a:spcPts val="0"/>
              </a:spcAft>
              <a:buClr>
                <a:schemeClr val="dk1"/>
              </a:buClr>
              <a:buSzPts val="2000"/>
              <a:buFont typeface="Calibri"/>
              <a:buNone/>
            </a:pPr>
            <a:endParaRPr dirty="0">
              <a:latin typeface="Times New Roman"/>
              <a:ea typeface="Times New Roman"/>
              <a:cs typeface="Times New Roman"/>
              <a:sym typeface="Times New Roman"/>
            </a:endParaRPr>
          </a:p>
          <a:p>
            <a:pPr marL="457200" lvl="0" indent="-330200" algn="l" rtl="0">
              <a:lnSpc>
                <a:spcPct val="90000"/>
              </a:lnSpc>
              <a:spcBef>
                <a:spcPts val="1000"/>
              </a:spcBef>
              <a:spcAft>
                <a:spcPts val="0"/>
              </a:spcAft>
              <a:buClr>
                <a:schemeClr val="dk1"/>
              </a:buClr>
              <a:buSzPts val="2000"/>
              <a:buFont typeface="Calibri"/>
              <a:buNone/>
            </a:pPr>
            <a:endParaRPr dirty="0">
              <a:latin typeface="Times New Roman"/>
              <a:ea typeface="Times New Roman"/>
              <a:cs typeface="Times New Roman"/>
              <a:sym typeface="Times New Roman"/>
            </a:endParaRPr>
          </a:p>
        </p:txBody>
      </p:sp>
      <p:sp>
        <p:nvSpPr>
          <p:cNvPr id="365" name="Google Shape;365;p24"/>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
        <p:nvSpPr>
          <p:cNvPr id="375" name="Google Shape;375;p24"/>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pic>
        <p:nvPicPr>
          <p:cNvPr id="5" name="圖片 4">
            <a:extLst>
              <a:ext uri="{FF2B5EF4-FFF2-40B4-BE49-F238E27FC236}">
                <a16:creationId xmlns:a16="http://schemas.microsoft.com/office/drawing/2014/main" id="{43EBB0FF-7C3F-4645-9C39-648E49D0DF92}"/>
              </a:ext>
            </a:extLst>
          </p:cNvPr>
          <p:cNvPicPr>
            <a:picLocks noChangeAspect="1"/>
          </p:cNvPicPr>
          <p:nvPr/>
        </p:nvPicPr>
        <p:blipFill>
          <a:blip r:embed="rId3"/>
          <a:stretch>
            <a:fillRect/>
          </a:stretch>
        </p:blipFill>
        <p:spPr>
          <a:xfrm>
            <a:off x="172123" y="2051897"/>
            <a:ext cx="3718363" cy="4133458"/>
          </a:xfrm>
          <a:prstGeom prst="rect">
            <a:avLst/>
          </a:prstGeom>
        </p:spPr>
      </p:pic>
      <p:sp>
        <p:nvSpPr>
          <p:cNvPr id="6" name="文字方塊 5">
            <a:extLst>
              <a:ext uri="{FF2B5EF4-FFF2-40B4-BE49-F238E27FC236}">
                <a16:creationId xmlns:a16="http://schemas.microsoft.com/office/drawing/2014/main" id="{104ED678-7BC4-4B1F-B3A3-416E266409C7}"/>
              </a:ext>
            </a:extLst>
          </p:cNvPr>
          <p:cNvSpPr txBox="1"/>
          <p:nvPr/>
        </p:nvSpPr>
        <p:spPr>
          <a:xfrm>
            <a:off x="4485877" y="1872425"/>
            <a:ext cx="4391938" cy="2031325"/>
          </a:xfrm>
          <a:prstGeom prst="rect">
            <a:avLst/>
          </a:prstGeom>
          <a:noFill/>
        </p:spPr>
        <p:txBody>
          <a:bodyPr wrap="square" rtlCol="0">
            <a:spAutoFit/>
          </a:bodyPr>
          <a:lstStyle/>
          <a:p>
            <a:r>
              <a:rPr lang="en-US" altLang="zh-TW" sz="1800" dirty="0">
                <a:latin typeface="標楷體" panose="03000509000000000000" pitchFamily="65" charset="-120"/>
                <a:ea typeface="標楷體" panose="03000509000000000000" pitchFamily="65" charset="-120"/>
              </a:rPr>
              <a:t>Project Navigator </a:t>
            </a:r>
          </a:p>
          <a:p>
            <a:r>
              <a:rPr lang="en-US" altLang="zh-TW" sz="1800" dirty="0">
                <a:latin typeface="標楷體" panose="03000509000000000000" pitchFamily="65" charset="-120"/>
                <a:ea typeface="標楷體" panose="03000509000000000000" pitchFamily="65" charset="-120"/>
                <a:sym typeface="Wingdings" panose="05000000000000000000" pitchFamily="2" charset="2"/>
              </a:rPr>
              <a:t></a:t>
            </a:r>
            <a:r>
              <a:rPr lang="en-US" altLang="zh-TW" sz="1800" dirty="0">
                <a:latin typeface="標楷體" panose="03000509000000000000" pitchFamily="65" charset="-120"/>
                <a:ea typeface="標楷體" panose="03000509000000000000" pitchFamily="65" charset="-120"/>
              </a:rPr>
              <a:t> Files </a:t>
            </a:r>
          </a:p>
          <a:p>
            <a:r>
              <a:rPr lang="en-US" altLang="zh-TW" sz="1800" dirty="0">
                <a:latin typeface="標楷體" panose="03000509000000000000" pitchFamily="65" charset="-120"/>
                <a:ea typeface="標楷體" panose="03000509000000000000" pitchFamily="65" charset="-120"/>
                <a:sym typeface="Wingdings" panose="05000000000000000000" pitchFamily="2" charset="2"/>
              </a:rPr>
              <a:t> </a:t>
            </a:r>
            <a:r>
              <a:rPr lang="en-US" altLang="zh-TW" sz="1800" dirty="0">
                <a:latin typeface="標楷體" panose="03000509000000000000" pitchFamily="65" charset="-120"/>
                <a:ea typeface="標楷體" panose="03000509000000000000" pitchFamily="65" charset="-120"/>
              </a:rPr>
              <a:t>add/remove files in Project (</a:t>
            </a:r>
            <a:r>
              <a:rPr lang="zh-TW" altLang="en-US" sz="1800" dirty="0">
                <a:latin typeface="標楷體" panose="03000509000000000000" pitchFamily="65" charset="-120"/>
                <a:ea typeface="標楷體" panose="03000509000000000000" pitchFamily="65" charset="-120"/>
              </a:rPr>
              <a:t>右鍵</a:t>
            </a:r>
            <a:r>
              <a:rPr lang="en-US" altLang="zh-TW" sz="1800" dirty="0">
                <a:latin typeface="標楷體" panose="03000509000000000000" pitchFamily="65" charset="-120"/>
                <a:ea typeface="標楷體" panose="03000509000000000000" pitchFamily="65" charset="-120"/>
              </a:rPr>
              <a:t>Files) </a:t>
            </a:r>
          </a:p>
          <a:p>
            <a:pPr marL="285750" indent="-285750">
              <a:buFont typeface="Wingdings" panose="05000000000000000000" pitchFamily="2" charset="2"/>
              <a:buChar char="à"/>
            </a:pPr>
            <a:r>
              <a:rPr lang="zh-TW" altLang="en-US" sz="1800" dirty="0">
                <a:latin typeface="標楷體" panose="03000509000000000000" pitchFamily="65" charset="-120"/>
                <a:ea typeface="標楷體" panose="03000509000000000000" pitchFamily="65" charset="-120"/>
              </a:rPr>
              <a:t>加入你的</a:t>
            </a:r>
            <a:r>
              <a:rPr lang="en-US" altLang="zh-TW" sz="1800" dirty="0">
                <a:latin typeface="標楷體" panose="03000509000000000000" pitchFamily="65" charset="-120"/>
                <a:ea typeface="標楷體" panose="03000509000000000000" pitchFamily="65" charset="-120"/>
              </a:rPr>
              <a:t>bram_wrapper (your design) </a:t>
            </a:r>
            <a:r>
              <a:rPr lang="zh-TW" altLang="en-US" sz="1800" dirty="0">
                <a:latin typeface="標楷體" panose="03000509000000000000" pitchFamily="65" charset="-120"/>
                <a:ea typeface="標楷體" panose="03000509000000000000" pitchFamily="65" charset="-120"/>
              </a:rPr>
              <a:t>和你的 </a:t>
            </a:r>
            <a:r>
              <a:rPr lang="en-US" altLang="zh-TW" sz="1800" dirty="0">
                <a:latin typeface="標楷體" panose="03000509000000000000" pitchFamily="65" charset="-120"/>
                <a:ea typeface="標楷體" panose="03000509000000000000" pitchFamily="65" charset="-120"/>
              </a:rPr>
              <a:t>chnl_tester.v </a:t>
            </a:r>
          </a:p>
          <a:p>
            <a:r>
              <a:rPr lang="en-US" altLang="zh-TW" sz="1800" dirty="0">
                <a:latin typeface="標楷體" panose="03000509000000000000" pitchFamily="65" charset="-120"/>
                <a:ea typeface="標楷體" panose="03000509000000000000" pitchFamily="65" charset="-120"/>
              </a:rPr>
              <a:t>	(</a:t>
            </a:r>
            <a:r>
              <a:rPr lang="zh-TW" altLang="en-US" sz="1800" dirty="0">
                <a:latin typeface="標楷體" panose="03000509000000000000" pitchFamily="65" charset="-120"/>
                <a:ea typeface="標楷體" panose="03000509000000000000" pitchFamily="65" charset="-120"/>
              </a:rPr>
              <a:t>所有你的</a:t>
            </a:r>
            <a:r>
              <a:rPr lang="en-US" altLang="zh-TW" sz="1800" dirty="0">
                <a:latin typeface="標楷體" panose="03000509000000000000" pitchFamily="65" charset="-120"/>
                <a:ea typeface="標楷體" panose="03000509000000000000" pitchFamily="65" charset="-120"/>
              </a:rPr>
              <a:t>Verilog</a:t>
            </a:r>
            <a:r>
              <a:rPr lang="zh-TW" altLang="en-US" sz="1800" dirty="0">
                <a:latin typeface="標楷體" panose="03000509000000000000" pitchFamily="65" charset="-120"/>
                <a:ea typeface="標楷體" panose="03000509000000000000" pitchFamily="65" charset="-120"/>
              </a:rPr>
              <a:t>檔案</a:t>
            </a:r>
            <a:r>
              <a:rPr lang="en-US" altLang="zh-TW" sz="1800" dirty="0">
                <a:latin typeface="標楷體" panose="03000509000000000000" pitchFamily="65" charset="-120"/>
                <a:ea typeface="標楷體" panose="03000509000000000000" pitchFamily="65" charset="-120"/>
              </a:rPr>
              <a:t>)</a:t>
            </a:r>
            <a:endParaRPr lang="zh-TW" altLang="en-US" sz="1800" dirty="0">
              <a:latin typeface="標楷體" panose="03000509000000000000" pitchFamily="65" charset="-120"/>
              <a:ea typeface="標楷體" panose="03000509000000000000" pitchFamily="65" charset="-120"/>
            </a:endParaRPr>
          </a:p>
        </p:txBody>
      </p:sp>
      <p:pic>
        <p:nvPicPr>
          <p:cNvPr id="3" name="圖片 2">
            <a:extLst>
              <a:ext uri="{FF2B5EF4-FFF2-40B4-BE49-F238E27FC236}">
                <a16:creationId xmlns:a16="http://schemas.microsoft.com/office/drawing/2014/main" id="{44A29718-1730-418F-8518-5AFD4B9032FC}"/>
              </a:ext>
            </a:extLst>
          </p:cNvPr>
          <p:cNvPicPr>
            <a:picLocks noChangeAspect="1"/>
          </p:cNvPicPr>
          <p:nvPr/>
        </p:nvPicPr>
        <p:blipFill>
          <a:blip r:embed="rId4"/>
          <a:stretch>
            <a:fillRect/>
          </a:stretch>
        </p:blipFill>
        <p:spPr>
          <a:xfrm>
            <a:off x="3958627" y="4118626"/>
            <a:ext cx="5103177" cy="997534"/>
          </a:xfrm>
          <a:prstGeom prst="rect">
            <a:avLst/>
          </a:prstGeom>
        </p:spPr>
      </p:pic>
    </p:spTree>
    <p:extLst>
      <p:ext uri="{BB962C8B-B14F-4D97-AF65-F5344CB8AC3E}">
        <p14:creationId xmlns:p14="http://schemas.microsoft.com/office/powerpoint/2010/main" val="9074146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76" name="Google Shape;376;p24"/>
          <p:cNvPicPr preferRelativeResize="0"/>
          <p:nvPr/>
        </p:nvPicPr>
        <p:blipFill rotWithShape="1">
          <a:blip r:embed="rId3">
            <a:alphaModFix/>
          </a:blip>
          <a:srcRect/>
          <a:stretch/>
        </p:blipFill>
        <p:spPr>
          <a:xfrm>
            <a:off x="2826327" y="2222177"/>
            <a:ext cx="6051488" cy="4096909"/>
          </a:xfrm>
          <a:prstGeom prst="rect">
            <a:avLst/>
          </a:prstGeom>
          <a:noFill/>
          <a:ln>
            <a:noFill/>
          </a:ln>
        </p:spPr>
      </p:pic>
      <p:sp>
        <p:nvSpPr>
          <p:cNvPr id="363" name="Google Shape;363;p24"/>
          <p:cNvSpPr txBox="1">
            <a:spLocks noGrp="1"/>
          </p:cNvSpPr>
          <p:nvPr>
            <p:ph type="title"/>
          </p:nvPr>
        </p:nvSpPr>
        <p:spPr>
          <a:xfrm>
            <a:off x="477795" y="487082"/>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Step-by-step guide</a:t>
            </a:r>
            <a:endParaRPr dirty="0">
              <a:latin typeface="Times New Roman"/>
              <a:ea typeface="Times New Roman"/>
              <a:cs typeface="Times New Roman"/>
              <a:sym typeface="Times New Roman"/>
            </a:endParaRPr>
          </a:p>
        </p:txBody>
      </p:sp>
      <p:sp>
        <p:nvSpPr>
          <p:cNvPr id="364" name="Google Shape;364;p24"/>
          <p:cNvSpPr txBox="1">
            <a:spLocks noGrp="1"/>
          </p:cNvSpPr>
          <p:nvPr>
            <p:ph type="body" idx="1"/>
          </p:nvPr>
        </p:nvSpPr>
        <p:spPr>
          <a:xfrm>
            <a:off x="477795" y="1252152"/>
            <a:ext cx="8254313" cy="5094546"/>
          </a:xfrm>
          <a:prstGeom prst="rect">
            <a:avLst/>
          </a:prstGeom>
          <a:noFill/>
          <a:ln>
            <a:noFill/>
          </a:ln>
        </p:spPr>
        <p:txBody>
          <a:bodyPr spcFirstLastPara="1" wrap="square" lIns="91425" tIns="45700" rIns="91425" bIns="45700" anchor="t" anchorCtr="0">
            <a:normAutofit/>
          </a:bodyPr>
          <a:lstStyle/>
          <a:p>
            <a:pPr lvl="0" indent="-457200" algn="l" rtl="0">
              <a:lnSpc>
                <a:spcPct val="90000"/>
              </a:lnSpc>
              <a:spcBef>
                <a:spcPts val="1000"/>
              </a:spcBef>
              <a:spcAft>
                <a:spcPts val="0"/>
              </a:spcAft>
              <a:buClr>
                <a:schemeClr val="dk1"/>
              </a:buClr>
              <a:buSzPts val="2000"/>
              <a:buAutoNum type="arabicPeriod" startAt="5"/>
            </a:pPr>
            <a:r>
              <a:rPr lang="en-US" altLang="zh-TW" dirty="0">
                <a:latin typeface="Times New Roman"/>
                <a:ea typeface="Times New Roman"/>
                <a:cs typeface="Times New Roman"/>
                <a:sym typeface="Times New Roman"/>
              </a:rPr>
              <a:t>Compile:</a:t>
            </a:r>
            <a:r>
              <a:rPr lang="zh-TW" altLang="en-US" dirty="0">
                <a:latin typeface="Times New Roman"/>
                <a:ea typeface="Times New Roman"/>
                <a:cs typeface="Times New Roman"/>
                <a:sym typeface="Times New Roman"/>
              </a:rPr>
              <a:t> </a:t>
            </a:r>
            <a:endParaRPr lang="en-US" altLang="zh-TW" dirty="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000"/>
              <a:buNone/>
            </a:pPr>
            <a:r>
              <a:rPr lang="en-US" altLang="zh-TW" dirty="0">
                <a:latin typeface="Times New Roman"/>
                <a:ea typeface="Times New Roman"/>
                <a:cs typeface="Times New Roman"/>
                <a:sym typeface="Times New Roman"/>
              </a:rPr>
              <a:t>(before compilation, Quartus will autosave your current process </a:t>
            </a:r>
            <a:r>
              <a:rPr lang="en-US" altLang="zh-TW" dirty="0">
                <a:latin typeface="Times New Roman"/>
                <a:ea typeface="Times New Roman"/>
                <a:cs typeface="Times New Roman"/>
                <a:sym typeface="Wingdings" panose="05000000000000000000" pitchFamily="2" charset="2"/>
              </a:rPr>
              <a:t></a:t>
            </a:r>
            <a:r>
              <a:rPr lang="en-US" altLang="zh-TW" dirty="0">
                <a:latin typeface="Times New Roman"/>
                <a:ea typeface="Times New Roman"/>
                <a:cs typeface="Times New Roman"/>
                <a:sym typeface="Times New Roman"/>
              </a:rPr>
              <a:t>.qpf file)</a:t>
            </a:r>
            <a:endParaRPr lang="en-US" altLang="zh-TW" dirty="0"/>
          </a:p>
          <a:p>
            <a:pPr marL="0" lvl="0" indent="0" algn="l" rtl="0">
              <a:lnSpc>
                <a:spcPct val="90000"/>
              </a:lnSpc>
              <a:spcBef>
                <a:spcPts val="1000"/>
              </a:spcBef>
              <a:spcAft>
                <a:spcPts val="0"/>
              </a:spcAft>
              <a:buClr>
                <a:schemeClr val="dk1"/>
              </a:buClr>
              <a:buSzPts val="1800"/>
              <a:buNone/>
            </a:pPr>
            <a:r>
              <a:rPr lang="en-US" altLang="zh-TW" sz="2000" dirty="0">
                <a:latin typeface="Times New Roman"/>
                <a:ea typeface="Times New Roman"/>
                <a:cs typeface="Times New Roman"/>
                <a:sym typeface="Times New Roman"/>
              </a:rPr>
              <a:t>(may take some time)</a:t>
            </a:r>
          </a:p>
          <a:p>
            <a:pPr marL="457200" lvl="0" indent="-330200" algn="l" rtl="0">
              <a:lnSpc>
                <a:spcPct val="90000"/>
              </a:lnSpc>
              <a:spcBef>
                <a:spcPts val="1000"/>
              </a:spcBef>
              <a:spcAft>
                <a:spcPts val="0"/>
              </a:spcAft>
              <a:buClr>
                <a:schemeClr val="dk1"/>
              </a:buClr>
              <a:buSzPts val="2000"/>
              <a:buFont typeface="Calibri"/>
              <a:buNone/>
            </a:pPr>
            <a:endParaRPr dirty="0">
              <a:latin typeface="Times New Roman"/>
              <a:ea typeface="Times New Roman"/>
              <a:cs typeface="Times New Roman"/>
              <a:sym typeface="Times New Roman"/>
            </a:endParaRPr>
          </a:p>
          <a:p>
            <a:pPr marL="457200" lvl="0" indent="-330200" algn="l" rtl="0">
              <a:lnSpc>
                <a:spcPct val="90000"/>
              </a:lnSpc>
              <a:spcBef>
                <a:spcPts val="1000"/>
              </a:spcBef>
              <a:spcAft>
                <a:spcPts val="0"/>
              </a:spcAft>
              <a:buClr>
                <a:schemeClr val="dk1"/>
              </a:buClr>
              <a:buSzPts val="2000"/>
              <a:buFont typeface="Calibri"/>
              <a:buNone/>
            </a:pPr>
            <a:endParaRPr dirty="0">
              <a:latin typeface="Times New Roman"/>
              <a:ea typeface="Times New Roman"/>
              <a:cs typeface="Times New Roman"/>
              <a:sym typeface="Times New Roman"/>
            </a:endParaRPr>
          </a:p>
          <a:p>
            <a:pPr marL="457200" lvl="0" indent="-330200" algn="l" rtl="0">
              <a:lnSpc>
                <a:spcPct val="90000"/>
              </a:lnSpc>
              <a:spcBef>
                <a:spcPts val="1000"/>
              </a:spcBef>
              <a:spcAft>
                <a:spcPts val="0"/>
              </a:spcAft>
              <a:buClr>
                <a:schemeClr val="dk1"/>
              </a:buClr>
              <a:buSzPts val="2000"/>
              <a:buFont typeface="Calibri"/>
              <a:buNone/>
            </a:pPr>
            <a:endParaRPr dirty="0">
              <a:latin typeface="Times New Roman"/>
              <a:ea typeface="Times New Roman"/>
              <a:cs typeface="Times New Roman"/>
              <a:sym typeface="Times New Roman"/>
            </a:endParaRPr>
          </a:p>
          <a:p>
            <a:pPr marL="457200" lvl="0" indent="-330200" algn="l" rtl="0">
              <a:lnSpc>
                <a:spcPct val="90000"/>
              </a:lnSpc>
              <a:spcBef>
                <a:spcPts val="1000"/>
              </a:spcBef>
              <a:spcAft>
                <a:spcPts val="0"/>
              </a:spcAft>
              <a:buClr>
                <a:schemeClr val="dk1"/>
              </a:buClr>
              <a:buSzPts val="2000"/>
              <a:buFont typeface="Calibri"/>
              <a:buNone/>
            </a:pPr>
            <a:endParaRPr dirty="0">
              <a:latin typeface="Times New Roman"/>
              <a:ea typeface="Times New Roman"/>
              <a:cs typeface="Times New Roman"/>
              <a:sym typeface="Times New Roman"/>
            </a:endParaRPr>
          </a:p>
        </p:txBody>
      </p:sp>
      <p:sp>
        <p:nvSpPr>
          <p:cNvPr id="365" name="Google Shape;365;p24"/>
          <p:cNvSpPr txBox="1">
            <a:spLocks noGrp="1"/>
          </p:cNvSpPr>
          <p:nvPr>
            <p:ph type="sldNum" idx="12"/>
          </p:nvPr>
        </p:nvSpPr>
        <p:spPr>
          <a:xfrm>
            <a:off x="6820415" y="6319086"/>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sp>
        <p:nvSpPr>
          <p:cNvPr id="373" name="Google Shape;373;p24"/>
          <p:cNvSpPr txBox="1"/>
          <p:nvPr/>
        </p:nvSpPr>
        <p:spPr>
          <a:xfrm>
            <a:off x="7189619" y="3549534"/>
            <a:ext cx="1145585"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rgbClr val="FF0000"/>
                </a:solidFill>
                <a:latin typeface="Times New Roman"/>
                <a:ea typeface="Times New Roman"/>
                <a:cs typeface="Times New Roman"/>
                <a:sym typeface="Times New Roman"/>
              </a:rPr>
              <a:t>Press</a:t>
            </a:r>
            <a:endParaRPr sz="2000" b="1" dirty="0">
              <a:solidFill>
                <a:srgbClr val="FF0000"/>
              </a:solidFill>
              <a:latin typeface="Times New Roman"/>
              <a:ea typeface="Times New Roman"/>
              <a:cs typeface="Times New Roman"/>
              <a:sym typeface="Times New Roman"/>
            </a:endParaRPr>
          </a:p>
        </p:txBody>
      </p:sp>
      <p:sp>
        <p:nvSpPr>
          <p:cNvPr id="375" name="Google Shape;375;p24"/>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cxnSp>
        <p:nvCxnSpPr>
          <p:cNvPr id="377" name="Google Shape;377;p24"/>
          <p:cNvCxnSpPr>
            <a:cxnSpLocks/>
          </p:cNvCxnSpPr>
          <p:nvPr/>
        </p:nvCxnSpPr>
        <p:spPr>
          <a:xfrm flipH="1" flipV="1">
            <a:off x="7043912" y="2671065"/>
            <a:ext cx="417202" cy="878469"/>
          </a:xfrm>
          <a:prstGeom prst="straightConnector1">
            <a:avLst/>
          </a:prstGeom>
          <a:noFill/>
          <a:ln w="28575" cap="flat" cmpd="sng">
            <a:solidFill>
              <a:srgbClr val="FF0000"/>
            </a:solidFill>
            <a:prstDash val="solid"/>
            <a:miter lim="800000"/>
            <a:headEnd type="none" w="sm" len="sm"/>
            <a:tailEnd type="triangle" w="med" len="med"/>
          </a:ln>
        </p:spPr>
      </p:cxnSp>
      <p:pic>
        <p:nvPicPr>
          <p:cNvPr id="3" name="圖片 2">
            <a:extLst>
              <a:ext uri="{FF2B5EF4-FFF2-40B4-BE49-F238E27FC236}">
                <a16:creationId xmlns:a16="http://schemas.microsoft.com/office/drawing/2014/main" id="{57098415-BC55-47F7-6008-3C0D5017870F}"/>
              </a:ext>
            </a:extLst>
          </p:cNvPr>
          <p:cNvPicPr>
            <a:picLocks noChangeAspect="1"/>
          </p:cNvPicPr>
          <p:nvPr/>
        </p:nvPicPr>
        <p:blipFill>
          <a:blip r:embed="rId4"/>
          <a:stretch>
            <a:fillRect/>
          </a:stretch>
        </p:blipFill>
        <p:spPr>
          <a:xfrm>
            <a:off x="119254" y="4110621"/>
            <a:ext cx="2415941" cy="791430"/>
          </a:xfrm>
          <a:prstGeom prst="rect">
            <a:avLst/>
          </a:prstGeom>
        </p:spPr>
      </p:pic>
      <p:sp>
        <p:nvSpPr>
          <p:cNvPr id="4" name="文字方塊 3">
            <a:extLst>
              <a:ext uri="{FF2B5EF4-FFF2-40B4-BE49-F238E27FC236}">
                <a16:creationId xmlns:a16="http://schemas.microsoft.com/office/drawing/2014/main" id="{DD9074BB-7A39-2A81-05B9-EDE72D508D32}"/>
              </a:ext>
            </a:extLst>
          </p:cNvPr>
          <p:cNvSpPr txBox="1"/>
          <p:nvPr/>
        </p:nvSpPr>
        <p:spPr>
          <a:xfrm>
            <a:off x="426690" y="3434314"/>
            <a:ext cx="1860213" cy="646331"/>
          </a:xfrm>
          <a:prstGeom prst="rect">
            <a:avLst/>
          </a:prstGeom>
          <a:noFill/>
        </p:spPr>
        <p:txBody>
          <a:bodyPr wrap="square" rtlCol="0">
            <a:spAutoFit/>
          </a:bodyPr>
          <a:lstStyle/>
          <a:p>
            <a:r>
              <a:rPr lang="zh-TW" altLang="en-US" sz="1800" dirty="0">
                <a:latin typeface="標楷體" panose="03000509000000000000" pitchFamily="65" charset="-120"/>
                <a:ea typeface="標楷體" panose="03000509000000000000" pitchFamily="65" charset="-120"/>
              </a:rPr>
              <a:t>等右下角的進度顯示為</a:t>
            </a:r>
            <a:r>
              <a:rPr lang="en-US" altLang="zh-TW" sz="1800" dirty="0">
                <a:latin typeface="標楷體" panose="03000509000000000000" pitchFamily="65" charset="-120"/>
                <a:ea typeface="標楷體" panose="03000509000000000000" pitchFamily="65" charset="-120"/>
              </a:rPr>
              <a:t>100%</a:t>
            </a:r>
            <a:endParaRPr lang="zh-TW" altLang="en-US" sz="18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250958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25"/>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Step-by-step guide</a:t>
            </a:r>
            <a:endParaRPr>
              <a:latin typeface="Times New Roman"/>
              <a:ea typeface="Times New Roman"/>
              <a:cs typeface="Times New Roman"/>
              <a:sym typeface="Times New Roman"/>
            </a:endParaRPr>
          </a:p>
        </p:txBody>
      </p:sp>
      <p:sp>
        <p:nvSpPr>
          <p:cNvPr id="383" name="Google Shape;383;p25"/>
          <p:cNvSpPr txBox="1">
            <a:spLocks noGrp="1"/>
          </p:cNvSpPr>
          <p:nvPr>
            <p:ph type="body" idx="1"/>
          </p:nvPr>
        </p:nvSpPr>
        <p:spPr>
          <a:xfrm>
            <a:off x="477795" y="1252152"/>
            <a:ext cx="8254313" cy="5094546"/>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Clr>
                <a:schemeClr val="dk1"/>
              </a:buClr>
              <a:buSzPts val="2000"/>
              <a:buFont typeface="Calibri"/>
              <a:buAutoNum type="arabicPeriod" startAt="6"/>
            </a:pPr>
            <a:r>
              <a:rPr lang="en-US" dirty="0">
                <a:latin typeface="Times New Roman"/>
                <a:ea typeface="Times New Roman"/>
                <a:cs typeface="Times New Roman"/>
                <a:sym typeface="Times New Roman"/>
              </a:rPr>
              <a:t>Additional settings (Supplement)</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You can select different compiler settings for better compilation</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In advanced setting, synthesis or fitter can make different result</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In .qsf file, you can make these setting by command. </a:t>
            </a:r>
            <a:endParaRPr dirty="0"/>
          </a:p>
          <a:p>
            <a:pPr marL="1143000" lvl="2" indent="-228600" algn="l" rtl="0">
              <a:lnSpc>
                <a:spcPct val="90000"/>
              </a:lnSpc>
              <a:spcBef>
                <a:spcPts val="500"/>
              </a:spcBef>
              <a:spcAft>
                <a:spcPts val="0"/>
              </a:spcAft>
              <a:buClr>
                <a:schemeClr val="dk1"/>
              </a:buClr>
              <a:buSzPts val="1600"/>
              <a:buChar char="˗"/>
            </a:pPr>
            <a:r>
              <a:rPr lang="en-US" dirty="0">
                <a:latin typeface="Times New Roman"/>
                <a:ea typeface="Times New Roman"/>
                <a:cs typeface="Times New Roman"/>
                <a:sym typeface="Times New Roman"/>
              </a:rPr>
              <a:t>Ex. 16 parallel compilier setting </a:t>
            </a:r>
            <a:endParaRPr dirty="0"/>
          </a:p>
          <a:p>
            <a:pPr marL="1143000" lvl="2" indent="-228600" algn="l" rtl="0">
              <a:lnSpc>
                <a:spcPct val="90000"/>
              </a:lnSpc>
              <a:spcBef>
                <a:spcPts val="500"/>
              </a:spcBef>
              <a:spcAft>
                <a:spcPts val="0"/>
              </a:spcAft>
              <a:buClr>
                <a:schemeClr val="dk1"/>
              </a:buClr>
              <a:buSzPts val="1600"/>
              <a:buChar char="˗"/>
            </a:pPr>
            <a:r>
              <a:rPr lang="en-US" dirty="0" err="1">
                <a:latin typeface="Times New Roman"/>
                <a:ea typeface="Times New Roman"/>
                <a:cs typeface="Times New Roman"/>
                <a:sym typeface="Times New Roman"/>
              </a:rPr>
              <a:t>set_global_assignment</a:t>
            </a:r>
            <a:r>
              <a:rPr lang="en-US" dirty="0">
                <a:latin typeface="Times New Roman"/>
                <a:ea typeface="Times New Roman"/>
                <a:cs typeface="Times New Roman"/>
                <a:sym typeface="Times New Roman"/>
              </a:rPr>
              <a:t> -name NUM_PARALLEL_PROCESSORS ALL</a:t>
            </a:r>
            <a:endParaRPr dirty="0"/>
          </a:p>
          <a:p>
            <a:pPr marL="1143000" lvl="2" indent="-228600" algn="l" rtl="0">
              <a:lnSpc>
                <a:spcPct val="90000"/>
              </a:lnSpc>
              <a:spcBef>
                <a:spcPts val="500"/>
              </a:spcBef>
              <a:spcAft>
                <a:spcPts val="0"/>
              </a:spcAft>
              <a:buClr>
                <a:schemeClr val="dk1"/>
              </a:buClr>
              <a:buSzPts val="1600"/>
              <a:buChar char="˗"/>
            </a:pPr>
            <a:r>
              <a:rPr lang="en-US" dirty="0">
                <a:latin typeface="Times New Roman"/>
                <a:ea typeface="Times New Roman"/>
                <a:cs typeface="Times New Roman"/>
                <a:sym typeface="Times New Roman"/>
              </a:rPr>
              <a:t>qsf file is very important~</a:t>
            </a:r>
            <a:endParaRPr dirty="0">
              <a:latin typeface="Times New Roman"/>
              <a:ea typeface="Times New Roman"/>
              <a:cs typeface="Times New Roman"/>
              <a:sym typeface="Times New Roman"/>
            </a:endParaRPr>
          </a:p>
        </p:txBody>
      </p:sp>
      <p:sp>
        <p:nvSpPr>
          <p:cNvPr id="384" name="Google Shape;384;p25"/>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
        <p:nvSpPr>
          <p:cNvPr id="385" name="Google Shape;385;p25"/>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pic>
        <p:nvPicPr>
          <p:cNvPr id="386" name="Google Shape;386;p25"/>
          <p:cNvPicPr preferRelativeResize="0"/>
          <p:nvPr/>
        </p:nvPicPr>
        <p:blipFill rotWithShape="1">
          <a:blip r:embed="rId3">
            <a:alphaModFix/>
          </a:blip>
          <a:srcRect/>
          <a:stretch/>
        </p:blipFill>
        <p:spPr>
          <a:xfrm>
            <a:off x="1445506" y="3607061"/>
            <a:ext cx="2961905" cy="3104762"/>
          </a:xfrm>
          <a:prstGeom prst="rect">
            <a:avLst/>
          </a:prstGeom>
          <a:noFill/>
          <a:ln>
            <a:noFill/>
          </a:ln>
        </p:spPr>
      </p:pic>
      <p:pic>
        <p:nvPicPr>
          <p:cNvPr id="387" name="Google Shape;387;p25"/>
          <p:cNvPicPr preferRelativeResize="0"/>
          <p:nvPr/>
        </p:nvPicPr>
        <p:blipFill rotWithShape="1">
          <a:blip r:embed="rId4">
            <a:alphaModFix/>
          </a:blip>
          <a:srcRect/>
          <a:stretch/>
        </p:blipFill>
        <p:spPr>
          <a:xfrm>
            <a:off x="4792708" y="3877431"/>
            <a:ext cx="3056407" cy="283439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pic>
        <p:nvPicPr>
          <p:cNvPr id="392" name="Google Shape;392;p26"/>
          <p:cNvPicPr preferRelativeResize="0"/>
          <p:nvPr/>
        </p:nvPicPr>
        <p:blipFill rotWithShape="1">
          <a:blip r:embed="rId3">
            <a:alphaModFix/>
          </a:blip>
          <a:srcRect b="29318"/>
          <a:stretch/>
        </p:blipFill>
        <p:spPr>
          <a:xfrm>
            <a:off x="878603" y="1662692"/>
            <a:ext cx="7386794" cy="3307341"/>
          </a:xfrm>
          <a:prstGeom prst="rect">
            <a:avLst/>
          </a:prstGeom>
          <a:noFill/>
          <a:ln>
            <a:noFill/>
          </a:ln>
        </p:spPr>
      </p:pic>
      <p:sp>
        <p:nvSpPr>
          <p:cNvPr id="393" name="Google Shape;393;p26"/>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Step-by-step guide</a:t>
            </a:r>
            <a:endParaRPr dirty="0">
              <a:latin typeface="Times New Roman"/>
              <a:ea typeface="Times New Roman"/>
              <a:cs typeface="Times New Roman"/>
              <a:sym typeface="Times New Roman"/>
            </a:endParaRPr>
          </a:p>
        </p:txBody>
      </p:sp>
      <p:sp>
        <p:nvSpPr>
          <p:cNvPr id="394" name="Google Shape;394;p26"/>
          <p:cNvSpPr txBox="1">
            <a:spLocks noGrp="1"/>
          </p:cNvSpPr>
          <p:nvPr>
            <p:ph type="body" idx="1"/>
          </p:nvPr>
        </p:nvSpPr>
        <p:spPr>
          <a:xfrm>
            <a:off x="477795" y="1252152"/>
            <a:ext cx="8254313" cy="5094546"/>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Clr>
                <a:schemeClr val="dk1"/>
              </a:buClr>
              <a:buSzPts val="2000"/>
              <a:buFont typeface="Calibri"/>
              <a:buAutoNum type="arabicPeriod" startAt="7"/>
            </a:pPr>
            <a:r>
              <a:rPr lang="en-US" dirty="0">
                <a:latin typeface="Times New Roman"/>
                <a:ea typeface="Times New Roman"/>
                <a:cs typeface="Times New Roman"/>
                <a:sym typeface="Times New Roman"/>
              </a:rPr>
              <a:t>Compilation report</a:t>
            </a:r>
            <a:endParaRPr dirty="0">
              <a:latin typeface="Times New Roman"/>
              <a:ea typeface="Times New Roman"/>
              <a:cs typeface="Times New Roman"/>
              <a:sym typeface="Times New Roman"/>
            </a:endParaRPr>
          </a:p>
        </p:txBody>
      </p:sp>
      <p:sp>
        <p:nvSpPr>
          <p:cNvPr id="395" name="Google Shape;395;p26"/>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sp>
        <p:nvSpPr>
          <p:cNvPr id="396" name="Google Shape;396;p26"/>
          <p:cNvSpPr/>
          <p:nvPr/>
        </p:nvSpPr>
        <p:spPr>
          <a:xfrm>
            <a:off x="5565613" y="3893720"/>
            <a:ext cx="1763193" cy="306805"/>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7" name="Google Shape;397;p26"/>
          <p:cNvSpPr/>
          <p:nvPr/>
        </p:nvSpPr>
        <p:spPr>
          <a:xfrm>
            <a:off x="5517988" y="3212788"/>
            <a:ext cx="1763193" cy="315807"/>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8" name="Google Shape;398;p26"/>
          <p:cNvSpPr/>
          <p:nvPr/>
        </p:nvSpPr>
        <p:spPr>
          <a:xfrm>
            <a:off x="1242542" y="3606348"/>
            <a:ext cx="1547708" cy="169916"/>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9" name="Google Shape;399;p26"/>
          <p:cNvSpPr txBox="1"/>
          <p:nvPr/>
        </p:nvSpPr>
        <p:spPr>
          <a:xfrm>
            <a:off x="3972232" y="1128290"/>
            <a:ext cx="240363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rgbClr val="FF0000"/>
                </a:solidFill>
                <a:latin typeface="Times New Roman"/>
                <a:ea typeface="Times New Roman"/>
                <a:cs typeface="Times New Roman"/>
                <a:sym typeface="Times New Roman"/>
              </a:rPr>
              <a:t>Pay attention to these</a:t>
            </a:r>
            <a:endParaRPr sz="2000" dirty="0">
              <a:solidFill>
                <a:srgbClr val="FF0000"/>
              </a:solidFill>
              <a:latin typeface="Times New Roman"/>
              <a:ea typeface="Times New Roman"/>
              <a:cs typeface="Times New Roman"/>
              <a:sym typeface="Times New Roman"/>
            </a:endParaRPr>
          </a:p>
        </p:txBody>
      </p:sp>
      <p:cxnSp>
        <p:nvCxnSpPr>
          <p:cNvPr id="401" name="Google Shape;401;p26"/>
          <p:cNvCxnSpPr>
            <a:cxnSpLocks/>
            <a:stCxn id="399" idx="2"/>
            <a:endCxn id="397" idx="0"/>
          </p:cNvCxnSpPr>
          <p:nvPr/>
        </p:nvCxnSpPr>
        <p:spPr>
          <a:xfrm rot="16200000" flipH="1">
            <a:off x="4944602" y="1757804"/>
            <a:ext cx="1684429" cy="1225538"/>
          </a:xfrm>
          <a:prstGeom prst="curvedConnector3">
            <a:avLst>
              <a:gd name="adj1" fmla="val 50000"/>
            </a:avLst>
          </a:prstGeom>
          <a:noFill/>
          <a:ln w="19050" cap="flat" cmpd="sng">
            <a:solidFill>
              <a:srgbClr val="FF0000"/>
            </a:solidFill>
            <a:prstDash val="solid"/>
            <a:miter lim="800000"/>
            <a:headEnd type="none" w="sm" len="sm"/>
            <a:tailEnd type="triangle" w="med" len="med"/>
          </a:ln>
        </p:spPr>
      </p:cxnSp>
      <p:cxnSp>
        <p:nvCxnSpPr>
          <p:cNvPr id="402" name="Google Shape;402;p26"/>
          <p:cNvCxnSpPr>
            <a:cxnSpLocks/>
            <a:stCxn id="399" idx="2"/>
            <a:endCxn id="396" idx="1"/>
          </p:cNvCxnSpPr>
          <p:nvPr/>
        </p:nvCxnSpPr>
        <p:spPr>
          <a:xfrm rot="16200000" flipH="1">
            <a:off x="4110448" y="2591958"/>
            <a:ext cx="2518764" cy="391566"/>
          </a:xfrm>
          <a:prstGeom prst="curvedConnector2">
            <a:avLst/>
          </a:prstGeom>
          <a:noFill/>
          <a:ln w="19050" cap="flat" cmpd="sng">
            <a:solidFill>
              <a:srgbClr val="FF0000"/>
            </a:solidFill>
            <a:prstDash val="solid"/>
            <a:miter lim="800000"/>
            <a:headEnd type="none" w="sm" len="sm"/>
            <a:tailEnd type="triangle" w="med" len="med"/>
          </a:ln>
        </p:spPr>
      </p:cxnSp>
      <p:sp>
        <p:nvSpPr>
          <p:cNvPr id="403" name="Google Shape;403;p26"/>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pic>
        <p:nvPicPr>
          <p:cNvPr id="3" name="圖片 2">
            <a:extLst>
              <a:ext uri="{FF2B5EF4-FFF2-40B4-BE49-F238E27FC236}">
                <a16:creationId xmlns:a16="http://schemas.microsoft.com/office/drawing/2014/main" id="{2A6FAE1A-4A1C-4365-991E-0311CBBA707F}"/>
              </a:ext>
            </a:extLst>
          </p:cNvPr>
          <p:cNvPicPr>
            <a:picLocks noChangeAspect="1"/>
          </p:cNvPicPr>
          <p:nvPr/>
        </p:nvPicPr>
        <p:blipFill>
          <a:blip r:embed="rId4"/>
          <a:stretch>
            <a:fillRect/>
          </a:stretch>
        </p:blipFill>
        <p:spPr>
          <a:xfrm>
            <a:off x="703984" y="5129287"/>
            <a:ext cx="2086266" cy="1181265"/>
          </a:xfrm>
          <a:prstGeom prst="rect">
            <a:avLst/>
          </a:prstGeom>
        </p:spPr>
      </p:pic>
      <p:sp>
        <p:nvSpPr>
          <p:cNvPr id="16" name="Google Shape;399;p26">
            <a:extLst>
              <a:ext uri="{FF2B5EF4-FFF2-40B4-BE49-F238E27FC236}">
                <a16:creationId xmlns:a16="http://schemas.microsoft.com/office/drawing/2014/main" id="{DA7E6CFD-15A4-4F4F-BFBE-9B804D7478A7}"/>
              </a:ext>
            </a:extLst>
          </p:cNvPr>
          <p:cNvSpPr txBox="1"/>
          <p:nvPr/>
        </p:nvSpPr>
        <p:spPr>
          <a:xfrm>
            <a:off x="3114358" y="5458331"/>
            <a:ext cx="240363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rgbClr val="FF0000"/>
                </a:solidFill>
                <a:latin typeface="Times New Roman"/>
                <a:ea typeface="Times New Roman"/>
                <a:cs typeface="Times New Roman"/>
                <a:sym typeface="Times New Roman"/>
              </a:rPr>
              <a:t>Ignore this for now</a:t>
            </a:r>
            <a:endParaRPr sz="2000" dirty="0">
              <a:solidFill>
                <a:srgbClr val="FF0000"/>
              </a:solidFill>
              <a:latin typeface="Times New Roman"/>
              <a:ea typeface="Times New Roman"/>
              <a:cs typeface="Times New Roman"/>
              <a:sym typeface="Times New Roman"/>
            </a:endParaRPr>
          </a:p>
        </p:txBody>
      </p:sp>
      <p:pic>
        <p:nvPicPr>
          <p:cNvPr id="4" name="圖片 3" descr="一張含有 文字, 螢幕擷取畫面, 字型, 數字 的圖片&#10;&#10;AI 產生的內容可能不正確。">
            <a:extLst>
              <a:ext uri="{FF2B5EF4-FFF2-40B4-BE49-F238E27FC236}">
                <a16:creationId xmlns:a16="http://schemas.microsoft.com/office/drawing/2014/main" id="{11EAB60B-4DAA-39AB-3943-5A1C4DEAF59B}"/>
              </a:ext>
            </a:extLst>
          </p:cNvPr>
          <p:cNvPicPr>
            <a:picLocks noChangeAspect="1"/>
          </p:cNvPicPr>
          <p:nvPr/>
        </p:nvPicPr>
        <p:blipFill>
          <a:blip r:embed="rId5"/>
          <a:stretch>
            <a:fillRect/>
          </a:stretch>
        </p:blipFill>
        <p:spPr>
          <a:xfrm>
            <a:off x="831784" y="1605540"/>
            <a:ext cx="2579070" cy="3035449"/>
          </a:xfrm>
          <a:prstGeom prst="rect">
            <a:avLst/>
          </a:prstGeom>
        </p:spPr>
      </p:pic>
      <p:cxnSp>
        <p:nvCxnSpPr>
          <p:cNvPr id="400" name="Google Shape;400;p26"/>
          <p:cNvCxnSpPr>
            <a:cxnSpLocks/>
            <a:stCxn id="399" idx="2"/>
          </p:cNvCxnSpPr>
          <p:nvPr/>
        </p:nvCxnSpPr>
        <p:spPr>
          <a:xfrm rot="5400000">
            <a:off x="4036384" y="486290"/>
            <a:ext cx="95595" cy="2179733"/>
          </a:xfrm>
          <a:prstGeom prst="curvedConnector2">
            <a:avLst/>
          </a:prstGeom>
          <a:noFill/>
          <a:ln w="19050" cap="flat" cmpd="sng">
            <a:solidFill>
              <a:srgbClr val="FF0000"/>
            </a:solidFill>
            <a:prstDash val="solid"/>
            <a:miter lim="800000"/>
            <a:headEnd type="none" w="sm" len="sm"/>
            <a:tailEnd type="triangle" w="med" len="med"/>
          </a:ln>
        </p:spPr>
      </p:cxnSp>
      <p:sp>
        <p:nvSpPr>
          <p:cNvPr id="6" name="文字方塊 5">
            <a:extLst>
              <a:ext uri="{FF2B5EF4-FFF2-40B4-BE49-F238E27FC236}">
                <a16:creationId xmlns:a16="http://schemas.microsoft.com/office/drawing/2014/main" id="{631C70C2-E8DC-63B4-97BC-AA8C2158154D}"/>
              </a:ext>
            </a:extLst>
          </p:cNvPr>
          <p:cNvSpPr txBox="1"/>
          <p:nvPr/>
        </p:nvSpPr>
        <p:spPr>
          <a:xfrm>
            <a:off x="3911378" y="607370"/>
            <a:ext cx="3750875" cy="584775"/>
          </a:xfrm>
          <a:prstGeom prst="rect">
            <a:avLst/>
          </a:prstGeom>
          <a:noFill/>
        </p:spPr>
        <p:txBody>
          <a:bodyPr wrap="square" rtlCol="0">
            <a:spAutoFit/>
          </a:bodyPr>
          <a:lstStyle/>
          <a:p>
            <a:r>
              <a:rPr lang="zh-TW" altLang="en-US" sz="1600" dirty="0">
                <a:latin typeface="標楷體" panose="03000509000000000000" pitchFamily="65" charset="-120"/>
                <a:ea typeface="標楷體" panose="03000509000000000000" pitchFamily="65" charset="-120"/>
              </a:rPr>
              <a:t>確保</a:t>
            </a:r>
            <a:r>
              <a:rPr lang="en-US" altLang="zh-TW" sz="1600" dirty="0">
                <a:latin typeface="標楷體" panose="03000509000000000000" pitchFamily="65" charset="-120"/>
                <a:ea typeface="標楷體" panose="03000509000000000000" pitchFamily="65" charset="-120"/>
              </a:rPr>
              <a:t>fast corner</a:t>
            </a:r>
            <a:r>
              <a:rPr lang="zh-TW" altLang="en-US" sz="1600" dirty="0">
                <a:latin typeface="標楷體" panose="03000509000000000000" pitchFamily="65" charset="-120"/>
                <a:ea typeface="標楷體" panose="03000509000000000000" pitchFamily="65" charset="-120"/>
              </a:rPr>
              <a:t>一定要過就好</a:t>
            </a:r>
            <a:endParaRPr lang="en-US" altLang="zh-TW" sz="1600" dirty="0">
              <a:latin typeface="標楷體" panose="03000509000000000000" pitchFamily="65" charset="-120"/>
              <a:ea typeface="標楷體" panose="03000509000000000000" pitchFamily="65" charset="-120"/>
            </a:endParaRPr>
          </a:p>
          <a:p>
            <a:r>
              <a:rPr lang="zh-TW" altLang="en-US" sz="1600" dirty="0">
                <a:latin typeface="標楷體" panose="03000509000000000000" pitchFamily="65" charset="-120"/>
                <a:ea typeface="標楷體" panose="03000509000000000000" pitchFamily="65" charset="-120"/>
              </a:rPr>
              <a:t>實際跑的環境不可能在</a:t>
            </a:r>
            <a:r>
              <a:rPr lang="en-US" altLang="zh-TW" sz="1600" dirty="0">
                <a:latin typeface="標楷體" panose="03000509000000000000" pitchFamily="65" charset="-120"/>
                <a:ea typeface="標楷體" panose="03000509000000000000" pitchFamily="65" charset="-120"/>
              </a:rPr>
              <a:t>slow corner</a:t>
            </a:r>
            <a:endParaRPr lang="zh-TW" altLang="en-US" sz="1600" dirty="0">
              <a:latin typeface="標楷體" panose="03000509000000000000" pitchFamily="65" charset="-120"/>
              <a:ea typeface="標楷體" panose="03000509000000000000" pitchFamily="65" charset="-120"/>
            </a:endParaRPr>
          </a:p>
        </p:txBody>
      </p:sp>
      <p:sp>
        <p:nvSpPr>
          <p:cNvPr id="2" name="文字方塊 1">
            <a:extLst>
              <a:ext uri="{FF2B5EF4-FFF2-40B4-BE49-F238E27FC236}">
                <a16:creationId xmlns:a16="http://schemas.microsoft.com/office/drawing/2014/main" id="{BD157137-DD4F-4E33-B4D6-93E6C5E639A4}"/>
              </a:ext>
            </a:extLst>
          </p:cNvPr>
          <p:cNvSpPr txBox="1"/>
          <p:nvPr/>
        </p:nvSpPr>
        <p:spPr>
          <a:xfrm>
            <a:off x="3114358" y="5911126"/>
            <a:ext cx="2951162" cy="523220"/>
          </a:xfrm>
          <a:prstGeom prst="rect">
            <a:avLst/>
          </a:prstGeom>
          <a:noFill/>
        </p:spPr>
        <p:txBody>
          <a:bodyPr wrap="square" rtlCol="0">
            <a:spAutoFit/>
          </a:bodyPr>
          <a:lstStyle/>
          <a:p>
            <a:r>
              <a:rPr lang="en-US" altLang="zh-TW" dirty="0"/>
              <a:t>RIFFA</a:t>
            </a:r>
            <a:r>
              <a:rPr lang="zh-TW" altLang="en-US" dirty="0"/>
              <a:t>有東西沒設定好，反正能動就先不管他</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27"/>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Step-by-step guide</a:t>
            </a:r>
            <a:endParaRPr>
              <a:latin typeface="Times New Roman"/>
              <a:ea typeface="Times New Roman"/>
              <a:cs typeface="Times New Roman"/>
              <a:sym typeface="Times New Roman"/>
            </a:endParaRPr>
          </a:p>
        </p:txBody>
      </p:sp>
      <p:sp>
        <p:nvSpPr>
          <p:cNvPr id="409" name="Google Shape;409;p27"/>
          <p:cNvSpPr txBox="1">
            <a:spLocks noGrp="1"/>
          </p:cNvSpPr>
          <p:nvPr>
            <p:ph type="body" idx="1"/>
          </p:nvPr>
        </p:nvSpPr>
        <p:spPr>
          <a:xfrm>
            <a:off x="477795" y="1252152"/>
            <a:ext cx="8254313" cy="5094546"/>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Clr>
                <a:schemeClr val="dk1"/>
              </a:buClr>
              <a:buSzPts val="2000"/>
              <a:buFont typeface="Calibri"/>
              <a:buAutoNum type="arabicPeriod" startAt="8"/>
            </a:pPr>
            <a:r>
              <a:rPr lang="en-US">
                <a:latin typeface="Times New Roman"/>
                <a:ea typeface="Times New Roman"/>
                <a:cs typeface="Times New Roman"/>
                <a:sym typeface="Times New Roman"/>
              </a:rPr>
              <a:t>Timing analyzer</a:t>
            </a:r>
            <a:endParaRPr/>
          </a:p>
          <a:p>
            <a:pPr marL="685800" lvl="1" indent="-228600" algn="l" rtl="0">
              <a:lnSpc>
                <a:spcPct val="90000"/>
              </a:lnSpc>
              <a:spcBef>
                <a:spcPts val="500"/>
              </a:spcBef>
              <a:spcAft>
                <a:spcPts val="0"/>
              </a:spcAft>
              <a:buClr>
                <a:schemeClr val="dk1"/>
              </a:buClr>
              <a:buSzPts val="1800"/>
              <a:buChar char="˗"/>
            </a:pPr>
            <a:r>
              <a:rPr lang="en-US">
                <a:latin typeface="Times New Roman"/>
                <a:ea typeface="Times New Roman"/>
                <a:cs typeface="Times New Roman"/>
                <a:sym typeface="Times New Roman"/>
              </a:rPr>
              <a:t>WNS should be positive for all corners</a:t>
            </a:r>
            <a:endParaRPr>
              <a:latin typeface="Times New Roman"/>
              <a:ea typeface="Times New Roman"/>
              <a:cs typeface="Times New Roman"/>
              <a:sym typeface="Times New Roman"/>
            </a:endParaRPr>
          </a:p>
        </p:txBody>
      </p:sp>
      <p:sp>
        <p:nvSpPr>
          <p:cNvPr id="410" name="Google Shape;410;p27"/>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sp>
        <p:nvSpPr>
          <p:cNvPr id="411" name="Google Shape;411;p27"/>
          <p:cNvSpPr txBox="1"/>
          <p:nvPr/>
        </p:nvSpPr>
        <p:spPr>
          <a:xfrm>
            <a:off x="5360162" y="1552460"/>
            <a:ext cx="267893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Times New Roman"/>
                <a:ea typeface="Times New Roman"/>
                <a:cs typeface="Times New Roman"/>
                <a:sym typeface="Times New Roman"/>
              </a:rPr>
              <a:t>Not ok, but we’ll skip for now</a:t>
            </a:r>
            <a:endParaRPr sz="1600">
              <a:solidFill>
                <a:srgbClr val="FF0000"/>
              </a:solidFill>
              <a:latin typeface="Times New Roman"/>
              <a:ea typeface="Times New Roman"/>
              <a:cs typeface="Times New Roman"/>
              <a:sym typeface="Times New Roman"/>
            </a:endParaRPr>
          </a:p>
        </p:txBody>
      </p:sp>
      <p:sp>
        <p:nvSpPr>
          <p:cNvPr id="412" name="Google Shape;412;p27"/>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pic>
        <p:nvPicPr>
          <p:cNvPr id="413" name="Google Shape;413;p27"/>
          <p:cNvPicPr preferRelativeResize="0"/>
          <p:nvPr/>
        </p:nvPicPr>
        <p:blipFill rotWithShape="1">
          <a:blip r:embed="rId3">
            <a:alphaModFix/>
          </a:blip>
          <a:srcRect/>
          <a:stretch/>
        </p:blipFill>
        <p:spPr>
          <a:xfrm>
            <a:off x="718494" y="1986609"/>
            <a:ext cx="7707012" cy="419297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pic>
        <p:nvPicPr>
          <p:cNvPr id="418" name="Google Shape;418;p28"/>
          <p:cNvPicPr preferRelativeResize="0"/>
          <p:nvPr/>
        </p:nvPicPr>
        <p:blipFill rotWithShape="1">
          <a:blip r:embed="rId3">
            <a:alphaModFix/>
          </a:blip>
          <a:srcRect/>
          <a:stretch/>
        </p:blipFill>
        <p:spPr>
          <a:xfrm>
            <a:off x="6572442" y="146177"/>
            <a:ext cx="2434195" cy="3685820"/>
          </a:xfrm>
          <a:prstGeom prst="rect">
            <a:avLst/>
          </a:prstGeom>
          <a:noFill/>
          <a:ln>
            <a:noFill/>
          </a:ln>
        </p:spPr>
      </p:pic>
      <p:sp>
        <p:nvSpPr>
          <p:cNvPr id="419" name="Google Shape;419;p28"/>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Step-by-step guide</a:t>
            </a:r>
            <a:endParaRPr>
              <a:latin typeface="Times New Roman"/>
              <a:ea typeface="Times New Roman"/>
              <a:cs typeface="Times New Roman"/>
              <a:sym typeface="Times New Roman"/>
            </a:endParaRPr>
          </a:p>
        </p:txBody>
      </p:sp>
      <p:sp>
        <p:nvSpPr>
          <p:cNvPr id="420" name="Google Shape;420;p28"/>
          <p:cNvSpPr txBox="1">
            <a:spLocks noGrp="1"/>
          </p:cNvSpPr>
          <p:nvPr>
            <p:ph type="body" idx="1"/>
          </p:nvPr>
        </p:nvSpPr>
        <p:spPr>
          <a:xfrm>
            <a:off x="477795" y="1252152"/>
            <a:ext cx="8254313" cy="5094546"/>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Clr>
                <a:schemeClr val="dk1"/>
              </a:buClr>
              <a:buSzPts val="2000"/>
              <a:buFont typeface="Calibri"/>
              <a:buAutoNum type="arabicPeriod" startAt="9"/>
            </a:pPr>
            <a:r>
              <a:rPr lang="en-US" dirty="0">
                <a:latin typeface="Times New Roman"/>
                <a:ea typeface="Times New Roman"/>
                <a:cs typeface="Times New Roman"/>
                <a:sym typeface="Times New Roman"/>
              </a:rPr>
              <a:t>Timequest timing analyzer</a:t>
            </a:r>
            <a:endParaRPr dirty="0">
              <a:latin typeface="Times New Roman"/>
              <a:ea typeface="Times New Roman"/>
              <a:cs typeface="Times New Roman"/>
              <a:sym typeface="Times New Roman"/>
            </a:endParaRPr>
          </a:p>
        </p:txBody>
      </p:sp>
      <p:sp>
        <p:nvSpPr>
          <p:cNvPr id="421" name="Google Shape;421;p28"/>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sp>
        <p:nvSpPr>
          <p:cNvPr id="422" name="Google Shape;422;p28"/>
          <p:cNvSpPr/>
          <p:nvPr/>
        </p:nvSpPr>
        <p:spPr>
          <a:xfrm>
            <a:off x="5498449" y="2246085"/>
            <a:ext cx="514350" cy="186872"/>
          </a:xfrm>
          <a:prstGeom prst="rightArrow">
            <a:avLst>
              <a:gd name="adj1" fmla="val 50000"/>
              <a:gd name="adj2" fmla="val 50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3" name="Google Shape;423;p28"/>
          <p:cNvSpPr/>
          <p:nvPr/>
        </p:nvSpPr>
        <p:spPr>
          <a:xfrm>
            <a:off x="7724775" y="3618772"/>
            <a:ext cx="411263" cy="124553"/>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4" name="Google Shape;424;p28"/>
          <p:cNvSpPr/>
          <p:nvPr/>
        </p:nvSpPr>
        <p:spPr>
          <a:xfrm rot="-5400000" flipH="1">
            <a:off x="7140725" y="4035177"/>
            <a:ext cx="457200" cy="488738"/>
          </a:xfrm>
          <a:prstGeom prst="bentUpArrow">
            <a:avLst>
              <a:gd name="adj1" fmla="val 25000"/>
              <a:gd name="adj2" fmla="val 25000"/>
              <a:gd name="adj3" fmla="val 25000"/>
            </a:avLst>
          </a:prstGeom>
          <a:noFill/>
          <a:ln w="9525"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5" name="Google Shape;425;p28"/>
          <p:cNvSpPr txBox="1"/>
          <p:nvPr/>
        </p:nvSpPr>
        <p:spPr>
          <a:xfrm>
            <a:off x="6342910" y="4920364"/>
            <a:ext cx="2339102"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FF0000"/>
                </a:solidFill>
                <a:latin typeface="Times New Roman"/>
                <a:ea typeface="Times New Roman"/>
                <a:cs typeface="Times New Roman"/>
                <a:sym typeface="Times New Roman"/>
              </a:rPr>
              <a:t>此工具可找到</a:t>
            </a:r>
            <a:endParaRPr sz="2800">
              <a:solidFill>
                <a:srgbClr val="FF0000"/>
              </a:solidFill>
              <a:latin typeface="Times New Roman"/>
              <a:ea typeface="Times New Roman"/>
              <a:cs typeface="Times New Roman"/>
              <a:sym typeface="Times New Roman"/>
            </a:endParaRPr>
          </a:p>
          <a:p>
            <a:pPr marL="0" marR="0" lvl="0" indent="0" algn="l" rtl="0">
              <a:spcBef>
                <a:spcPts val="0"/>
              </a:spcBef>
              <a:spcAft>
                <a:spcPts val="0"/>
              </a:spcAft>
              <a:buNone/>
            </a:pPr>
            <a:r>
              <a:rPr lang="en-US" sz="2800">
                <a:solidFill>
                  <a:srgbClr val="FF0000"/>
                </a:solidFill>
                <a:latin typeface="Times New Roman"/>
                <a:ea typeface="Times New Roman"/>
                <a:cs typeface="Times New Roman"/>
                <a:sym typeface="Times New Roman"/>
              </a:rPr>
              <a:t>Critical path</a:t>
            </a:r>
            <a:endParaRPr/>
          </a:p>
        </p:txBody>
      </p:sp>
      <p:sp>
        <p:nvSpPr>
          <p:cNvPr id="426" name="Google Shape;426;p28"/>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pic>
        <p:nvPicPr>
          <p:cNvPr id="427" name="Google Shape;427;p28"/>
          <p:cNvPicPr preferRelativeResize="0"/>
          <p:nvPr/>
        </p:nvPicPr>
        <p:blipFill rotWithShape="1">
          <a:blip r:embed="rId4">
            <a:alphaModFix/>
          </a:blip>
          <a:srcRect/>
          <a:stretch/>
        </p:blipFill>
        <p:spPr>
          <a:xfrm>
            <a:off x="648175" y="1663883"/>
            <a:ext cx="4679895" cy="1538147"/>
          </a:xfrm>
          <a:prstGeom prst="rect">
            <a:avLst/>
          </a:prstGeom>
          <a:noFill/>
          <a:ln>
            <a:noFill/>
          </a:ln>
        </p:spPr>
      </p:pic>
      <p:pic>
        <p:nvPicPr>
          <p:cNvPr id="428" name="Google Shape;428;p28"/>
          <p:cNvPicPr preferRelativeResize="0"/>
          <p:nvPr/>
        </p:nvPicPr>
        <p:blipFill rotWithShape="1">
          <a:blip r:embed="rId5">
            <a:alphaModFix/>
          </a:blip>
          <a:srcRect/>
          <a:stretch/>
        </p:blipFill>
        <p:spPr>
          <a:xfrm>
            <a:off x="1151482" y="3415375"/>
            <a:ext cx="4855061" cy="280007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29"/>
          <p:cNvSpPr txBox="1">
            <a:spLocks noGrp="1"/>
          </p:cNvSpPr>
          <p:nvPr>
            <p:ph type="title"/>
          </p:nvPr>
        </p:nvSpPr>
        <p:spPr>
          <a:xfrm>
            <a:off x="477795" y="24832"/>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Step-by-step guide</a:t>
            </a:r>
            <a:endParaRPr dirty="0">
              <a:latin typeface="Times New Roman"/>
              <a:ea typeface="Times New Roman"/>
              <a:cs typeface="Times New Roman"/>
              <a:sym typeface="Times New Roman"/>
            </a:endParaRPr>
          </a:p>
        </p:txBody>
      </p:sp>
      <p:sp>
        <p:nvSpPr>
          <p:cNvPr id="434" name="Google Shape;434;p29"/>
          <p:cNvSpPr txBox="1">
            <a:spLocks noGrp="1"/>
          </p:cNvSpPr>
          <p:nvPr>
            <p:ph type="body" idx="1"/>
          </p:nvPr>
        </p:nvSpPr>
        <p:spPr>
          <a:xfrm>
            <a:off x="477795" y="916571"/>
            <a:ext cx="8192380" cy="4096004"/>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Clr>
                <a:schemeClr val="dk1"/>
              </a:buClr>
              <a:buSzPts val="2000"/>
              <a:buFont typeface="Calibri"/>
              <a:buAutoNum type="arabicPeriod" startAt="10"/>
            </a:pPr>
            <a:r>
              <a:rPr lang="en-US" dirty="0">
                <a:latin typeface="Times New Roman"/>
                <a:ea typeface="Times New Roman"/>
                <a:cs typeface="Times New Roman"/>
                <a:sym typeface="Times New Roman"/>
              </a:rPr>
              <a:t>Programmer</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After finish compilation</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cd &lt;your path&gt;/riffa_2.2.2/source/fpga/altera/</a:t>
            </a:r>
            <a:r>
              <a:rPr lang="en-US" dirty="0">
                <a:solidFill>
                  <a:srgbClr val="00B0F0"/>
                </a:solidFill>
                <a:latin typeface="Times New Roman"/>
                <a:ea typeface="Times New Roman"/>
                <a:cs typeface="Times New Roman"/>
                <a:sym typeface="Times New Roman"/>
              </a:rPr>
              <a:t>de5</a:t>
            </a:r>
            <a:r>
              <a:rPr lang="en-US" dirty="0">
                <a:latin typeface="Times New Roman"/>
                <a:ea typeface="Times New Roman"/>
                <a:cs typeface="Times New Roman"/>
                <a:sym typeface="Times New Roman"/>
              </a:rPr>
              <a:t>/</a:t>
            </a:r>
            <a:r>
              <a:rPr lang="en-US" dirty="0" err="1">
                <a:solidFill>
                  <a:srgbClr val="00B050"/>
                </a:solidFill>
                <a:latin typeface="Times New Roman"/>
                <a:ea typeface="Times New Roman"/>
                <a:cs typeface="Times New Roman"/>
                <a:sym typeface="Times New Roman"/>
              </a:rPr>
              <a:t>DE#Gen#x#If</a:t>
            </a:r>
            <a:r>
              <a:rPr lang="en-US" dirty="0">
                <a:solidFill>
                  <a:srgbClr val="00B050"/>
                </a:solidFill>
                <a:latin typeface="Times New Roman"/>
                <a:ea typeface="Times New Roman"/>
                <a:cs typeface="Times New Roman"/>
                <a:sym typeface="Times New Roman"/>
              </a:rPr>
              <a:t>###</a:t>
            </a:r>
            <a:r>
              <a:rPr lang="en-US" dirty="0">
                <a:latin typeface="Times New Roman"/>
                <a:ea typeface="Times New Roman"/>
                <a:cs typeface="Times New Roman"/>
                <a:sym typeface="Times New Roman"/>
              </a:rPr>
              <a:t>/bit/</a:t>
            </a:r>
            <a:endParaRPr lang="en-US"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Run:   /mnt/ds1515/opt/intelFPGA/17.0/quartus/bin/</a:t>
            </a:r>
            <a:r>
              <a:rPr lang="en-US" dirty="0" err="1">
                <a:latin typeface="Times New Roman"/>
                <a:ea typeface="Times New Roman"/>
                <a:cs typeface="Times New Roman"/>
                <a:sym typeface="Times New Roman"/>
              </a:rPr>
              <a:t>jtagconfig</a:t>
            </a:r>
            <a:endParaRPr lang="en-US" dirty="0">
              <a:latin typeface="Times New Roman"/>
              <a:ea typeface="Times New Roman"/>
              <a:cs typeface="Times New Roman"/>
              <a:sym typeface="Times New Roman"/>
            </a:endParaRPr>
          </a:p>
          <a:p>
            <a:pPr marL="457200" lvl="1" indent="0" algn="l" rtl="0">
              <a:lnSpc>
                <a:spcPct val="90000"/>
              </a:lnSpc>
              <a:spcBef>
                <a:spcPts val="500"/>
              </a:spcBef>
              <a:spcAft>
                <a:spcPts val="0"/>
              </a:spcAft>
              <a:buClr>
                <a:schemeClr val="dk1"/>
              </a:buClr>
              <a:buSzPts val="1800"/>
              <a:buNone/>
            </a:pPr>
            <a:endParaRPr lang="en-US" dirty="0">
              <a:latin typeface="Times New Roman"/>
              <a:ea typeface="Times New Roman"/>
              <a:cs typeface="Times New Roman"/>
              <a:sym typeface="Times New Roman"/>
            </a:endParaRPr>
          </a:p>
          <a:p>
            <a:pPr marL="457200" lvl="1" indent="0">
              <a:buNone/>
            </a:pPr>
            <a:endParaRPr lang="en-US" altLang="zh-TW" dirty="0">
              <a:latin typeface="Times New Roman"/>
              <a:ea typeface="Times New Roman"/>
              <a:cs typeface="Times New Roman"/>
              <a:sym typeface="Times New Roman"/>
            </a:endParaRPr>
          </a:p>
          <a:p>
            <a:pPr marL="685800" lvl="1" indent="-228600"/>
            <a:r>
              <a:rPr lang="zh-TW" altLang="en-US" dirty="0">
                <a:latin typeface="標楷體" panose="03000509000000000000" pitchFamily="65" charset="-120"/>
                <a:ea typeface="標楷體" panose="03000509000000000000" pitchFamily="65" charset="-120"/>
                <a:cs typeface="Times New Roman"/>
                <a:sym typeface="Times New Roman"/>
              </a:rPr>
              <a:t>這邊只有一個板子</a:t>
            </a:r>
            <a:r>
              <a:rPr lang="en-US" altLang="zh-TW" dirty="0">
                <a:latin typeface="標楷體" panose="03000509000000000000" pitchFamily="65" charset="-120"/>
                <a:ea typeface="標楷體" panose="03000509000000000000" pitchFamily="65" charset="-120"/>
                <a:cs typeface="Times New Roman"/>
                <a:sym typeface="Times New Roman"/>
              </a:rPr>
              <a:t>DE5 standard</a:t>
            </a:r>
            <a:r>
              <a:rPr lang="zh-TW" altLang="en-US" dirty="0">
                <a:latin typeface="標楷體" panose="03000509000000000000" pitchFamily="65" charset="-120"/>
                <a:ea typeface="標楷體" panose="03000509000000000000" pitchFamily="65" charset="-120"/>
                <a:cs typeface="Times New Roman"/>
                <a:sym typeface="Times New Roman"/>
              </a:rPr>
              <a:t>，所以</a:t>
            </a:r>
            <a:r>
              <a:rPr lang="en-US" altLang="zh-TW" dirty="0">
                <a:latin typeface="標楷體" panose="03000509000000000000" pitchFamily="65" charset="-120"/>
                <a:ea typeface="標楷體" panose="03000509000000000000" pitchFamily="65" charset="-120"/>
                <a:cs typeface="Times New Roman"/>
                <a:sym typeface="Times New Roman"/>
              </a:rPr>
              <a:t>c=1</a:t>
            </a:r>
            <a:r>
              <a:rPr lang="zh-TW" altLang="en-US" dirty="0">
                <a:latin typeface="標楷體" panose="03000509000000000000" pitchFamily="65" charset="-120"/>
                <a:ea typeface="標楷體" panose="03000509000000000000" pitchFamily="65" charset="-120"/>
                <a:cs typeface="Times New Roman"/>
                <a:sym typeface="Times New Roman"/>
              </a:rPr>
              <a:t>，如果發現有其他板子，看你要用哪塊，</a:t>
            </a:r>
            <a:r>
              <a:rPr lang="en-US" altLang="zh-TW" dirty="0">
                <a:latin typeface="標楷體" panose="03000509000000000000" pitchFamily="65" charset="-120"/>
                <a:ea typeface="標楷體" panose="03000509000000000000" pitchFamily="65" charset="-120"/>
                <a:cs typeface="Times New Roman"/>
                <a:sym typeface="Times New Roman"/>
              </a:rPr>
              <a:t>c</a:t>
            </a:r>
            <a:r>
              <a:rPr lang="zh-TW" altLang="en-US" dirty="0">
                <a:latin typeface="標楷體" panose="03000509000000000000" pitchFamily="65" charset="-120"/>
                <a:ea typeface="標楷體" panose="03000509000000000000" pitchFamily="65" charset="-120"/>
                <a:cs typeface="Times New Roman"/>
                <a:sym typeface="Times New Roman"/>
              </a:rPr>
              <a:t>就設定那個</a:t>
            </a:r>
            <a:r>
              <a:rPr lang="en-US" altLang="zh-TW" dirty="0">
                <a:latin typeface="標楷體" panose="03000509000000000000" pitchFamily="65" charset="-120"/>
                <a:ea typeface="標楷體" panose="03000509000000000000" pitchFamily="65" charset="-120"/>
                <a:cs typeface="Times New Roman"/>
                <a:sym typeface="Times New Roman"/>
              </a:rPr>
              <a:t>(</a:t>
            </a:r>
            <a:r>
              <a:rPr lang="zh-TW" altLang="en-US" dirty="0">
                <a:latin typeface="標楷體" panose="03000509000000000000" pitchFamily="65" charset="-120"/>
                <a:ea typeface="標楷體" panose="03000509000000000000" pitchFamily="65" charset="-120"/>
                <a:cs typeface="Times New Roman"/>
                <a:sym typeface="Times New Roman"/>
              </a:rPr>
              <a:t>但</a:t>
            </a:r>
            <a:r>
              <a:rPr lang="en-US" altLang="zh-TW" dirty="0">
                <a:latin typeface="標楷體" panose="03000509000000000000" pitchFamily="65" charset="-120"/>
                <a:ea typeface="標楷體" panose="03000509000000000000" pitchFamily="65" charset="-120"/>
                <a:cs typeface="Times New Roman"/>
                <a:sym typeface="Times New Roman"/>
              </a:rPr>
              <a:t>c=1</a:t>
            </a:r>
            <a:r>
              <a:rPr lang="zh-TW" altLang="en-US" dirty="0">
                <a:latin typeface="標楷體" panose="03000509000000000000" pitchFamily="65" charset="-120"/>
                <a:ea typeface="標楷體" panose="03000509000000000000" pitchFamily="65" charset="-120"/>
                <a:cs typeface="Times New Roman"/>
                <a:sym typeface="Times New Roman"/>
              </a:rPr>
              <a:t>會最快，因為離</a:t>
            </a:r>
            <a:r>
              <a:rPr lang="en-US" altLang="zh-TW" dirty="0">
                <a:latin typeface="標楷體" panose="03000509000000000000" pitchFamily="65" charset="-120"/>
                <a:ea typeface="標楷體" panose="03000509000000000000" pitchFamily="65" charset="-120"/>
                <a:cs typeface="Times New Roman"/>
                <a:sym typeface="Times New Roman"/>
              </a:rPr>
              <a:t>CPU</a:t>
            </a:r>
            <a:r>
              <a:rPr lang="zh-TW" altLang="en-US" dirty="0">
                <a:latin typeface="標楷體" panose="03000509000000000000" pitchFamily="65" charset="-120"/>
                <a:ea typeface="標楷體" panose="03000509000000000000" pitchFamily="65" charset="-120"/>
                <a:cs typeface="Times New Roman"/>
                <a:sym typeface="Times New Roman"/>
              </a:rPr>
              <a:t>最近</a:t>
            </a:r>
            <a:r>
              <a:rPr lang="en-US" altLang="zh-TW" dirty="0">
                <a:latin typeface="標楷體" panose="03000509000000000000" pitchFamily="65" charset="-120"/>
                <a:ea typeface="標楷體" panose="03000509000000000000" pitchFamily="65" charset="-120"/>
                <a:cs typeface="Times New Roman"/>
                <a:sym typeface="Times New Roman"/>
              </a:rPr>
              <a:t>)</a:t>
            </a:r>
            <a:endParaRPr lang="en-US" sz="800" dirty="0">
              <a:latin typeface="Times New Roman"/>
              <a:ea typeface="Times New Roman"/>
              <a:cs typeface="Times New Roman"/>
              <a:sym typeface="Times New Roman"/>
            </a:endParaRPr>
          </a:p>
          <a:p>
            <a:pPr marL="685800" lvl="1" indent="-228600"/>
            <a:r>
              <a:rPr lang="en-US" dirty="0">
                <a:latin typeface="Times New Roman"/>
                <a:ea typeface="Times New Roman"/>
                <a:cs typeface="Times New Roman"/>
                <a:sym typeface="Times New Roman"/>
              </a:rPr>
              <a:t>Run:   /mnt/ds1515/opt/intelFPGA/17.0/quartus/bin/</a:t>
            </a:r>
            <a:r>
              <a:rPr lang="en-US" dirty="0" err="1">
                <a:latin typeface="Times New Roman"/>
                <a:ea typeface="Times New Roman"/>
                <a:cs typeface="Times New Roman"/>
                <a:sym typeface="Times New Roman"/>
              </a:rPr>
              <a:t>quartus_pgm</a:t>
            </a:r>
            <a:r>
              <a:rPr lang="en-US" dirty="0">
                <a:latin typeface="Times New Roman"/>
                <a:ea typeface="Times New Roman"/>
                <a:cs typeface="Times New Roman"/>
                <a:sym typeface="Times New Roman"/>
              </a:rPr>
              <a:t> -m </a:t>
            </a:r>
            <a:r>
              <a:rPr lang="en-US" dirty="0" err="1">
                <a:latin typeface="Times New Roman"/>
                <a:ea typeface="Times New Roman"/>
                <a:cs typeface="Times New Roman"/>
                <a:sym typeface="Times New Roman"/>
              </a:rPr>
              <a:t>jtag</a:t>
            </a:r>
            <a:r>
              <a:rPr lang="en-US" dirty="0">
                <a:latin typeface="Times New Roman"/>
                <a:ea typeface="Times New Roman"/>
                <a:cs typeface="Times New Roman"/>
                <a:sym typeface="Times New Roman"/>
              </a:rPr>
              <a:t> </a:t>
            </a:r>
            <a:r>
              <a:rPr lang="en-US" dirty="0">
                <a:solidFill>
                  <a:srgbClr val="FF0000"/>
                </a:solidFill>
                <a:latin typeface="Times New Roman"/>
                <a:ea typeface="Times New Roman"/>
                <a:cs typeface="Times New Roman"/>
                <a:sym typeface="Times New Roman"/>
              </a:rPr>
              <a:t>-c 1 </a:t>
            </a:r>
            <a:r>
              <a:rPr lang="en-US" dirty="0">
                <a:latin typeface="Times New Roman"/>
                <a:ea typeface="Times New Roman"/>
                <a:cs typeface="Times New Roman"/>
                <a:sym typeface="Times New Roman"/>
              </a:rPr>
              <a:t>-o “p;</a:t>
            </a:r>
            <a:r>
              <a:rPr lang="en-US" altLang="zh-TW" dirty="0">
                <a:solidFill>
                  <a:srgbClr val="00B050"/>
                </a:solidFill>
                <a:latin typeface="Times New Roman"/>
                <a:ea typeface="Times New Roman"/>
                <a:cs typeface="Times New Roman"/>
                <a:sym typeface="Times New Roman"/>
              </a:rPr>
              <a:t>DE5QGen2x8If128</a:t>
            </a:r>
            <a:r>
              <a:rPr lang="en-US" dirty="0">
                <a:latin typeface="Times New Roman"/>
                <a:ea typeface="Times New Roman"/>
                <a:cs typeface="Times New Roman"/>
                <a:sym typeface="Times New Roman"/>
              </a:rPr>
              <a:t>.sof </a:t>
            </a:r>
            <a:r>
              <a:rPr lang="en-US" altLang="zh-TW" dirty="0">
                <a:latin typeface="Times New Roman"/>
                <a:ea typeface="Times New Roman"/>
                <a:cs typeface="Times New Roman"/>
                <a:sym typeface="Times New Roman"/>
              </a:rPr>
              <a:t>”</a:t>
            </a:r>
            <a:r>
              <a:rPr lang="zh-TW" altLang="en-US" dirty="0">
                <a:latin typeface="Times New Roman"/>
                <a:ea typeface="Times New Roman"/>
                <a:cs typeface="Times New Roman"/>
                <a:sym typeface="Times New Roman"/>
              </a:rPr>
              <a:t>  </a:t>
            </a:r>
            <a:r>
              <a:rPr lang="en-US" altLang="zh-TW" dirty="0">
                <a:latin typeface="Times New Roman"/>
                <a:ea typeface="Times New Roman"/>
                <a:cs typeface="Times New Roman"/>
                <a:sym typeface="Times New Roman"/>
              </a:rPr>
              <a:t>(</a:t>
            </a:r>
            <a:r>
              <a:rPr lang="en-US" altLang="zh-TW" sz="1600" dirty="0">
                <a:latin typeface="標楷體" panose="03000509000000000000" pitchFamily="65" charset="-120"/>
                <a:ea typeface="標楷體" panose="03000509000000000000" pitchFamily="65" charset="-120"/>
                <a:cs typeface="Times New Roman"/>
                <a:sym typeface="Times New Roman"/>
              </a:rPr>
              <a:t>ppt</a:t>
            </a:r>
            <a:r>
              <a:rPr lang="zh-TW" altLang="en-US" sz="1600" dirty="0">
                <a:latin typeface="標楷體" panose="03000509000000000000" pitchFamily="65" charset="-120"/>
                <a:ea typeface="標楷體" panose="03000509000000000000" pitchFamily="65" charset="-120"/>
                <a:cs typeface="Times New Roman"/>
                <a:sym typeface="Times New Roman"/>
              </a:rPr>
              <a:t>格式關係，如複製指令貼上，</a:t>
            </a:r>
            <a:r>
              <a:rPr lang="en-US" altLang="zh-TW" sz="1600" dirty="0">
                <a:latin typeface="標楷體" panose="03000509000000000000" pitchFamily="65" charset="-120"/>
                <a:ea typeface="標楷體" panose="03000509000000000000" pitchFamily="65" charset="-120"/>
                <a:cs typeface="Times New Roman"/>
                <a:sym typeface="Times New Roman"/>
              </a:rPr>
              <a:t>””</a:t>
            </a:r>
            <a:r>
              <a:rPr lang="zh-TW" altLang="en-US" sz="1600" dirty="0">
                <a:latin typeface="標楷體" panose="03000509000000000000" pitchFamily="65" charset="-120"/>
                <a:ea typeface="標楷體" panose="03000509000000000000" pitchFamily="65" charset="-120"/>
                <a:cs typeface="Times New Roman"/>
                <a:sym typeface="Times New Roman"/>
              </a:rPr>
              <a:t>括號請重打</a:t>
            </a:r>
            <a:r>
              <a:rPr lang="en-US" altLang="zh-TW" dirty="0">
                <a:latin typeface="Times New Roman"/>
                <a:ea typeface="Times New Roman"/>
                <a:cs typeface="Times New Roman"/>
                <a:sym typeface="Times New Roman"/>
              </a:rPr>
              <a:t>)</a:t>
            </a:r>
            <a:endParaRPr dirty="0"/>
          </a:p>
          <a:p>
            <a:pPr marL="1143000" lvl="2" indent="-228600">
              <a:buClr>
                <a:srgbClr val="FF0000"/>
              </a:buClr>
            </a:pPr>
            <a:r>
              <a:rPr lang="en-US" dirty="0">
                <a:solidFill>
                  <a:srgbClr val="FF0000"/>
                </a:solidFill>
                <a:latin typeface="Times New Roman"/>
                <a:ea typeface="Times New Roman"/>
                <a:cs typeface="Times New Roman"/>
                <a:sym typeface="Times New Roman"/>
              </a:rPr>
              <a:t>After you compiled, </a:t>
            </a:r>
            <a:r>
              <a:rPr lang="en-US" altLang="zh-TW" dirty="0" err="1">
                <a:solidFill>
                  <a:srgbClr val="00B050"/>
                </a:solidFill>
                <a:latin typeface="Times New Roman"/>
                <a:ea typeface="Times New Roman"/>
                <a:cs typeface="Times New Roman"/>
                <a:sym typeface="Times New Roman"/>
              </a:rPr>
              <a:t>DE#Gen#x#If</a:t>
            </a:r>
            <a:r>
              <a:rPr lang="en-US" altLang="zh-TW" dirty="0">
                <a:solidFill>
                  <a:srgbClr val="00B050"/>
                </a:solidFill>
                <a:latin typeface="Times New Roman"/>
                <a:ea typeface="Times New Roman"/>
                <a:cs typeface="Times New Roman"/>
                <a:sym typeface="Times New Roman"/>
              </a:rPr>
              <a:t>###</a:t>
            </a:r>
            <a:r>
              <a:rPr lang="en-US" altLang="zh-TW" dirty="0">
                <a:latin typeface="Times New Roman"/>
                <a:ea typeface="Times New Roman"/>
                <a:cs typeface="Times New Roman"/>
                <a:sym typeface="Times New Roman"/>
              </a:rPr>
              <a:t>.sof  </a:t>
            </a:r>
            <a:r>
              <a:rPr lang="en-US" altLang="zh-TW" dirty="0">
                <a:solidFill>
                  <a:srgbClr val="FF0000"/>
                </a:solidFill>
                <a:latin typeface="Times New Roman"/>
                <a:ea typeface="Times New Roman"/>
                <a:cs typeface="Times New Roman"/>
                <a:sym typeface="Times New Roman"/>
              </a:rPr>
              <a:t>under </a:t>
            </a:r>
            <a:r>
              <a:rPr lang="en-US" dirty="0">
                <a:solidFill>
                  <a:srgbClr val="FF0000"/>
                </a:solidFill>
                <a:latin typeface="Times New Roman"/>
                <a:ea typeface="Times New Roman"/>
                <a:cs typeface="Times New Roman"/>
                <a:sym typeface="Times New Roman"/>
              </a:rPr>
              <a:t>/bit/ folder</a:t>
            </a:r>
            <a:r>
              <a:rPr lang="zh-TW" altLang="en-US" dirty="0">
                <a:solidFill>
                  <a:srgbClr val="FF0000"/>
                </a:solidFill>
                <a:latin typeface="Times New Roman"/>
                <a:ea typeface="Times New Roman"/>
                <a:cs typeface="Times New Roman"/>
                <a:sym typeface="Times New Roman"/>
              </a:rPr>
              <a:t> </a:t>
            </a:r>
            <a:r>
              <a:rPr lang="en-US" altLang="zh-TW" dirty="0">
                <a:solidFill>
                  <a:srgbClr val="FF0000"/>
                </a:solidFill>
                <a:latin typeface="Times New Roman"/>
                <a:ea typeface="Times New Roman"/>
                <a:cs typeface="Times New Roman"/>
                <a:sym typeface="Times New Roman"/>
              </a:rPr>
              <a:t>will be updated</a:t>
            </a:r>
            <a:endParaRPr lang="en-US" dirty="0">
              <a:solidFill>
                <a:srgbClr val="FF0000"/>
              </a:solidFill>
              <a:latin typeface="Times New Roman"/>
              <a:ea typeface="Times New Roman"/>
              <a:cs typeface="Times New Roman"/>
              <a:sym typeface="Times New Roman"/>
            </a:endParaRPr>
          </a:p>
          <a:p>
            <a:pPr marL="1143000" lvl="2" indent="-228600">
              <a:buClr>
                <a:srgbClr val="FF0000"/>
              </a:buClr>
            </a:pPr>
            <a:r>
              <a:rPr lang="zh-TW" altLang="en-US" dirty="0">
                <a:solidFill>
                  <a:srgbClr val="FF0000"/>
                </a:solidFill>
                <a:latin typeface="標楷體" panose="03000509000000000000" pitchFamily="65" charset="-120"/>
                <a:ea typeface="標楷體" panose="03000509000000000000" pitchFamily="65" charset="-120"/>
                <a:cs typeface="Times New Roman"/>
                <a:sym typeface="Times New Roman"/>
              </a:rPr>
              <a:t>這個指令會把電路燒上板子，</a:t>
            </a:r>
            <a:r>
              <a:rPr lang="en-US" altLang="zh-TW" dirty="0">
                <a:latin typeface="Times New Roman"/>
                <a:ea typeface="Times New Roman"/>
                <a:cs typeface="Times New Roman"/>
                <a:sym typeface="Times New Roman"/>
              </a:rPr>
              <a:t> “</a:t>
            </a:r>
            <a:r>
              <a:rPr lang="en-US" altLang="zh-TW" dirty="0" err="1">
                <a:latin typeface="Times New Roman"/>
                <a:ea typeface="Times New Roman"/>
                <a:cs typeface="Times New Roman"/>
                <a:sym typeface="Times New Roman"/>
              </a:rPr>
              <a:t>p;</a:t>
            </a:r>
            <a:r>
              <a:rPr lang="en-US" altLang="zh-TW" dirty="0" err="1">
                <a:solidFill>
                  <a:srgbClr val="00B050"/>
                </a:solidFill>
                <a:latin typeface="Times New Roman"/>
                <a:ea typeface="Times New Roman"/>
                <a:cs typeface="Times New Roman"/>
                <a:sym typeface="Times New Roman"/>
              </a:rPr>
              <a:t>DE#Gen#x#If</a:t>
            </a:r>
            <a:r>
              <a:rPr lang="en-US" altLang="zh-TW" dirty="0">
                <a:solidFill>
                  <a:srgbClr val="00B050"/>
                </a:solidFill>
                <a:latin typeface="Times New Roman"/>
                <a:ea typeface="Times New Roman"/>
                <a:cs typeface="Times New Roman"/>
                <a:sym typeface="Times New Roman"/>
              </a:rPr>
              <a:t>###</a:t>
            </a:r>
            <a:r>
              <a:rPr lang="en-US" altLang="zh-TW" dirty="0">
                <a:latin typeface="Times New Roman"/>
                <a:ea typeface="Times New Roman"/>
                <a:cs typeface="Times New Roman"/>
                <a:sym typeface="Times New Roman"/>
              </a:rPr>
              <a:t>.sof ”</a:t>
            </a:r>
            <a:r>
              <a:rPr lang="zh-TW" altLang="en-US" dirty="0">
                <a:latin typeface="Times New Roman"/>
                <a:ea typeface="Times New Roman"/>
                <a:cs typeface="Times New Roman"/>
                <a:sym typeface="Times New Roman"/>
              </a:rPr>
              <a:t> </a:t>
            </a:r>
            <a:r>
              <a:rPr lang="zh-TW" altLang="en-US" dirty="0">
                <a:latin typeface="標楷體" panose="03000509000000000000" pitchFamily="65" charset="-120"/>
                <a:ea typeface="標楷體" panose="03000509000000000000" pitchFamily="65" charset="-120"/>
                <a:cs typeface="Times New Roman"/>
                <a:sym typeface="Times New Roman"/>
              </a:rPr>
              <a:t>長得很奇怪但沒錯</a:t>
            </a:r>
            <a:endParaRPr lang="en-US" altLang="zh-TW" dirty="0">
              <a:latin typeface="標楷體" panose="03000509000000000000" pitchFamily="65" charset="-120"/>
              <a:ea typeface="標楷體" panose="03000509000000000000" pitchFamily="65" charset="-120"/>
              <a:cs typeface="Times New Roman"/>
              <a:sym typeface="Times New Roman"/>
            </a:endParaRPr>
          </a:p>
          <a:p>
            <a:pPr marL="1143000" lvl="2" indent="-228600">
              <a:buClr>
                <a:srgbClr val="FF0000"/>
              </a:buClr>
            </a:pPr>
            <a:r>
              <a:rPr lang="zh-TW" altLang="en-US" dirty="0">
                <a:latin typeface="標楷體" panose="03000509000000000000" pitchFamily="65" charset="-120"/>
                <a:ea typeface="標楷體" panose="03000509000000000000" pitchFamily="65" charset="-120"/>
                <a:cs typeface="Times New Roman"/>
                <a:sym typeface="Times New Roman"/>
              </a:rPr>
              <a:t>下次想再重燒重跑只要有這個檔案就可了，不用再開</a:t>
            </a:r>
            <a:r>
              <a:rPr lang="en-US" altLang="zh-TW" dirty="0">
                <a:latin typeface="標楷體" panose="03000509000000000000" pitchFamily="65" charset="-120"/>
                <a:ea typeface="標楷體" panose="03000509000000000000" pitchFamily="65" charset="-120"/>
                <a:cs typeface="Times New Roman"/>
                <a:sym typeface="Times New Roman"/>
              </a:rPr>
              <a:t>Quartus</a:t>
            </a:r>
            <a:endParaRPr dirty="0">
              <a:latin typeface="標楷體" panose="03000509000000000000" pitchFamily="65" charset="-120"/>
              <a:ea typeface="標楷體" panose="03000509000000000000" pitchFamily="65" charset="-120"/>
              <a:cs typeface="Times New Roman"/>
              <a:sym typeface="Times New Roman"/>
            </a:endParaRPr>
          </a:p>
          <a:p>
            <a:pPr marL="685800" lvl="1" indent="-114300" algn="l" rtl="0">
              <a:lnSpc>
                <a:spcPct val="90000"/>
              </a:lnSpc>
              <a:spcBef>
                <a:spcPts val="500"/>
              </a:spcBef>
              <a:spcAft>
                <a:spcPts val="0"/>
              </a:spcAft>
              <a:buClr>
                <a:schemeClr val="dk1"/>
              </a:buClr>
              <a:buSzPts val="1800"/>
              <a:buNone/>
            </a:pPr>
            <a:endParaRPr dirty="0">
              <a:latin typeface="Times New Roman"/>
              <a:ea typeface="Times New Roman"/>
              <a:cs typeface="Times New Roman"/>
              <a:sym typeface="Times New Roman"/>
            </a:endParaRPr>
          </a:p>
        </p:txBody>
      </p:sp>
      <p:sp>
        <p:nvSpPr>
          <p:cNvPr id="435" name="Google Shape;435;p29"/>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pic>
        <p:nvPicPr>
          <p:cNvPr id="436" name="Google Shape;436;p29"/>
          <p:cNvPicPr preferRelativeResize="0"/>
          <p:nvPr/>
        </p:nvPicPr>
        <p:blipFill rotWithShape="1">
          <a:blip r:embed="rId3">
            <a:alphaModFix/>
          </a:blip>
          <a:srcRect/>
          <a:stretch/>
        </p:blipFill>
        <p:spPr>
          <a:xfrm>
            <a:off x="5147851" y="67632"/>
            <a:ext cx="3345127" cy="1521581"/>
          </a:xfrm>
          <a:prstGeom prst="rect">
            <a:avLst/>
          </a:prstGeom>
          <a:noFill/>
          <a:ln>
            <a:noFill/>
          </a:ln>
        </p:spPr>
      </p:pic>
      <p:sp>
        <p:nvSpPr>
          <p:cNvPr id="437" name="Google Shape;437;p29"/>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9" name="文字方塊 8">
            <a:extLst>
              <a:ext uri="{FF2B5EF4-FFF2-40B4-BE49-F238E27FC236}">
                <a16:creationId xmlns:a16="http://schemas.microsoft.com/office/drawing/2014/main" id="{3F1ED344-394B-48A8-73A2-1287B39AA060}"/>
              </a:ext>
            </a:extLst>
          </p:cNvPr>
          <p:cNvSpPr txBox="1"/>
          <p:nvPr/>
        </p:nvSpPr>
        <p:spPr>
          <a:xfrm>
            <a:off x="831822" y="4833465"/>
            <a:ext cx="8045993" cy="923330"/>
          </a:xfrm>
          <a:prstGeom prst="rect">
            <a:avLst/>
          </a:prstGeom>
          <a:noFill/>
        </p:spPr>
        <p:txBody>
          <a:bodyPr wrap="square">
            <a:spAutoFit/>
          </a:bodyPr>
          <a:lstStyle/>
          <a:p>
            <a:r>
              <a:rPr lang="en-US" altLang="zh-TW" sz="1800" dirty="0">
                <a:latin typeface="Times New Roman" panose="02020603050405020304" pitchFamily="18" charset="0"/>
                <a:cs typeface="Times New Roman" panose="02020603050405020304" pitchFamily="18" charset="0"/>
              </a:rPr>
              <a:t>  -   Run:	</a:t>
            </a:r>
            <a:r>
              <a:rPr lang="en-US" altLang="zh-TW" sz="1800" dirty="0" err="1">
                <a:latin typeface="Times New Roman" panose="02020603050405020304" pitchFamily="18" charset="0"/>
                <a:cs typeface="Times New Roman" panose="02020603050405020304" pitchFamily="18" charset="0"/>
              </a:rPr>
              <a:t>sudo</a:t>
            </a:r>
            <a:r>
              <a:rPr lang="en-US" altLang="zh-TW" sz="1800" dirty="0">
                <a:latin typeface="Times New Roman" panose="02020603050405020304" pitchFamily="18" charset="0"/>
                <a:cs typeface="Times New Roman" panose="02020603050405020304" pitchFamily="18" charset="0"/>
              </a:rPr>
              <a:t> reboot </a:t>
            </a:r>
            <a:r>
              <a:rPr lang="en-US" altLang="zh-TW" sz="18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TW" sz="1600" u="sng" dirty="0">
                <a:solidFill>
                  <a:srgbClr val="FF0000"/>
                </a:solidFill>
                <a:latin typeface="標楷體" panose="03000509000000000000" pitchFamily="65" charset="-120"/>
                <a:ea typeface="標楷體" panose="03000509000000000000" pitchFamily="65" charset="-120"/>
                <a:cs typeface="Times New Roman" panose="02020603050405020304" pitchFamily="18" charset="0"/>
                <a:sym typeface="Wingdings" panose="05000000000000000000" pitchFamily="2" charset="2"/>
              </a:rPr>
              <a:t> soft reboot</a:t>
            </a:r>
            <a:r>
              <a:rPr lang="zh-TW" altLang="en-US" sz="1600" u="sng" dirty="0">
                <a:solidFill>
                  <a:srgbClr val="FF0000"/>
                </a:solidFill>
                <a:latin typeface="標楷體" panose="03000509000000000000" pitchFamily="65" charset="-120"/>
                <a:ea typeface="標楷體" panose="03000509000000000000" pitchFamily="65" charset="-120"/>
                <a:cs typeface="Times New Roman" panose="02020603050405020304" pitchFamily="18" charset="0"/>
                <a:sym typeface="Wingdings" panose="05000000000000000000" pitchFamily="2" charset="2"/>
              </a:rPr>
              <a:t>讓</a:t>
            </a:r>
            <a:r>
              <a:rPr lang="en-US" altLang="zh-TW" sz="1600" u="sng" dirty="0">
                <a:solidFill>
                  <a:srgbClr val="FF0000"/>
                </a:solidFill>
                <a:latin typeface="標楷體" panose="03000509000000000000" pitchFamily="65" charset="-120"/>
                <a:ea typeface="標楷體" panose="03000509000000000000" pitchFamily="65" charset="-120"/>
                <a:cs typeface="Times New Roman" panose="02020603050405020304" pitchFamily="18" charset="0"/>
                <a:sym typeface="Wingdings" panose="05000000000000000000" pitchFamily="2" charset="2"/>
              </a:rPr>
              <a:t>server</a:t>
            </a:r>
            <a:r>
              <a:rPr lang="zh-TW" altLang="en-US" sz="1600" u="sng" dirty="0">
                <a:solidFill>
                  <a:srgbClr val="FF0000"/>
                </a:solidFill>
                <a:latin typeface="標楷體" panose="03000509000000000000" pitchFamily="65" charset="-120"/>
                <a:ea typeface="標楷體" panose="03000509000000000000" pitchFamily="65" charset="-120"/>
                <a:cs typeface="Times New Roman" panose="02020603050405020304" pitchFamily="18" charset="0"/>
                <a:sym typeface="Wingdings" panose="05000000000000000000" pitchFamily="2" charset="2"/>
              </a:rPr>
              <a:t>的</a:t>
            </a:r>
            <a:r>
              <a:rPr lang="en-US" altLang="zh-TW" sz="1600" u="sng" dirty="0">
                <a:solidFill>
                  <a:srgbClr val="FF0000"/>
                </a:solidFill>
                <a:latin typeface="標楷體" panose="03000509000000000000" pitchFamily="65" charset="-120"/>
                <a:ea typeface="標楷體" panose="03000509000000000000" pitchFamily="65" charset="-120"/>
                <a:cs typeface="Times New Roman" panose="02020603050405020304" pitchFamily="18" charset="0"/>
                <a:sym typeface="Wingdings" panose="05000000000000000000" pitchFamily="2" charset="2"/>
              </a:rPr>
              <a:t>OS</a:t>
            </a:r>
            <a:r>
              <a:rPr lang="zh-TW" altLang="en-US" sz="1600" u="sng" dirty="0">
                <a:solidFill>
                  <a:srgbClr val="FF0000"/>
                </a:solidFill>
                <a:latin typeface="標楷體" panose="03000509000000000000" pitchFamily="65" charset="-120"/>
                <a:ea typeface="標楷體" panose="03000509000000000000" pitchFamily="65" charset="-120"/>
                <a:cs typeface="Times New Roman" panose="02020603050405020304" pitchFamily="18" charset="0"/>
                <a:sym typeface="Wingdings" panose="05000000000000000000" pitchFamily="2" charset="2"/>
              </a:rPr>
              <a:t>可以看到</a:t>
            </a:r>
            <a:r>
              <a:rPr lang="en-US" altLang="zh-TW" sz="1600" u="sng" dirty="0">
                <a:solidFill>
                  <a:srgbClr val="FF0000"/>
                </a:solidFill>
                <a:latin typeface="標楷體" panose="03000509000000000000" pitchFamily="65" charset="-120"/>
                <a:ea typeface="標楷體" panose="03000509000000000000" pitchFamily="65" charset="-120"/>
                <a:cs typeface="Times New Roman" panose="02020603050405020304" pitchFamily="18" charset="0"/>
                <a:sym typeface="Wingdings" panose="05000000000000000000" pitchFamily="2" charset="2"/>
              </a:rPr>
              <a:t>fpga</a:t>
            </a:r>
            <a:r>
              <a:rPr lang="zh-TW" altLang="en-US" sz="1600" u="sng" dirty="0">
                <a:solidFill>
                  <a:srgbClr val="FF0000"/>
                </a:solidFill>
                <a:latin typeface="標楷體" panose="03000509000000000000" pitchFamily="65" charset="-120"/>
                <a:ea typeface="標楷體" panose="03000509000000000000" pitchFamily="65" charset="-120"/>
                <a:cs typeface="Times New Roman" panose="02020603050405020304" pitchFamily="18" charset="0"/>
                <a:sym typeface="Wingdings" panose="05000000000000000000" pitchFamily="2" charset="2"/>
              </a:rPr>
              <a:t>的</a:t>
            </a:r>
            <a:r>
              <a:rPr lang="en-US" altLang="zh-TW" sz="1600" u="sng" dirty="0">
                <a:solidFill>
                  <a:srgbClr val="FF0000"/>
                </a:solidFill>
                <a:latin typeface="標楷體" panose="03000509000000000000" pitchFamily="65" charset="-120"/>
                <a:ea typeface="標楷體" panose="03000509000000000000" pitchFamily="65" charset="-120"/>
                <a:cs typeface="Times New Roman" panose="02020603050405020304" pitchFamily="18" charset="0"/>
                <a:sym typeface="Wingdings" panose="05000000000000000000" pitchFamily="2" charset="2"/>
              </a:rPr>
              <a:t>PCIe driver</a:t>
            </a:r>
          </a:p>
          <a:p>
            <a:r>
              <a:rPr lang="en-US" altLang="zh-TW" sz="1800" dirty="0">
                <a:latin typeface="Times New Roman" panose="02020603050405020304" pitchFamily="18" charset="0"/>
                <a:cs typeface="Times New Roman" panose="02020603050405020304" pitchFamily="18" charset="0"/>
              </a:rPr>
              <a:t>	Don’t close the machine while others are compiling!</a:t>
            </a:r>
          </a:p>
          <a:p>
            <a:r>
              <a:rPr lang="en-US" altLang="zh-TW" sz="1800" dirty="0">
                <a:latin typeface="Times New Roman" panose="02020603050405020304" pitchFamily="18" charset="0"/>
                <a:cs typeface="Times New Roman" panose="02020603050405020304" pitchFamily="18" charset="0"/>
              </a:rPr>
              <a:t>	Use “top” to check other users’ usage</a:t>
            </a:r>
          </a:p>
        </p:txBody>
      </p:sp>
      <p:pic>
        <p:nvPicPr>
          <p:cNvPr id="10" name="圖片 9" descr="一張含有 文字, 螢幕擷取畫面, 字型, 行 的圖片&#10;&#10;AI 產生的內容可能不正確。">
            <a:extLst>
              <a:ext uri="{FF2B5EF4-FFF2-40B4-BE49-F238E27FC236}">
                <a16:creationId xmlns:a16="http://schemas.microsoft.com/office/drawing/2014/main" id="{D114341D-A5C8-0E3C-DD90-508698FE18E0}"/>
              </a:ext>
            </a:extLst>
          </p:cNvPr>
          <p:cNvPicPr>
            <a:picLocks noChangeAspect="1"/>
          </p:cNvPicPr>
          <p:nvPr/>
        </p:nvPicPr>
        <p:blipFill>
          <a:blip r:embed="rId4"/>
          <a:stretch>
            <a:fillRect/>
          </a:stretch>
        </p:blipFill>
        <p:spPr>
          <a:xfrm>
            <a:off x="1434944" y="5875107"/>
            <a:ext cx="7058034" cy="848372"/>
          </a:xfrm>
          <a:prstGeom prst="rect">
            <a:avLst/>
          </a:prstGeom>
        </p:spPr>
      </p:pic>
      <p:pic>
        <p:nvPicPr>
          <p:cNvPr id="11" name="圖片 10" descr="一張含有 文字, 螢幕擷取畫面, 字型, 行 的圖片&#10;&#10;AI 產生的內容可能不正確。">
            <a:extLst>
              <a:ext uri="{FF2B5EF4-FFF2-40B4-BE49-F238E27FC236}">
                <a16:creationId xmlns:a16="http://schemas.microsoft.com/office/drawing/2014/main" id="{117EB5E4-1D20-D09C-2E47-035D342233A0}"/>
              </a:ext>
            </a:extLst>
          </p:cNvPr>
          <p:cNvPicPr>
            <a:picLocks noChangeAspect="1"/>
          </p:cNvPicPr>
          <p:nvPr/>
        </p:nvPicPr>
        <p:blipFill>
          <a:blip r:embed="rId5"/>
          <a:stretch>
            <a:fillRect/>
          </a:stretch>
        </p:blipFill>
        <p:spPr>
          <a:xfrm>
            <a:off x="1266449" y="2203289"/>
            <a:ext cx="6582666" cy="636126"/>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0"/>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Step-by-step guide</a:t>
            </a:r>
            <a:endParaRPr dirty="0">
              <a:latin typeface="Times New Roman"/>
              <a:ea typeface="Times New Roman"/>
              <a:cs typeface="Times New Roman"/>
              <a:sym typeface="Times New Roman"/>
            </a:endParaRPr>
          </a:p>
        </p:txBody>
      </p:sp>
      <p:sp>
        <p:nvSpPr>
          <p:cNvPr id="446" name="Google Shape;446;p30"/>
          <p:cNvSpPr txBox="1">
            <a:spLocks noGrp="1"/>
          </p:cNvSpPr>
          <p:nvPr>
            <p:ph type="body" idx="1"/>
          </p:nvPr>
        </p:nvSpPr>
        <p:spPr>
          <a:xfrm>
            <a:off x="477795" y="1209181"/>
            <a:ext cx="8041365" cy="5094546"/>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Clr>
                <a:schemeClr val="dk1"/>
              </a:buClr>
              <a:buSzPts val="2000"/>
              <a:buFont typeface="Calibri"/>
              <a:buAutoNum type="arabicPeriod" startAt="11"/>
            </a:pPr>
            <a:r>
              <a:rPr lang="en-US" dirty="0">
                <a:latin typeface="Times New Roman"/>
                <a:ea typeface="Times New Roman"/>
                <a:cs typeface="Times New Roman"/>
                <a:sym typeface="Times New Roman"/>
              </a:rPr>
              <a:t>Run </a:t>
            </a:r>
            <a:endParaRPr dirty="0"/>
          </a:p>
          <a:p>
            <a:pPr marL="1143000" lvl="2" indent="-228600" algn="l" rtl="0">
              <a:lnSpc>
                <a:spcPct val="90000"/>
              </a:lnSpc>
              <a:spcBef>
                <a:spcPts val="500"/>
              </a:spcBef>
              <a:spcAft>
                <a:spcPts val="0"/>
              </a:spcAft>
              <a:buClr>
                <a:srgbClr val="FF0000"/>
              </a:buClr>
              <a:buSzPts val="1600"/>
              <a:buChar char="˗"/>
            </a:pPr>
            <a:r>
              <a:rPr lang="en-US" dirty="0">
                <a:solidFill>
                  <a:srgbClr val="FF0000"/>
                </a:solidFill>
                <a:latin typeface="Times New Roman"/>
                <a:ea typeface="Times New Roman"/>
                <a:cs typeface="Times New Roman"/>
                <a:sym typeface="Times New Roman"/>
              </a:rPr>
              <a:t>cd &lt;your path&gt;/riffa_2.2.2/source/c_c++/linux/x64/</a:t>
            </a:r>
            <a:r>
              <a:rPr lang="en-US" dirty="0" err="1">
                <a:solidFill>
                  <a:srgbClr val="FF0000"/>
                </a:solidFill>
                <a:latin typeface="Times New Roman"/>
                <a:ea typeface="Times New Roman"/>
                <a:cs typeface="Times New Roman"/>
                <a:sym typeface="Times New Roman"/>
              </a:rPr>
              <a:t>sample_app</a:t>
            </a:r>
            <a:endParaRPr dirty="0">
              <a:solidFill>
                <a:srgbClr val="FF0000"/>
              </a:solidFill>
              <a:latin typeface="Times New Roman"/>
              <a:ea typeface="Times New Roman"/>
              <a:cs typeface="Times New Roman"/>
              <a:sym typeface="Times New Roman"/>
            </a:endParaRPr>
          </a:p>
          <a:p>
            <a:pPr marL="1143000" lvl="2" indent="-228600" algn="l" rtl="0">
              <a:lnSpc>
                <a:spcPct val="90000"/>
              </a:lnSpc>
              <a:spcBef>
                <a:spcPts val="500"/>
              </a:spcBef>
              <a:spcAft>
                <a:spcPts val="0"/>
              </a:spcAft>
              <a:buClr>
                <a:srgbClr val="FF0000"/>
              </a:buClr>
              <a:buSzPts val="1600"/>
              <a:buChar char="˗"/>
            </a:pPr>
            <a:r>
              <a:rPr lang="en-US" dirty="0">
                <a:solidFill>
                  <a:srgbClr val="FF0000"/>
                </a:solidFill>
                <a:latin typeface="Times New Roman"/>
                <a:ea typeface="Times New Roman"/>
                <a:cs typeface="Times New Roman"/>
                <a:sym typeface="Times New Roman"/>
              </a:rPr>
              <a:t>make</a:t>
            </a:r>
            <a:endParaRPr dirty="0"/>
          </a:p>
          <a:p>
            <a:pPr marL="1143000" lvl="2" indent="-228600" algn="l" rtl="0">
              <a:lnSpc>
                <a:spcPct val="90000"/>
              </a:lnSpc>
              <a:spcBef>
                <a:spcPts val="500"/>
              </a:spcBef>
              <a:spcAft>
                <a:spcPts val="0"/>
              </a:spcAft>
              <a:buClr>
                <a:srgbClr val="FF0000"/>
              </a:buClr>
              <a:buSzPts val="1600"/>
              <a:buChar char="˗"/>
            </a:pPr>
            <a:r>
              <a:rPr lang="en-US" dirty="0">
                <a:solidFill>
                  <a:srgbClr val="FF0000"/>
                </a:solidFill>
                <a:latin typeface="Times New Roman"/>
                <a:ea typeface="Times New Roman"/>
                <a:cs typeface="Times New Roman"/>
                <a:sym typeface="Times New Roman"/>
              </a:rPr>
              <a:t>./testutil 0 		//List FPGA info</a:t>
            </a:r>
            <a:endParaRPr dirty="0"/>
          </a:p>
          <a:p>
            <a:pPr marL="1143000" lvl="2" indent="-228600" algn="l" rtl="0">
              <a:lnSpc>
                <a:spcPct val="90000"/>
              </a:lnSpc>
              <a:spcBef>
                <a:spcPts val="500"/>
              </a:spcBef>
              <a:spcAft>
                <a:spcPts val="0"/>
              </a:spcAft>
              <a:buClr>
                <a:srgbClr val="FF0000"/>
              </a:buClr>
              <a:buSzPts val="1600"/>
              <a:buChar char="˗"/>
            </a:pPr>
            <a:r>
              <a:rPr lang="en-US" dirty="0">
                <a:solidFill>
                  <a:srgbClr val="FF0000"/>
                </a:solidFill>
                <a:latin typeface="Times New Roman"/>
                <a:ea typeface="Times New Roman"/>
                <a:cs typeface="Times New Roman"/>
                <a:sym typeface="Times New Roman"/>
              </a:rPr>
              <a:t>./testutil 1 0		//Reset FPGA 0</a:t>
            </a:r>
            <a:endParaRPr dirty="0"/>
          </a:p>
          <a:p>
            <a:pPr marL="1143000" lvl="2" indent="-228600" algn="l" rtl="0">
              <a:lnSpc>
                <a:spcPct val="90000"/>
              </a:lnSpc>
              <a:spcBef>
                <a:spcPts val="500"/>
              </a:spcBef>
              <a:spcAft>
                <a:spcPts val="0"/>
              </a:spcAft>
              <a:buClr>
                <a:srgbClr val="FF0000"/>
              </a:buClr>
              <a:buSzPts val="1600"/>
              <a:buChar char="˗"/>
            </a:pPr>
            <a:r>
              <a:rPr lang="en-US" dirty="0">
                <a:solidFill>
                  <a:srgbClr val="FF0000"/>
                </a:solidFill>
                <a:latin typeface="Times New Roman"/>
                <a:ea typeface="Times New Roman"/>
                <a:cs typeface="Times New Roman"/>
                <a:sym typeface="Times New Roman"/>
              </a:rPr>
              <a:t>./testutil 2 &lt;numofdata&gt;	//numofdata: </a:t>
            </a:r>
            <a:r>
              <a:rPr lang="en-US" b="1" dirty="0">
                <a:solidFill>
                  <a:srgbClr val="FF0000"/>
                </a:solidFill>
                <a:latin typeface="Times New Roman"/>
                <a:ea typeface="Times New Roman"/>
                <a:cs typeface="Times New Roman"/>
                <a:sym typeface="Times New Roman"/>
              </a:rPr>
              <a:t>must be multiples of 4 in this lab</a:t>
            </a:r>
            <a:r>
              <a:rPr lang="zh-TW" altLang="en-US" b="1" dirty="0">
                <a:solidFill>
                  <a:srgbClr val="FF0000"/>
                </a:solidFill>
                <a:latin typeface="Times New Roman"/>
                <a:ea typeface="Times New Roman"/>
                <a:cs typeface="Times New Roman"/>
                <a:sym typeface="Times New Roman"/>
              </a:rPr>
              <a:t> </a:t>
            </a:r>
            <a:endParaRPr lang="en-US" altLang="zh-TW" b="1" dirty="0">
              <a:solidFill>
                <a:srgbClr val="FF0000"/>
              </a:solidFill>
              <a:latin typeface="Times New Roman"/>
              <a:ea typeface="Times New Roman"/>
              <a:cs typeface="Times New Roman"/>
              <a:sym typeface="Times New Roman"/>
            </a:endParaRPr>
          </a:p>
          <a:p>
            <a:pPr marL="1143000" lvl="2" indent="-228600" algn="l" rtl="0">
              <a:lnSpc>
                <a:spcPct val="90000"/>
              </a:lnSpc>
              <a:spcBef>
                <a:spcPts val="500"/>
              </a:spcBef>
              <a:spcAft>
                <a:spcPts val="0"/>
              </a:spcAft>
              <a:buClr>
                <a:srgbClr val="FF0000"/>
              </a:buClr>
              <a:buSzPts val="1600"/>
              <a:buChar char="˗"/>
            </a:pPr>
            <a:r>
              <a:rPr lang="en-US" altLang="zh-TW" b="1" dirty="0">
                <a:solidFill>
                  <a:srgbClr val="FF0000"/>
                </a:solidFill>
                <a:latin typeface="Times New Roman"/>
                <a:ea typeface="Times New Roman"/>
                <a:cs typeface="Times New Roman"/>
                <a:sym typeface="Times New Roman"/>
              </a:rPr>
              <a:t>You can check bram_wrapper.v for the reason</a:t>
            </a:r>
          </a:p>
          <a:p>
            <a:pPr marL="1143000" lvl="2" indent="-228600" algn="l" rtl="0">
              <a:lnSpc>
                <a:spcPct val="90000"/>
              </a:lnSpc>
              <a:spcBef>
                <a:spcPts val="500"/>
              </a:spcBef>
              <a:spcAft>
                <a:spcPts val="0"/>
              </a:spcAft>
              <a:buClr>
                <a:srgbClr val="FF0000"/>
              </a:buClr>
              <a:buSzPts val="1600"/>
              <a:buChar char="˗"/>
            </a:pPr>
            <a:endParaRPr lang="en-US" b="1" dirty="0">
              <a:solidFill>
                <a:srgbClr val="FF0000"/>
              </a:solidFill>
              <a:latin typeface="Times New Roman"/>
              <a:ea typeface="Times New Roman"/>
              <a:cs typeface="Times New Roman"/>
              <a:sym typeface="Times New Roman"/>
            </a:endParaRPr>
          </a:p>
          <a:p>
            <a:pPr marL="1143000" lvl="2" indent="-228600" algn="l" rtl="0">
              <a:lnSpc>
                <a:spcPct val="90000"/>
              </a:lnSpc>
              <a:spcBef>
                <a:spcPts val="500"/>
              </a:spcBef>
              <a:spcAft>
                <a:spcPts val="0"/>
              </a:spcAft>
              <a:buClr>
                <a:srgbClr val="FF0000"/>
              </a:buClr>
              <a:buSzPts val="1600"/>
              <a:buChar char="˗"/>
            </a:pPr>
            <a:r>
              <a:rPr lang="zh-TW" altLang="en-US" dirty="0">
                <a:solidFill>
                  <a:schemeClr val="tx1"/>
                </a:solidFill>
                <a:latin typeface="標楷體" panose="03000509000000000000" pitchFamily="65" charset="-120"/>
                <a:ea typeface="標楷體" panose="03000509000000000000" pitchFamily="65" charset="-120"/>
                <a:cs typeface="Times New Roman"/>
                <a:sym typeface="Times New Roman"/>
              </a:rPr>
              <a:t>以後當你自己設計</a:t>
            </a:r>
            <a:r>
              <a:rPr lang="en-US" altLang="zh-TW" dirty="0">
                <a:solidFill>
                  <a:schemeClr val="tx1"/>
                </a:solidFill>
                <a:latin typeface="標楷體" panose="03000509000000000000" pitchFamily="65" charset="-120"/>
                <a:ea typeface="標楷體" panose="03000509000000000000" pitchFamily="65" charset="-120"/>
                <a:cs typeface="Times New Roman"/>
                <a:sym typeface="Times New Roman"/>
              </a:rPr>
              <a:t>design</a:t>
            </a:r>
            <a:r>
              <a:rPr lang="zh-TW" altLang="en-US" dirty="0">
                <a:solidFill>
                  <a:schemeClr val="tx1"/>
                </a:solidFill>
                <a:latin typeface="標楷體" panose="03000509000000000000" pitchFamily="65" charset="-120"/>
                <a:ea typeface="標楷體" panose="03000509000000000000" pitchFamily="65" charset="-120"/>
                <a:cs typeface="Times New Roman"/>
                <a:sym typeface="Times New Roman"/>
              </a:rPr>
              <a:t>，不用照此</a:t>
            </a:r>
            <a:r>
              <a:rPr lang="en-US" altLang="zh-TW" dirty="0">
                <a:solidFill>
                  <a:schemeClr val="tx1"/>
                </a:solidFill>
                <a:latin typeface="標楷體" panose="03000509000000000000" pitchFamily="65" charset="-120"/>
                <a:ea typeface="標楷體" panose="03000509000000000000" pitchFamily="65" charset="-120"/>
                <a:cs typeface="Times New Roman"/>
                <a:sym typeface="Times New Roman"/>
              </a:rPr>
              <a:t>lab</a:t>
            </a:r>
            <a:r>
              <a:rPr lang="zh-TW" altLang="en-US" dirty="0">
                <a:solidFill>
                  <a:schemeClr val="tx1"/>
                </a:solidFill>
                <a:latin typeface="標楷體" panose="03000509000000000000" pitchFamily="65" charset="-120"/>
                <a:ea typeface="標楷體" panose="03000509000000000000" pitchFamily="65" charset="-120"/>
                <a:cs typeface="Times New Roman"/>
                <a:sym typeface="Times New Roman"/>
              </a:rPr>
              <a:t>一樣為</a:t>
            </a:r>
            <a:r>
              <a:rPr lang="en-US" altLang="zh-TW" dirty="0">
                <a:solidFill>
                  <a:schemeClr val="tx1"/>
                </a:solidFill>
                <a:latin typeface="標楷體" panose="03000509000000000000" pitchFamily="65" charset="-120"/>
                <a:ea typeface="標楷體" panose="03000509000000000000" pitchFamily="65" charset="-120"/>
                <a:cs typeface="Times New Roman"/>
                <a:sym typeface="Times New Roman"/>
              </a:rPr>
              <a:t>4</a:t>
            </a:r>
            <a:r>
              <a:rPr lang="zh-TW" altLang="en-US" dirty="0">
                <a:solidFill>
                  <a:schemeClr val="tx1"/>
                </a:solidFill>
                <a:latin typeface="標楷體" panose="03000509000000000000" pitchFamily="65" charset="-120"/>
                <a:ea typeface="標楷體" panose="03000509000000000000" pitchFamily="65" charset="-120"/>
                <a:cs typeface="Times New Roman"/>
                <a:sym typeface="Times New Roman"/>
              </a:rPr>
              <a:t>的倍數，這邊有這個設定是因為當初</a:t>
            </a:r>
            <a:r>
              <a:rPr lang="en-US" altLang="zh-TW" dirty="0">
                <a:solidFill>
                  <a:schemeClr val="tx1"/>
                </a:solidFill>
                <a:latin typeface="標楷體" panose="03000509000000000000" pitchFamily="65" charset="-120"/>
                <a:ea typeface="標楷體" panose="03000509000000000000" pitchFamily="65" charset="-120"/>
                <a:cs typeface="Times New Roman"/>
                <a:sym typeface="Times New Roman"/>
              </a:rPr>
              <a:t>RTL code</a:t>
            </a:r>
            <a:r>
              <a:rPr lang="zh-TW" altLang="en-US" dirty="0">
                <a:solidFill>
                  <a:schemeClr val="tx1"/>
                </a:solidFill>
                <a:latin typeface="標楷體" panose="03000509000000000000" pitchFamily="65" charset="-120"/>
                <a:ea typeface="標楷體" panose="03000509000000000000" pitchFamily="65" charset="-120"/>
                <a:cs typeface="Times New Roman"/>
                <a:sym typeface="Times New Roman"/>
              </a:rPr>
              <a:t>寫法</a:t>
            </a:r>
            <a:endParaRPr dirty="0">
              <a:solidFill>
                <a:schemeClr val="tx1"/>
              </a:solidFill>
              <a:latin typeface="標楷體" panose="03000509000000000000" pitchFamily="65" charset="-120"/>
              <a:ea typeface="標楷體" panose="03000509000000000000" pitchFamily="65" charset="-120"/>
              <a:cs typeface="Times New Roman"/>
              <a:sym typeface="Times New Roman"/>
            </a:endParaRPr>
          </a:p>
        </p:txBody>
      </p:sp>
      <p:sp>
        <p:nvSpPr>
          <p:cNvPr id="447" name="Google Shape;447;p30"/>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sp>
        <p:nvSpPr>
          <p:cNvPr id="449" name="Google Shape;449;p30"/>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4">
          <a:extLst>
            <a:ext uri="{FF2B5EF4-FFF2-40B4-BE49-F238E27FC236}">
              <a16:creationId xmlns:a16="http://schemas.microsoft.com/office/drawing/2014/main" id="{2A24A9F5-74A0-03B8-B775-598CD6D9E274}"/>
            </a:ext>
          </a:extLst>
        </p:cNvPr>
        <p:cNvGrpSpPr/>
        <p:nvPr/>
      </p:nvGrpSpPr>
      <p:grpSpPr>
        <a:xfrm>
          <a:off x="0" y="0"/>
          <a:ext cx="0" cy="0"/>
          <a:chOff x="0" y="0"/>
          <a:chExt cx="0" cy="0"/>
        </a:xfrm>
      </p:grpSpPr>
      <p:sp>
        <p:nvSpPr>
          <p:cNvPr id="445" name="Google Shape;445;p30">
            <a:extLst>
              <a:ext uri="{FF2B5EF4-FFF2-40B4-BE49-F238E27FC236}">
                <a16:creationId xmlns:a16="http://schemas.microsoft.com/office/drawing/2014/main" id="{1D78644D-8FB9-8B61-6D91-6FD7EA7204F8}"/>
              </a:ext>
            </a:extLst>
          </p:cNvPr>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Step-by-step guide</a:t>
            </a:r>
            <a:endParaRPr dirty="0">
              <a:latin typeface="Times New Roman"/>
              <a:ea typeface="Times New Roman"/>
              <a:cs typeface="Times New Roman"/>
              <a:sym typeface="Times New Roman"/>
            </a:endParaRPr>
          </a:p>
        </p:txBody>
      </p:sp>
      <p:sp>
        <p:nvSpPr>
          <p:cNvPr id="446" name="Google Shape;446;p30">
            <a:extLst>
              <a:ext uri="{FF2B5EF4-FFF2-40B4-BE49-F238E27FC236}">
                <a16:creationId xmlns:a16="http://schemas.microsoft.com/office/drawing/2014/main" id="{B98B7DED-CEE4-BDB6-E62A-B609A4A7502F}"/>
              </a:ext>
            </a:extLst>
          </p:cNvPr>
          <p:cNvSpPr txBox="1">
            <a:spLocks noGrp="1"/>
          </p:cNvSpPr>
          <p:nvPr>
            <p:ph type="body" idx="1"/>
          </p:nvPr>
        </p:nvSpPr>
        <p:spPr>
          <a:xfrm>
            <a:off x="477795" y="1252152"/>
            <a:ext cx="8254313" cy="5094546"/>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Clr>
                <a:schemeClr val="dk1"/>
              </a:buClr>
              <a:buSzPts val="2000"/>
              <a:buFont typeface="Calibri"/>
              <a:buAutoNum type="arabicPeriod" startAt="11"/>
            </a:pPr>
            <a:r>
              <a:rPr lang="en-US" dirty="0">
                <a:latin typeface="Times New Roman"/>
                <a:ea typeface="Times New Roman"/>
                <a:cs typeface="Times New Roman"/>
                <a:sym typeface="Times New Roman"/>
              </a:rPr>
              <a:t>Run </a:t>
            </a:r>
            <a:endParaRPr dirty="0"/>
          </a:p>
          <a:p>
            <a:pPr marL="1143000" lvl="2" indent="-127000" algn="l" rtl="0">
              <a:lnSpc>
                <a:spcPct val="90000"/>
              </a:lnSpc>
              <a:spcBef>
                <a:spcPts val="500"/>
              </a:spcBef>
              <a:spcAft>
                <a:spcPts val="0"/>
              </a:spcAft>
              <a:buClr>
                <a:schemeClr val="dk1"/>
              </a:buClr>
              <a:buSzPts val="1600"/>
              <a:buNone/>
            </a:pPr>
            <a:endParaRPr dirty="0">
              <a:solidFill>
                <a:srgbClr val="FF0000"/>
              </a:solidFill>
              <a:latin typeface="Times New Roman"/>
              <a:ea typeface="Times New Roman"/>
              <a:cs typeface="Times New Roman"/>
              <a:sym typeface="Times New Roman"/>
            </a:endParaRPr>
          </a:p>
        </p:txBody>
      </p:sp>
      <p:sp>
        <p:nvSpPr>
          <p:cNvPr id="447" name="Google Shape;447;p30">
            <a:extLst>
              <a:ext uri="{FF2B5EF4-FFF2-40B4-BE49-F238E27FC236}">
                <a16:creationId xmlns:a16="http://schemas.microsoft.com/office/drawing/2014/main" id="{9427B162-4CA5-E514-5AA7-C304432B6F9D}"/>
              </a:ext>
            </a:extLst>
          </p:cNvPr>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sp>
        <p:nvSpPr>
          <p:cNvPr id="449" name="Google Shape;449;p30">
            <a:extLst>
              <a:ext uri="{FF2B5EF4-FFF2-40B4-BE49-F238E27FC236}">
                <a16:creationId xmlns:a16="http://schemas.microsoft.com/office/drawing/2014/main" id="{1D6FD37B-3D8B-9245-9889-110AD4662BF2}"/>
              </a:ext>
            </a:extLst>
          </p:cNvPr>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pic>
        <p:nvPicPr>
          <p:cNvPr id="3" name="圖片 2" descr="一張含有 文字, 螢幕擷取畫面, 字型 的圖片&#10;&#10;AI 產生的內容可能不正確。">
            <a:extLst>
              <a:ext uri="{FF2B5EF4-FFF2-40B4-BE49-F238E27FC236}">
                <a16:creationId xmlns:a16="http://schemas.microsoft.com/office/drawing/2014/main" id="{5E997E75-D35C-8360-A16E-FC5E523A0A07}"/>
              </a:ext>
            </a:extLst>
          </p:cNvPr>
          <p:cNvPicPr>
            <a:picLocks noChangeAspect="1"/>
          </p:cNvPicPr>
          <p:nvPr/>
        </p:nvPicPr>
        <p:blipFill>
          <a:blip r:embed="rId3"/>
          <a:stretch>
            <a:fillRect/>
          </a:stretch>
        </p:blipFill>
        <p:spPr>
          <a:xfrm>
            <a:off x="1729047" y="1122609"/>
            <a:ext cx="3357452" cy="2752641"/>
          </a:xfrm>
          <a:prstGeom prst="rect">
            <a:avLst/>
          </a:prstGeom>
        </p:spPr>
      </p:pic>
      <p:pic>
        <p:nvPicPr>
          <p:cNvPr id="5" name="圖片 4" descr="一張含有 文字, 螢幕擷取畫面, 字型 的圖片&#10;&#10;AI 產生的內容可能不正確。">
            <a:extLst>
              <a:ext uri="{FF2B5EF4-FFF2-40B4-BE49-F238E27FC236}">
                <a16:creationId xmlns:a16="http://schemas.microsoft.com/office/drawing/2014/main" id="{8C776372-5750-891A-1CDF-F493C69DF4B6}"/>
              </a:ext>
            </a:extLst>
          </p:cNvPr>
          <p:cNvPicPr>
            <a:picLocks noChangeAspect="1"/>
          </p:cNvPicPr>
          <p:nvPr/>
        </p:nvPicPr>
        <p:blipFill>
          <a:blip r:embed="rId4"/>
          <a:stretch>
            <a:fillRect/>
          </a:stretch>
        </p:blipFill>
        <p:spPr>
          <a:xfrm>
            <a:off x="5180791" y="1122609"/>
            <a:ext cx="3551317" cy="2748337"/>
          </a:xfrm>
          <a:prstGeom prst="rect">
            <a:avLst/>
          </a:prstGeom>
        </p:spPr>
      </p:pic>
      <p:pic>
        <p:nvPicPr>
          <p:cNvPr id="7" name="圖片 6" descr="一張含有 文字, 螢幕擷取畫面, 字型, 陳列 的圖片&#10;&#10;AI 產生的內容可能不正確。">
            <a:extLst>
              <a:ext uri="{FF2B5EF4-FFF2-40B4-BE49-F238E27FC236}">
                <a16:creationId xmlns:a16="http://schemas.microsoft.com/office/drawing/2014/main" id="{6E912E9B-C6A1-87AD-DFD5-0B0122B9EEBA}"/>
              </a:ext>
            </a:extLst>
          </p:cNvPr>
          <p:cNvPicPr>
            <a:picLocks noChangeAspect="1"/>
          </p:cNvPicPr>
          <p:nvPr/>
        </p:nvPicPr>
        <p:blipFill>
          <a:blip r:embed="rId5"/>
          <a:stretch>
            <a:fillRect/>
          </a:stretch>
        </p:blipFill>
        <p:spPr>
          <a:xfrm>
            <a:off x="2269002" y="3939387"/>
            <a:ext cx="5634994" cy="2412138"/>
          </a:xfrm>
          <a:prstGeom prst="rect">
            <a:avLst/>
          </a:prstGeom>
        </p:spPr>
      </p:pic>
    </p:spTree>
    <p:extLst>
      <p:ext uri="{BB962C8B-B14F-4D97-AF65-F5344CB8AC3E}">
        <p14:creationId xmlns:p14="http://schemas.microsoft.com/office/powerpoint/2010/main" val="15303609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44">
          <a:extLst>
            <a:ext uri="{FF2B5EF4-FFF2-40B4-BE49-F238E27FC236}">
              <a16:creationId xmlns:a16="http://schemas.microsoft.com/office/drawing/2014/main" id="{A6B14606-F516-1323-864E-2F474E44B4FD}"/>
            </a:ext>
          </a:extLst>
        </p:cNvPr>
        <p:cNvGrpSpPr/>
        <p:nvPr/>
      </p:nvGrpSpPr>
      <p:grpSpPr>
        <a:xfrm>
          <a:off x="0" y="0"/>
          <a:ext cx="0" cy="0"/>
          <a:chOff x="0" y="0"/>
          <a:chExt cx="0" cy="0"/>
        </a:xfrm>
      </p:grpSpPr>
      <p:sp>
        <p:nvSpPr>
          <p:cNvPr id="445" name="Google Shape;445;p30">
            <a:extLst>
              <a:ext uri="{FF2B5EF4-FFF2-40B4-BE49-F238E27FC236}">
                <a16:creationId xmlns:a16="http://schemas.microsoft.com/office/drawing/2014/main" id="{A171B83C-40A0-A29D-D2E3-2000D36F8EAE}"/>
              </a:ext>
            </a:extLst>
          </p:cNvPr>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Step-by-step guide</a:t>
            </a:r>
            <a:endParaRPr dirty="0">
              <a:latin typeface="Times New Roman"/>
              <a:ea typeface="Times New Roman"/>
              <a:cs typeface="Times New Roman"/>
              <a:sym typeface="Times New Roman"/>
            </a:endParaRPr>
          </a:p>
        </p:txBody>
      </p:sp>
      <p:sp>
        <p:nvSpPr>
          <p:cNvPr id="446" name="Google Shape;446;p30">
            <a:extLst>
              <a:ext uri="{FF2B5EF4-FFF2-40B4-BE49-F238E27FC236}">
                <a16:creationId xmlns:a16="http://schemas.microsoft.com/office/drawing/2014/main" id="{97CB7D0C-ACA7-52EF-EE2A-F5CF43E0D67E}"/>
              </a:ext>
            </a:extLst>
          </p:cNvPr>
          <p:cNvSpPr txBox="1">
            <a:spLocks noGrp="1"/>
          </p:cNvSpPr>
          <p:nvPr>
            <p:ph type="body" idx="1"/>
          </p:nvPr>
        </p:nvSpPr>
        <p:spPr>
          <a:xfrm>
            <a:off x="477795" y="1252152"/>
            <a:ext cx="8254313" cy="5094546"/>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Clr>
                <a:schemeClr val="dk1"/>
              </a:buClr>
              <a:buSzPts val="2000"/>
              <a:buFont typeface="Calibri"/>
              <a:buAutoNum type="arabicPeriod" startAt="11"/>
            </a:pPr>
            <a:r>
              <a:rPr lang="en-US" dirty="0">
                <a:latin typeface="Times New Roman"/>
                <a:ea typeface="Times New Roman"/>
                <a:cs typeface="Times New Roman"/>
                <a:sym typeface="Times New Roman"/>
              </a:rPr>
              <a:t>Run	 -- remember to change your files here ( check testutil.cpp)</a:t>
            </a:r>
            <a:endParaRPr lang="en-US" dirty="0"/>
          </a:p>
          <a:p>
            <a:pPr marL="1143000" lvl="2" indent="-228600" algn="l" rtl="0">
              <a:lnSpc>
                <a:spcPct val="90000"/>
              </a:lnSpc>
              <a:spcBef>
                <a:spcPts val="500"/>
              </a:spcBef>
              <a:spcAft>
                <a:spcPts val="0"/>
              </a:spcAft>
              <a:buClr>
                <a:srgbClr val="FF0000"/>
              </a:buClr>
              <a:buSzPts val="1600"/>
              <a:buChar char="˗"/>
            </a:pPr>
            <a:r>
              <a:rPr lang="en-US" dirty="0">
                <a:solidFill>
                  <a:srgbClr val="FF0000"/>
                </a:solidFill>
                <a:latin typeface="Times New Roman"/>
                <a:ea typeface="Times New Roman"/>
                <a:cs typeface="Times New Roman"/>
                <a:sym typeface="Times New Roman"/>
              </a:rPr>
              <a:t>make</a:t>
            </a:r>
          </a:p>
          <a:p>
            <a:pPr marL="1143000" lvl="2" indent="-228600" algn="l" rtl="0">
              <a:lnSpc>
                <a:spcPct val="90000"/>
              </a:lnSpc>
              <a:spcBef>
                <a:spcPts val="500"/>
              </a:spcBef>
              <a:spcAft>
                <a:spcPts val="0"/>
              </a:spcAft>
              <a:buClr>
                <a:srgbClr val="FF0000"/>
              </a:buClr>
              <a:buSzPts val="1600"/>
              <a:buChar char="˗"/>
            </a:pPr>
            <a:r>
              <a:rPr lang="en-US" altLang="zh-TW" dirty="0">
                <a:solidFill>
                  <a:srgbClr val="FF0000"/>
                </a:solidFill>
                <a:latin typeface="Times New Roman"/>
                <a:ea typeface="Times New Roman"/>
                <a:cs typeface="Times New Roman"/>
                <a:sym typeface="Times New Roman"/>
              </a:rPr>
              <a:t>./testutil 2 &lt;numofdata&gt;	//numofdata: </a:t>
            </a:r>
            <a:r>
              <a:rPr lang="en-US" altLang="zh-TW" b="1" dirty="0">
                <a:solidFill>
                  <a:srgbClr val="FF0000"/>
                </a:solidFill>
                <a:latin typeface="Times New Roman"/>
                <a:ea typeface="Times New Roman"/>
                <a:cs typeface="Times New Roman"/>
                <a:sym typeface="Times New Roman"/>
              </a:rPr>
              <a:t>must be multiples of 4 </a:t>
            </a:r>
          </a:p>
          <a:p>
            <a:pPr marL="1143000" lvl="2" indent="-228600" algn="l" rtl="0">
              <a:lnSpc>
                <a:spcPct val="90000"/>
              </a:lnSpc>
              <a:spcBef>
                <a:spcPts val="500"/>
              </a:spcBef>
              <a:spcAft>
                <a:spcPts val="0"/>
              </a:spcAft>
              <a:buClr>
                <a:srgbClr val="FF0000"/>
              </a:buClr>
              <a:buSzPts val="1600"/>
              <a:buChar char="˗"/>
            </a:pPr>
            <a:r>
              <a:rPr lang="en-US" altLang="zh-TW" dirty="0">
                <a:solidFill>
                  <a:srgbClr val="FF0000"/>
                </a:solidFill>
                <a:latin typeface="Times New Roman"/>
                <a:ea typeface="Times New Roman"/>
                <a:cs typeface="Times New Roman"/>
                <a:sym typeface="Times New Roman"/>
              </a:rPr>
              <a:t>(up to 65536 due to the size of </a:t>
            </a:r>
            <a:r>
              <a:rPr lang="en-US" altLang="zh-TW" dirty="0" err="1">
                <a:solidFill>
                  <a:srgbClr val="FF0000"/>
                </a:solidFill>
                <a:latin typeface="Times New Roman"/>
                <a:ea typeface="Times New Roman"/>
                <a:cs typeface="Times New Roman"/>
                <a:sym typeface="Times New Roman"/>
              </a:rPr>
              <a:t>bram</a:t>
            </a:r>
            <a:r>
              <a:rPr lang="en-US" altLang="zh-TW" dirty="0">
                <a:solidFill>
                  <a:srgbClr val="FF0000"/>
                </a:solidFill>
                <a:latin typeface="Times New Roman"/>
                <a:ea typeface="Times New Roman"/>
                <a:cs typeface="Times New Roman"/>
                <a:sym typeface="Times New Roman"/>
              </a:rPr>
              <a:t> defined in </a:t>
            </a:r>
            <a:r>
              <a:rPr lang="en-US" altLang="zh-TW" dirty="0" err="1">
                <a:solidFill>
                  <a:srgbClr val="FF0000"/>
                </a:solidFill>
                <a:latin typeface="Times New Roman"/>
                <a:ea typeface="Times New Roman"/>
                <a:cs typeface="Times New Roman"/>
                <a:sym typeface="Times New Roman"/>
              </a:rPr>
              <a:t>bram_wrapper.v</a:t>
            </a:r>
            <a:r>
              <a:rPr lang="en-US" altLang="zh-TW" dirty="0">
                <a:solidFill>
                  <a:srgbClr val="FF0000"/>
                </a:solidFill>
                <a:latin typeface="Times New Roman"/>
                <a:ea typeface="Times New Roman"/>
                <a:cs typeface="Times New Roman"/>
                <a:sym typeface="Times New Roman"/>
              </a:rPr>
              <a:t>)</a:t>
            </a:r>
            <a:endParaRPr lang="en-US" dirty="0">
              <a:solidFill>
                <a:srgbClr val="FF0000"/>
              </a:solidFill>
              <a:latin typeface="Times New Roman"/>
              <a:ea typeface="Times New Roman"/>
              <a:cs typeface="Times New Roman"/>
              <a:sym typeface="Times New Roman"/>
            </a:endParaRPr>
          </a:p>
        </p:txBody>
      </p:sp>
      <p:sp>
        <p:nvSpPr>
          <p:cNvPr id="447" name="Google Shape;447;p30">
            <a:extLst>
              <a:ext uri="{FF2B5EF4-FFF2-40B4-BE49-F238E27FC236}">
                <a16:creationId xmlns:a16="http://schemas.microsoft.com/office/drawing/2014/main" id="{2A6FFD5F-A01D-502D-61BD-265DCB27D5D0}"/>
              </a:ext>
            </a:extLst>
          </p:cNvPr>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sp>
        <p:nvSpPr>
          <p:cNvPr id="449" name="Google Shape;449;p30">
            <a:extLst>
              <a:ext uri="{FF2B5EF4-FFF2-40B4-BE49-F238E27FC236}">
                <a16:creationId xmlns:a16="http://schemas.microsoft.com/office/drawing/2014/main" id="{AA4D0B55-97E5-F8E8-443D-78252F075E2B}"/>
              </a:ext>
            </a:extLst>
          </p:cNvPr>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pic>
        <p:nvPicPr>
          <p:cNvPr id="3" name="圖片 2" descr="一張含有 文字, 螢幕擷取畫面, 軟體 的圖片&#10;&#10;AI 產生的內容可能不正確。">
            <a:extLst>
              <a:ext uri="{FF2B5EF4-FFF2-40B4-BE49-F238E27FC236}">
                <a16:creationId xmlns:a16="http://schemas.microsoft.com/office/drawing/2014/main" id="{1DD3DC5B-DDAE-2BEC-62D8-FA2ABD41DB98}"/>
              </a:ext>
            </a:extLst>
          </p:cNvPr>
          <p:cNvPicPr>
            <a:picLocks noChangeAspect="1"/>
          </p:cNvPicPr>
          <p:nvPr/>
        </p:nvPicPr>
        <p:blipFill>
          <a:blip r:embed="rId3"/>
          <a:stretch>
            <a:fillRect/>
          </a:stretch>
        </p:blipFill>
        <p:spPr>
          <a:xfrm>
            <a:off x="266185" y="2598785"/>
            <a:ext cx="4141053" cy="3940128"/>
          </a:xfrm>
          <a:prstGeom prst="rect">
            <a:avLst/>
          </a:prstGeom>
        </p:spPr>
      </p:pic>
      <p:pic>
        <p:nvPicPr>
          <p:cNvPr id="9" name="圖片 8" descr="一張含有 文字, 螢幕擷取畫面 的圖片&#10;&#10;AI 產生的內容可能不正確。">
            <a:extLst>
              <a:ext uri="{FF2B5EF4-FFF2-40B4-BE49-F238E27FC236}">
                <a16:creationId xmlns:a16="http://schemas.microsoft.com/office/drawing/2014/main" id="{22B9913C-9CD4-1D0C-655A-EF0B5EDFD8A5}"/>
              </a:ext>
            </a:extLst>
          </p:cNvPr>
          <p:cNvPicPr>
            <a:picLocks noChangeAspect="1"/>
          </p:cNvPicPr>
          <p:nvPr/>
        </p:nvPicPr>
        <p:blipFill>
          <a:blip r:embed="rId4"/>
          <a:stretch>
            <a:fillRect/>
          </a:stretch>
        </p:blipFill>
        <p:spPr>
          <a:xfrm>
            <a:off x="4387299" y="2598785"/>
            <a:ext cx="4490516" cy="3940128"/>
          </a:xfrm>
          <a:prstGeom prst="rect">
            <a:avLst/>
          </a:prstGeom>
        </p:spPr>
      </p:pic>
    </p:spTree>
    <p:extLst>
      <p:ext uri="{BB962C8B-B14F-4D97-AF65-F5344CB8AC3E}">
        <p14:creationId xmlns:p14="http://schemas.microsoft.com/office/powerpoint/2010/main" val="16836163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4"/>
          <p:cNvSpPr txBox="1">
            <a:spLocks noGrp="1"/>
          </p:cNvSpPr>
          <p:nvPr>
            <p:ph type="title"/>
          </p:nvPr>
        </p:nvSpPr>
        <p:spPr>
          <a:xfrm>
            <a:off x="444900" y="540637"/>
            <a:ext cx="8254200" cy="791400"/>
          </a:xfrm>
          <a:prstGeom prst="rect">
            <a:avLst/>
          </a:prstGeom>
          <a:noFill/>
          <a:ln>
            <a:noFill/>
          </a:ln>
        </p:spPr>
        <p:txBody>
          <a:bodyPr spcFirstLastPara="1" wrap="square" lIns="91425" tIns="45700" rIns="91425" bIns="45700" anchor="ctr" anchorCtr="0">
            <a:normAutofit/>
          </a:bodyPr>
          <a:lstStyle/>
          <a:p>
            <a:pPr lvl="0"/>
            <a:r>
              <a:rPr lang="en-US" altLang="zh-TW" dirty="0"/>
              <a:t>Step-by-step guide</a:t>
            </a:r>
            <a:endParaRPr dirty="0"/>
          </a:p>
        </p:txBody>
      </p:sp>
      <p:sp>
        <p:nvSpPr>
          <p:cNvPr id="228" name="Google Shape;228;p14"/>
          <p:cNvSpPr txBox="1">
            <a:spLocks noGrp="1"/>
          </p:cNvSpPr>
          <p:nvPr>
            <p:ph type="body" idx="1"/>
          </p:nvPr>
        </p:nvSpPr>
        <p:spPr>
          <a:xfrm>
            <a:off x="477795" y="1332037"/>
            <a:ext cx="7627596" cy="195980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latin typeface="標楷體" panose="03000509000000000000" pitchFamily="65" charset="-120"/>
                <a:ea typeface="標楷體" panose="03000509000000000000" pitchFamily="65" charset="-120"/>
              </a:rPr>
              <a:t>只需修改input_memory與需傳輸的data大小</a:t>
            </a:r>
            <a:endParaRPr dirty="0">
              <a:latin typeface="標楷體" panose="03000509000000000000" pitchFamily="65" charset="-120"/>
              <a:ea typeface="標楷體" panose="03000509000000000000" pitchFamily="65" charset="-120"/>
            </a:endParaRPr>
          </a:p>
          <a:p>
            <a:pPr marL="228600" lvl="0" indent="-228600" algn="l" rtl="0">
              <a:lnSpc>
                <a:spcPct val="90000"/>
              </a:lnSpc>
              <a:spcBef>
                <a:spcPts val="1000"/>
              </a:spcBef>
              <a:spcAft>
                <a:spcPts val="0"/>
              </a:spcAft>
              <a:buClr>
                <a:schemeClr val="dk1"/>
              </a:buClr>
              <a:buSzPts val="2000"/>
              <a:buChar char="•"/>
            </a:pPr>
            <a:r>
              <a:rPr lang="en-US" dirty="0">
                <a:latin typeface="標楷體" panose="03000509000000000000" pitchFamily="65" charset="-120"/>
                <a:ea typeface="標楷體" panose="03000509000000000000" pitchFamily="65" charset="-120"/>
              </a:rPr>
              <a:t>Input_memory與receive memory皆為int (32bit)的memory matrix，與TX/RX的128bit對應關係為:</a:t>
            </a:r>
            <a:endParaRPr dirty="0">
              <a:latin typeface="標楷體" panose="03000509000000000000" pitchFamily="65" charset="-120"/>
              <a:ea typeface="標楷體" panose="03000509000000000000" pitchFamily="65" charset="-120"/>
            </a:endParaRPr>
          </a:p>
          <a:p>
            <a:pPr marL="0" lvl="0" indent="0" algn="l" rtl="0">
              <a:lnSpc>
                <a:spcPct val="90000"/>
              </a:lnSpc>
              <a:spcBef>
                <a:spcPts val="1000"/>
              </a:spcBef>
              <a:spcAft>
                <a:spcPts val="0"/>
              </a:spcAft>
              <a:buClr>
                <a:schemeClr val="dk1"/>
              </a:buClr>
              <a:buSzPts val="2000"/>
              <a:buNone/>
            </a:pPr>
            <a:r>
              <a:rPr lang="en-US" dirty="0">
                <a:latin typeface="標楷體" panose="03000509000000000000" pitchFamily="65" charset="-120"/>
                <a:ea typeface="標楷體" panose="03000509000000000000" pitchFamily="65" charset="-120"/>
              </a:rPr>
              <a:t>	TX/RX[n] = {mem[4n+3],mem[4n+2],mem[4n+1],mem[4n]}</a:t>
            </a:r>
            <a:endParaRPr dirty="0">
              <a:latin typeface="標楷體" panose="03000509000000000000" pitchFamily="65" charset="-120"/>
              <a:ea typeface="標楷體" panose="03000509000000000000" pitchFamily="65" charset="-120"/>
            </a:endParaRPr>
          </a:p>
          <a:p>
            <a:pPr marL="228600" lvl="0" indent="-228600" algn="l" rtl="0">
              <a:lnSpc>
                <a:spcPct val="90000"/>
              </a:lnSpc>
              <a:spcBef>
                <a:spcPts val="1000"/>
              </a:spcBef>
              <a:spcAft>
                <a:spcPts val="0"/>
              </a:spcAft>
              <a:buClr>
                <a:schemeClr val="dk1"/>
              </a:buClr>
              <a:buSzPts val="2000"/>
              <a:buChar char="•"/>
            </a:pPr>
            <a:r>
              <a:rPr lang="en-US" dirty="0">
                <a:latin typeface="標楷體" panose="03000509000000000000" pitchFamily="65" charset="-120"/>
                <a:ea typeface="標楷體" panose="03000509000000000000" pitchFamily="65" charset="-120"/>
              </a:rPr>
              <a:t>生成memory時</a:t>
            </a:r>
            <a:r>
              <a:rPr lang="zh-TW" altLang="en-US" dirty="0">
                <a:latin typeface="標楷體" panose="03000509000000000000" pitchFamily="65" charset="-120"/>
                <a:ea typeface="標楷體" panose="03000509000000000000" pitchFamily="65" charset="-120"/>
              </a:rPr>
              <a:t>建議</a:t>
            </a:r>
            <a:r>
              <a:rPr lang="en-US" dirty="0">
                <a:latin typeface="標楷體" panose="03000509000000000000" pitchFamily="65" charset="-120"/>
                <a:ea typeface="標楷體" panose="03000509000000000000" pitchFamily="65" charset="-120"/>
              </a:rPr>
              <a:t>以INT型別來操作</a:t>
            </a:r>
            <a:endParaRPr dirty="0">
              <a:solidFill>
                <a:srgbClr val="FF0000"/>
              </a:solidFill>
              <a:latin typeface="標楷體" panose="03000509000000000000" pitchFamily="65" charset="-120"/>
              <a:ea typeface="標楷體" panose="03000509000000000000" pitchFamily="65" charset="-120"/>
            </a:endParaRPr>
          </a:p>
        </p:txBody>
      </p:sp>
      <p:sp>
        <p:nvSpPr>
          <p:cNvPr id="229" name="Google Shape;229;p14"/>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230" name="Google Shape;230;p14"/>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pic>
        <p:nvPicPr>
          <p:cNvPr id="2" name="圖片 1" descr="一張含有 文字, 螢幕擷取畫面, 軟體 的圖片&#10;&#10;AI 產生的內容可能不正確。">
            <a:extLst>
              <a:ext uri="{FF2B5EF4-FFF2-40B4-BE49-F238E27FC236}">
                <a16:creationId xmlns:a16="http://schemas.microsoft.com/office/drawing/2014/main" id="{81544D97-0893-9E85-A774-0EDD509140B8}"/>
              </a:ext>
            </a:extLst>
          </p:cNvPr>
          <p:cNvPicPr>
            <a:picLocks noChangeAspect="1"/>
          </p:cNvPicPr>
          <p:nvPr/>
        </p:nvPicPr>
        <p:blipFill>
          <a:blip r:embed="rId3"/>
          <a:srcRect b="73265"/>
          <a:stretch>
            <a:fillRect/>
          </a:stretch>
        </p:blipFill>
        <p:spPr>
          <a:xfrm>
            <a:off x="477795" y="3429000"/>
            <a:ext cx="8042000" cy="227838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44">
          <a:extLst>
            <a:ext uri="{FF2B5EF4-FFF2-40B4-BE49-F238E27FC236}">
              <a16:creationId xmlns:a16="http://schemas.microsoft.com/office/drawing/2014/main" id="{D527E24B-6FA3-A03D-43CF-39FA747C18CC}"/>
            </a:ext>
          </a:extLst>
        </p:cNvPr>
        <p:cNvGrpSpPr/>
        <p:nvPr/>
      </p:nvGrpSpPr>
      <p:grpSpPr>
        <a:xfrm>
          <a:off x="0" y="0"/>
          <a:ext cx="0" cy="0"/>
          <a:chOff x="0" y="0"/>
          <a:chExt cx="0" cy="0"/>
        </a:xfrm>
      </p:grpSpPr>
      <p:sp>
        <p:nvSpPr>
          <p:cNvPr id="445" name="Google Shape;445;p30">
            <a:extLst>
              <a:ext uri="{FF2B5EF4-FFF2-40B4-BE49-F238E27FC236}">
                <a16:creationId xmlns:a16="http://schemas.microsoft.com/office/drawing/2014/main" id="{47D73525-B3FD-63ED-26F1-CC5571A629D8}"/>
              </a:ext>
            </a:extLst>
          </p:cNvPr>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Step-by-step guide</a:t>
            </a:r>
            <a:endParaRPr dirty="0">
              <a:latin typeface="Times New Roman"/>
              <a:ea typeface="Times New Roman"/>
              <a:cs typeface="Times New Roman"/>
              <a:sym typeface="Times New Roman"/>
            </a:endParaRPr>
          </a:p>
        </p:txBody>
      </p:sp>
      <p:sp>
        <p:nvSpPr>
          <p:cNvPr id="446" name="Google Shape;446;p30">
            <a:extLst>
              <a:ext uri="{FF2B5EF4-FFF2-40B4-BE49-F238E27FC236}">
                <a16:creationId xmlns:a16="http://schemas.microsoft.com/office/drawing/2014/main" id="{83D92565-E5CC-CDC2-5E81-C52A86AEF077}"/>
              </a:ext>
            </a:extLst>
          </p:cNvPr>
          <p:cNvSpPr txBox="1">
            <a:spLocks noGrp="1"/>
          </p:cNvSpPr>
          <p:nvPr>
            <p:ph type="body" idx="1"/>
          </p:nvPr>
        </p:nvSpPr>
        <p:spPr>
          <a:xfrm>
            <a:off x="477795" y="1252152"/>
            <a:ext cx="8254313" cy="5094546"/>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Clr>
                <a:schemeClr val="dk1"/>
              </a:buClr>
              <a:buSzPts val="2000"/>
              <a:buFont typeface="Calibri"/>
              <a:buAutoNum type="arabicPeriod" startAt="11"/>
            </a:pPr>
            <a:r>
              <a:rPr lang="en-US" dirty="0">
                <a:latin typeface="Times New Roman"/>
                <a:ea typeface="Times New Roman"/>
                <a:cs typeface="Times New Roman"/>
                <a:sym typeface="Times New Roman"/>
              </a:rPr>
              <a:t>Run		</a:t>
            </a:r>
            <a:endParaRPr dirty="0">
              <a:solidFill>
                <a:srgbClr val="FF0000"/>
              </a:solidFill>
              <a:latin typeface="Times New Roman"/>
              <a:ea typeface="Times New Roman"/>
              <a:cs typeface="Times New Roman"/>
              <a:sym typeface="Times New Roman"/>
            </a:endParaRPr>
          </a:p>
        </p:txBody>
      </p:sp>
      <p:sp>
        <p:nvSpPr>
          <p:cNvPr id="447" name="Google Shape;447;p30">
            <a:extLst>
              <a:ext uri="{FF2B5EF4-FFF2-40B4-BE49-F238E27FC236}">
                <a16:creationId xmlns:a16="http://schemas.microsoft.com/office/drawing/2014/main" id="{6F96D3F8-33E6-8B84-1231-BE38D384D779}"/>
              </a:ext>
            </a:extLst>
          </p:cNvPr>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sp>
        <p:nvSpPr>
          <p:cNvPr id="449" name="Google Shape;449;p30">
            <a:extLst>
              <a:ext uri="{FF2B5EF4-FFF2-40B4-BE49-F238E27FC236}">
                <a16:creationId xmlns:a16="http://schemas.microsoft.com/office/drawing/2014/main" id="{D2583B55-D649-452D-8098-967319912EBA}"/>
              </a:ext>
            </a:extLst>
          </p:cNvPr>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pic>
        <p:nvPicPr>
          <p:cNvPr id="2" name="Google Shape;615;p47">
            <a:extLst>
              <a:ext uri="{FF2B5EF4-FFF2-40B4-BE49-F238E27FC236}">
                <a16:creationId xmlns:a16="http://schemas.microsoft.com/office/drawing/2014/main" id="{F9FD9DA4-7ED0-B871-C3E4-8DEB436D2957}"/>
              </a:ext>
            </a:extLst>
          </p:cNvPr>
          <p:cNvPicPr preferRelativeResize="0"/>
          <p:nvPr/>
        </p:nvPicPr>
        <p:blipFill rotWithShape="1">
          <a:blip r:embed="rId3">
            <a:alphaModFix/>
          </a:blip>
          <a:srcRect/>
          <a:stretch/>
        </p:blipFill>
        <p:spPr>
          <a:xfrm>
            <a:off x="458281" y="1657093"/>
            <a:ext cx="4818120" cy="2374576"/>
          </a:xfrm>
          <a:prstGeom prst="rect">
            <a:avLst/>
          </a:prstGeom>
          <a:noFill/>
          <a:ln>
            <a:noFill/>
          </a:ln>
        </p:spPr>
      </p:pic>
      <p:pic>
        <p:nvPicPr>
          <p:cNvPr id="5" name="圖片 4" descr="一張含有 文字, 螢幕擷取畫面, 軟體 的圖片&#10;&#10;AI 產生的內容可能不正確。">
            <a:extLst>
              <a:ext uri="{FF2B5EF4-FFF2-40B4-BE49-F238E27FC236}">
                <a16:creationId xmlns:a16="http://schemas.microsoft.com/office/drawing/2014/main" id="{D32EF1E7-689C-3331-E0BA-C349BA401A5C}"/>
              </a:ext>
            </a:extLst>
          </p:cNvPr>
          <p:cNvPicPr>
            <a:picLocks noChangeAspect="1"/>
          </p:cNvPicPr>
          <p:nvPr/>
        </p:nvPicPr>
        <p:blipFill>
          <a:blip r:embed="rId4"/>
          <a:stretch>
            <a:fillRect/>
          </a:stretch>
        </p:blipFill>
        <p:spPr>
          <a:xfrm>
            <a:off x="5349255" y="1645556"/>
            <a:ext cx="3581900" cy="4896533"/>
          </a:xfrm>
          <a:prstGeom prst="rect">
            <a:avLst/>
          </a:prstGeom>
        </p:spPr>
      </p:pic>
      <p:pic>
        <p:nvPicPr>
          <p:cNvPr id="7" name="圖片 6" descr="一張含有 文字, 字型, 白色, 螢幕擷取畫面 的圖片&#10;&#10;AI 產生的內容可能不正確。">
            <a:extLst>
              <a:ext uri="{FF2B5EF4-FFF2-40B4-BE49-F238E27FC236}">
                <a16:creationId xmlns:a16="http://schemas.microsoft.com/office/drawing/2014/main" id="{6BEA4B84-F337-4C19-9D6F-C37C66DD5D0D}"/>
              </a:ext>
            </a:extLst>
          </p:cNvPr>
          <p:cNvPicPr>
            <a:picLocks noChangeAspect="1"/>
          </p:cNvPicPr>
          <p:nvPr/>
        </p:nvPicPr>
        <p:blipFill>
          <a:blip r:embed="rId5"/>
          <a:stretch>
            <a:fillRect/>
          </a:stretch>
        </p:blipFill>
        <p:spPr>
          <a:xfrm>
            <a:off x="4003692" y="443518"/>
            <a:ext cx="4801270" cy="1105975"/>
          </a:xfrm>
          <a:prstGeom prst="rect">
            <a:avLst/>
          </a:prstGeom>
        </p:spPr>
      </p:pic>
      <p:sp>
        <p:nvSpPr>
          <p:cNvPr id="8" name="文字方塊 7">
            <a:extLst>
              <a:ext uri="{FF2B5EF4-FFF2-40B4-BE49-F238E27FC236}">
                <a16:creationId xmlns:a16="http://schemas.microsoft.com/office/drawing/2014/main" id="{9B51CCB1-F71E-FCEA-EC8B-4AD8D65078A9}"/>
              </a:ext>
            </a:extLst>
          </p:cNvPr>
          <p:cNvSpPr txBox="1"/>
          <p:nvPr/>
        </p:nvSpPr>
        <p:spPr>
          <a:xfrm>
            <a:off x="411892" y="4227404"/>
            <a:ext cx="4818120" cy="1754326"/>
          </a:xfrm>
          <a:prstGeom prst="rect">
            <a:avLst/>
          </a:prstGeom>
          <a:noFill/>
        </p:spPr>
        <p:txBody>
          <a:bodyPr wrap="square" rtlCol="0">
            <a:spAutoFit/>
          </a:bodyPr>
          <a:lstStyle/>
          <a:p>
            <a:r>
              <a:rPr lang="zh-TW" altLang="en-US" sz="1800" dirty="0">
                <a:latin typeface="標楷體" panose="03000509000000000000" pitchFamily="65" charset="-120"/>
                <a:ea typeface="標楷體" panose="03000509000000000000" pitchFamily="65" charset="-120"/>
              </a:rPr>
              <a:t>其實可以自己調整你</a:t>
            </a:r>
            <a:r>
              <a:rPr lang="en-US" altLang="zh-TW" sz="1800" dirty="0">
                <a:latin typeface="標楷體" panose="03000509000000000000" pitchFamily="65" charset="-120"/>
                <a:ea typeface="標楷體" panose="03000509000000000000" pitchFamily="65" charset="-120"/>
              </a:rPr>
              <a:t>PCIe</a:t>
            </a:r>
            <a:r>
              <a:rPr lang="zh-TW" altLang="en-US" sz="1800" dirty="0">
                <a:latin typeface="標楷體" panose="03000509000000000000" pitchFamily="65" charset="-120"/>
                <a:ea typeface="標楷體" panose="03000509000000000000" pitchFamily="65" charset="-120"/>
              </a:rPr>
              <a:t>一次想傳輸的</a:t>
            </a:r>
            <a:r>
              <a:rPr lang="en-US" altLang="zh-TW" sz="1800" dirty="0">
                <a:latin typeface="標楷體" panose="03000509000000000000" pitchFamily="65" charset="-120"/>
                <a:ea typeface="標楷體" panose="03000509000000000000" pitchFamily="65" charset="-120"/>
              </a:rPr>
              <a:t>bits</a:t>
            </a:r>
            <a:r>
              <a:rPr lang="zh-TW" altLang="en-US" sz="1800" dirty="0">
                <a:latin typeface="標楷體" panose="03000509000000000000" pitchFamily="65" charset="-120"/>
                <a:ea typeface="標楷體" panose="03000509000000000000" pitchFamily="65" charset="-120"/>
              </a:rPr>
              <a:t>量，</a:t>
            </a:r>
            <a:r>
              <a:rPr lang="en-US" altLang="zh-TW" sz="1800" dirty="0">
                <a:latin typeface="標楷體" panose="03000509000000000000" pitchFamily="65" charset="-120"/>
                <a:ea typeface="標楷體" panose="03000509000000000000" pitchFamily="65" charset="-120"/>
              </a:rPr>
              <a:t>32/64/128</a:t>
            </a:r>
            <a:r>
              <a:rPr lang="zh-TW" altLang="en-US" sz="1800" dirty="0">
                <a:latin typeface="標楷體" panose="03000509000000000000" pitchFamily="65" charset="-120"/>
                <a:ea typeface="標楷體" panose="03000509000000000000" pitchFamily="65" charset="-120"/>
              </a:rPr>
              <a:t>。</a:t>
            </a:r>
            <a:endParaRPr lang="en-US" altLang="zh-TW" sz="1800" dirty="0">
              <a:latin typeface="標楷體" panose="03000509000000000000" pitchFamily="65" charset="-120"/>
              <a:ea typeface="標楷體" panose="03000509000000000000" pitchFamily="65" charset="-120"/>
            </a:endParaRPr>
          </a:p>
          <a:p>
            <a:r>
              <a:rPr lang="en-US" altLang="zh-TW" sz="1800" dirty="0">
                <a:latin typeface="標楷體" panose="03000509000000000000" pitchFamily="65" charset="-120"/>
                <a:ea typeface="標楷體" panose="03000509000000000000" pitchFamily="65" charset="-120"/>
              </a:rPr>
              <a:t>(</a:t>
            </a:r>
            <a:r>
              <a:rPr lang="zh-TW" altLang="en-US" sz="1800" dirty="0">
                <a:latin typeface="標楷體" panose="03000509000000000000" pitchFamily="65" charset="-120"/>
                <a:ea typeface="標楷體" panose="03000509000000000000" pitchFamily="65" charset="-120"/>
              </a:rPr>
              <a:t>預設</a:t>
            </a:r>
            <a:r>
              <a:rPr lang="en-US" altLang="zh-TW" sz="1800" dirty="0">
                <a:latin typeface="標楷體" panose="03000509000000000000" pitchFamily="65" charset="-120"/>
                <a:ea typeface="標楷體" panose="03000509000000000000" pitchFamily="65" charset="-120"/>
              </a:rPr>
              <a:t>128 bits</a:t>
            </a:r>
            <a:r>
              <a:rPr lang="zh-TW" altLang="en-US" sz="1800" dirty="0">
                <a:latin typeface="標楷體" panose="03000509000000000000" pitchFamily="65" charset="-120"/>
                <a:ea typeface="標楷體" panose="03000509000000000000" pitchFamily="65" charset="-120"/>
              </a:rPr>
              <a:t>，真的想改請參考</a:t>
            </a:r>
            <a:r>
              <a:rPr lang="en-US" altLang="zh-TW" sz="1800" dirty="0">
                <a:latin typeface="標楷體" panose="03000509000000000000" pitchFamily="65" charset="-120"/>
                <a:ea typeface="標楷體" panose="03000509000000000000" pitchFamily="65" charset="-120"/>
              </a:rPr>
              <a:t>appendix)</a:t>
            </a:r>
          </a:p>
          <a:p>
            <a:br>
              <a:rPr lang="en-US" altLang="zh-TW" sz="1800" dirty="0">
                <a:latin typeface="標楷體" panose="03000509000000000000" pitchFamily="65" charset="-120"/>
                <a:ea typeface="標楷體" panose="03000509000000000000" pitchFamily="65" charset="-120"/>
              </a:rPr>
            </a:br>
            <a:r>
              <a:rPr lang="zh-TW" altLang="en-US" sz="1800" dirty="0">
                <a:latin typeface="標楷體" panose="03000509000000000000" pitchFamily="65" charset="-120"/>
                <a:ea typeface="標楷體" panose="03000509000000000000" pitchFamily="65" charset="-120"/>
              </a:rPr>
              <a:t>如果你使用</a:t>
            </a:r>
            <a:r>
              <a:rPr lang="en-US" altLang="zh-TW" sz="1800" dirty="0">
                <a:latin typeface="標楷體" panose="03000509000000000000" pitchFamily="65" charset="-120"/>
                <a:ea typeface="標楷體" panose="03000509000000000000" pitchFamily="65" charset="-120"/>
              </a:rPr>
              <a:t>64/128 bits</a:t>
            </a:r>
            <a:r>
              <a:rPr lang="zh-TW" altLang="en-US" sz="1800" dirty="0">
                <a:latin typeface="標楷體" panose="03000509000000000000" pitchFamily="65" charset="-120"/>
                <a:ea typeface="標楷體" panose="03000509000000000000" pitchFamily="65" charset="-120"/>
              </a:rPr>
              <a:t>，</a:t>
            </a:r>
            <a:r>
              <a:rPr lang="en-US" altLang="zh-TW" sz="1800" dirty="0">
                <a:latin typeface="標楷體" panose="03000509000000000000" pitchFamily="65" charset="-120"/>
                <a:ea typeface="標楷體" panose="03000509000000000000" pitchFamily="65" charset="-120"/>
              </a:rPr>
              <a:t>RIFFA</a:t>
            </a:r>
            <a:r>
              <a:rPr lang="zh-TW" altLang="en-US" sz="1800" dirty="0">
                <a:latin typeface="標楷體" panose="03000509000000000000" pitchFamily="65" charset="-120"/>
                <a:ea typeface="標楷體" panose="03000509000000000000" pitchFamily="65" charset="-120"/>
              </a:rPr>
              <a:t>會自己幫你收集幾個</a:t>
            </a:r>
            <a:r>
              <a:rPr lang="en-US" altLang="zh-TW" sz="1800" dirty="0">
                <a:latin typeface="標楷體" panose="03000509000000000000" pitchFamily="65" charset="-120"/>
                <a:ea typeface="標楷體" panose="03000509000000000000" pitchFamily="65" charset="-120"/>
              </a:rPr>
              <a:t>INT(32 bits)</a:t>
            </a:r>
            <a:r>
              <a:rPr lang="zh-TW" altLang="en-US" sz="1800" dirty="0">
                <a:latin typeface="標楷體" panose="03000509000000000000" pitchFamily="65" charset="-120"/>
                <a:ea typeface="標楷體" panose="03000509000000000000" pitchFamily="65" charset="-120"/>
              </a:rPr>
              <a:t>再丟給你。</a:t>
            </a:r>
          </a:p>
        </p:txBody>
      </p:sp>
    </p:spTree>
    <p:extLst>
      <p:ext uri="{BB962C8B-B14F-4D97-AF65-F5344CB8AC3E}">
        <p14:creationId xmlns:p14="http://schemas.microsoft.com/office/powerpoint/2010/main" val="8118967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34"/>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TODOs</a:t>
            </a:r>
            <a:endParaRPr dirty="0"/>
          </a:p>
        </p:txBody>
      </p:sp>
      <p:sp>
        <p:nvSpPr>
          <p:cNvPr id="498" name="Google Shape;498;p34"/>
          <p:cNvSpPr txBox="1">
            <a:spLocks noGrp="1"/>
          </p:cNvSpPr>
          <p:nvPr>
            <p:ph type="body" idx="1"/>
          </p:nvPr>
        </p:nvSpPr>
        <p:spPr>
          <a:xfrm>
            <a:off x="477795" y="1252152"/>
            <a:ext cx="8254313" cy="509454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latin typeface="Times New Roman"/>
                <a:ea typeface="Times New Roman"/>
                <a:cs typeface="Times New Roman"/>
                <a:sym typeface="Times New Roman"/>
              </a:rPr>
              <a:t>Follow the previous step-by-step guide to finish the FPGA part</a:t>
            </a:r>
            <a:endParaRPr dirty="0"/>
          </a:p>
          <a:p>
            <a:pPr marL="1143000" lvl="2" indent="-127000" algn="l" rtl="0">
              <a:lnSpc>
                <a:spcPct val="90000"/>
              </a:lnSpc>
              <a:spcBef>
                <a:spcPts val="500"/>
              </a:spcBef>
              <a:spcAft>
                <a:spcPts val="0"/>
              </a:spcAft>
              <a:buClr>
                <a:schemeClr val="dk1"/>
              </a:buClr>
              <a:buSzPts val="1600"/>
              <a:buNone/>
            </a:pPr>
            <a:endParaRPr dirty="0">
              <a:solidFill>
                <a:schemeClr val="dk1"/>
              </a:solidFill>
              <a:latin typeface="Times New Roman"/>
              <a:ea typeface="Times New Roman"/>
              <a:cs typeface="Times New Roman"/>
              <a:sym typeface="Times New Roman"/>
            </a:endParaRPr>
          </a:p>
          <a:p>
            <a:pPr marL="228600" lvl="0" indent="-101600" algn="l" rtl="0">
              <a:lnSpc>
                <a:spcPct val="90000"/>
              </a:lnSpc>
              <a:spcBef>
                <a:spcPts val="1000"/>
              </a:spcBef>
              <a:spcAft>
                <a:spcPts val="0"/>
              </a:spcAft>
              <a:buClr>
                <a:schemeClr val="dk1"/>
              </a:buClr>
              <a:buSzPts val="2000"/>
              <a:buNone/>
            </a:pPr>
            <a:endParaRPr dirty="0">
              <a:latin typeface="Times New Roman"/>
              <a:ea typeface="Times New Roman"/>
              <a:cs typeface="Times New Roman"/>
              <a:sym typeface="Times New Roman"/>
            </a:endParaRPr>
          </a:p>
          <a:p>
            <a:pPr marL="228600" lvl="0" indent="-101600" algn="l" rtl="0">
              <a:lnSpc>
                <a:spcPct val="90000"/>
              </a:lnSpc>
              <a:spcBef>
                <a:spcPts val="1000"/>
              </a:spcBef>
              <a:spcAft>
                <a:spcPts val="0"/>
              </a:spcAft>
              <a:buClr>
                <a:schemeClr val="dk1"/>
              </a:buClr>
              <a:buSzPts val="2000"/>
              <a:buNone/>
            </a:pPr>
            <a:endParaRPr dirty="0">
              <a:latin typeface="Times New Roman"/>
              <a:ea typeface="Times New Roman"/>
              <a:cs typeface="Times New Roman"/>
              <a:sym typeface="Times New Roman"/>
            </a:endParaRPr>
          </a:p>
        </p:txBody>
      </p:sp>
      <p:sp>
        <p:nvSpPr>
          <p:cNvPr id="499" name="Google Shape;499;p34"/>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sp>
        <p:nvSpPr>
          <p:cNvPr id="500" name="Google Shape;500;p34"/>
          <p:cNvSpPr txBox="1"/>
          <p:nvPr/>
        </p:nvSpPr>
        <p:spPr>
          <a:xfrm>
            <a:off x="6705593" y="3179840"/>
            <a:ext cx="2287044"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dk1"/>
                </a:solidFill>
                <a:latin typeface="Times New Roman"/>
                <a:ea typeface="Times New Roman"/>
                <a:cs typeface="Times New Roman"/>
                <a:sym typeface="Times New Roman"/>
              </a:rPr>
              <a:t>If you see this, you passed the FPGA test.</a:t>
            </a:r>
            <a:r>
              <a:rPr lang="zh-TW" altLang="en-US" sz="1600" dirty="0">
                <a:solidFill>
                  <a:schemeClr val="dk1"/>
                </a:solidFill>
                <a:latin typeface="Times New Roman"/>
                <a:ea typeface="Times New Roman"/>
                <a:cs typeface="Times New Roman"/>
                <a:sym typeface="Times New Roman"/>
              </a:rPr>
              <a:t> </a:t>
            </a:r>
            <a:endParaRPr lang="en-US" altLang="zh-TW" sz="16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600" dirty="0">
                <a:solidFill>
                  <a:schemeClr val="dk1"/>
                </a:solidFill>
                <a:latin typeface="Times New Roman"/>
                <a:ea typeface="Times New Roman"/>
                <a:cs typeface="Times New Roman"/>
                <a:sym typeface="Times New Roman"/>
              </a:rPr>
              <a:t>Screenshot !</a:t>
            </a:r>
            <a:endParaRPr sz="1600" dirty="0">
              <a:solidFill>
                <a:schemeClr val="dk1"/>
              </a:solidFill>
              <a:latin typeface="Times New Roman"/>
              <a:ea typeface="Times New Roman"/>
              <a:cs typeface="Times New Roman"/>
              <a:sym typeface="Times New Roman"/>
            </a:endParaRPr>
          </a:p>
        </p:txBody>
      </p:sp>
      <p:sp>
        <p:nvSpPr>
          <p:cNvPr id="501" name="Google Shape;501;p34"/>
          <p:cNvSpPr/>
          <p:nvPr/>
        </p:nvSpPr>
        <p:spPr>
          <a:xfrm>
            <a:off x="6212076" y="3595318"/>
            <a:ext cx="408215" cy="204107"/>
          </a:xfrm>
          <a:prstGeom prst="rightArrow">
            <a:avLst>
              <a:gd name="adj1" fmla="val 50000"/>
              <a:gd name="adj2" fmla="val 50000"/>
            </a:avLst>
          </a:prstGeom>
          <a:noFill/>
          <a:ln w="9525"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2" name="Google Shape;502;p34"/>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pic>
        <p:nvPicPr>
          <p:cNvPr id="3" name="圖片 2">
            <a:extLst>
              <a:ext uri="{FF2B5EF4-FFF2-40B4-BE49-F238E27FC236}">
                <a16:creationId xmlns:a16="http://schemas.microsoft.com/office/drawing/2014/main" id="{3297EAE5-AB83-41AD-AE89-EE570DC2B05B}"/>
              </a:ext>
            </a:extLst>
          </p:cNvPr>
          <p:cNvPicPr>
            <a:picLocks noChangeAspect="1"/>
          </p:cNvPicPr>
          <p:nvPr/>
        </p:nvPicPr>
        <p:blipFill>
          <a:blip r:embed="rId3"/>
          <a:stretch>
            <a:fillRect/>
          </a:stretch>
        </p:blipFill>
        <p:spPr>
          <a:xfrm>
            <a:off x="591977" y="1951700"/>
            <a:ext cx="5534797" cy="393499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DD6BF4-1ACD-490F-B5A2-F6AD88474089}"/>
              </a:ext>
            </a:extLst>
          </p:cNvPr>
          <p:cNvSpPr>
            <a:spLocks noGrp="1"/>
          </p:cNvSpPr>
          <p:nvPr>
            <p:ph type="ctrTitle"/>
          </p:nvPr>
        </p:nvSpPr>
        <p:spPr/>
        <p:txBody>
          <a:bodyPr/>
          <a:lstStyle/>
          <a:p>
            <a:r>
              <a:rPr lang="en-US" altLang="zh-TW" dirty="0"/>
              <a:t>DRAM Tutorial</a:t>
            </a:r>
            <a:endParaRPr lang="zh-TW" altLang="en-US" dirty="0"/>
          </a:p>
        </p:txBody>
      </p:sp>
      <p:sp>
        <p:nvSpPr>
          <p:cNvPr id="4" name="投影片編號版面配置區 3">
            <a:extLst>
              <a:ext uri="{FF2B5EF4-FFF2-40B4-BE49-F238E27FC236}">
                <a16:creationId xmlns:a16="http://schemas.microsoft.com/office/drawing/2014/main" id="{1E54622F-5216-4240-AA24-54FD4A8B1EF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extLst>
      <p:ext uri="{BB962C8B-B14F-4D97-AF65-F5344CB8AC3E}">
        <p14:creationId xmlns:p14="http://schemas.microsoft.com/office/powerpoint/2010/main" val="8799594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D6E051-2786-488E-BC60-A3BBE8916E6D}"/>
              </a:ext>
            </a:extLst>
          </p:cNvPr>
          <p:cNvSpPr>
            <a:spLocks noGrp="1"/>
          </p:cNvSpPr>
          <p:nvPr>
            <p:ph type="title"/>
          </p:nvPr>
        </p:nvSpPr>
        <p:spPr/>
        <p:txBody>
          <a:bodyPr/>
          <a:lstStyle/>
          <a:p>
            <a:r>
              <a:rPr lang="en-US" altLang="zh-TW" dirty="0"/>
              <a:t>DRAM tutorial</a:t>
            </a:r>
            <a:endParaRPr lang="zh-TW" altLang="en-US" dirty="0"/>
          </a:p>
        </p:txBody>
      </p:sp>
      <p:sp>
        <p:nvSpPr>
          <p:cNvPr id="3" name="投影片編號版面配置區 2">
            <a:extLst>
              <a:ext uri="{FF2B5EF4-FFF2-40B4-BE49-F238E27FC236}">
                <a16:creationId xmlns:a16="http://schemas.microsoft.com/office/drawing/2014/main" id="{300BB0C0-F982-4D5B-9D53-84C957F8B8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
        <p:nvSpPr>
          <p:cNvPr id="4" name="內容版面配置區 2">
            <a:extLst>
              <a:ext uri="{FF2B5EF4-FFF2-40B4-BE49-F238E27FC236}">
                <a16:creationId xmlns:a16="http://schemas.microsoft.com/office/drawing/2014/main" id="{4CB9BFA9-D1F8-43AB-8772-A676F13ADAD1}"/>
              </a:ext>
            </a:extLst>
          </p:cNvPr>
          <p:cNvSpPr>
            <a:spLocks noGrp="1"/>
          </p:cNvSpPr>
          <p:nvPr/>
        </p:nvSpPr>
        <p:spPr>
          <a:xfrm>
            <a:off x="628650" y="1590301"/>
            <a:ext cx="7742266" cy="4575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dirty="0"/>
              <a:t>External Memory Interface IP</a:t>
            </a:r>
          </a:p>
          <a:p>
            <a:r>
              <a:rPr lang="en-US" altLang="zh-TW" sz="2400" dirty="0"/>
              <a:t>Avalon Memory-Mapped Protocol</a:t>
            </a:r>
          </a:p>
          <a:p>
            <a:r>
              <a:rPr lang="en-US" altLang="zh-TW" sz="2400" dirty="0"/>
              <a:t>Example Code</a:t>
            </a:r>
          </a:p>
          <a:p>
            <a:r>
              <a:rPr lang="en-US" altLang="zh-TW" sz="2400" dirty="0"/>
              <a:t>Quartus Project Settings</a:t>
            </a:r>
          </a:p>
          <a:p>
            <a:r>
              <a:rPr lang="en-US" altLang="zh-TW" sz="2400" dirty="0"/>
              <a:t>RTL Simulation with Qsys IP</a:t>
            </a:r>
          </a:p>
        </p:txBody>
      </p:sp>
    </p:spTree>
    <p:extLst>
      <p:ext uri="{BB962C8B-B14F-4D97-AF65-F5344CB8AC3E}">
        <p14:creationId xmlns:p14="http://schemas.microsoft.com/office/powerpoint/2010/main" val="9531795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D6E051-2786-488E-BC60-A3BBE8916E6D}"/>
              </a:ext>
            </a:extLst>
          </p:cNvPr>
          <p:cNvSpPr>
            <a:spLocks noGrp="1"/>
          </p:cNvSpPr>
          <p:nvPr>
            <p:ph type="title"/>
          </p:nvPr>
        </p:nvSpPr>
        <p:spPr/>
        <p:txBody>
          <a:bodyPr/>
          <a:lstStyle/>
          <a:p>
            <a:r>
              <a:rPr lang="en-US" altLang="zh-TW" dirty="0"/>
              <a:t>DRAM tutorial</a:t>
            </a:r>
            <a:endParaRPr lang="zh-TW" altLang="en-US" dirty="0"/>
          </a:p>
        </p:txBody>
      </p:sp>
      <p:sp>
        <p:nvSpPr>
          <p:cNvPr id="3" name="投影片編號版面配置區 2">
            <a:extLst>
              <a:ext uri="{FF2B5EF4-FFF2-40B4-BE49-F238E27FC236}">
                <a16:creationId xmlns:a16="http://schemas.microsoft.com/office/drawing/2014/main" id="{300BB0C0-F982-4D5B-9D53-84C957F8B8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
        <p:nvSpPr>
          <p:cNvPr id="4" name="內容版面配置區 2">
            <a:extLst>
              <a:ext uri="{FF2B5EF4-FFF2-40B4-BE49-F238E27FC236}">
                <a16:creationId xmlns:a16="http://schemas.microsoft.com/office/drawing/2014/main" id="{4CB9BFA9-D1F8-43AB-8772-A676F13ADAD1}"/>
              </a:ext>
            </a:extLst>
          </p:cNvPr>
          <p:cNvSpPr>
            <a:spLocks noGrp="1"/>
          </p:cNvSpPr>
          <p:nvPr/>
        </p:nvSpPr>
        <p:spPr>
          <a:xfrm>
            <a:off x="628650" y="1590301"/>
            <a:ext cx="7742266" cy="4575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dirty="0"/>
              <a:t>External Memory Interface IP</a:t>
            </a:r>
          </a:p>
          <a:p>
            <a:r>
              <a:rPr lang="en-US" altLang="zh-TW" sz="2400" dirty="0">
                <a:solidFill>
                  <a:schemeClr val="bg1">
                    <a:lumMod val="95000"/>
                  </a:schemeClr>
                </a:solidFill>
              </a:rPr>
              <a:t>Avalon Memory-Mapped Protocol</a:t>
            </a:r>
          </a:p>
          <a:p>
            <a:r>
              <a:rPr lang="en-US" altLang="zh-TW" sz="2400" dirty="0">
                <a:solidFill>
                  <a:schemeClr val="bg1">
                    <a:lumMod val="95000"/>
                  </a:schemeClr>
                </a:solidFill>
              </a:rPr>
              <a:t>Example Code</a:t>
            </a:r>
          </a:p>
          <a:p>
            <a:r>
              <a:rPr lang="en-US" altLang="zh-TW" sz="2400" dirty="0">
                <a:solidFill>
                  <a:schemeClr val="bg1">
                    <a:lumMod val="95000"/>
                  </a:schemeClr>
                </a:solidFill>
              </a:rPr>
              <a:t>Quartus Project Settings</a:t>
            </a:r>
          </a:p>
          <a:p>
            <a:r>
              <a:rPr lang="en-US" altLang="zh-TW" sz="2400" dirty="0">
                <a:solidFill>
                  <a:schemeClr val="bg1">
                    <a:lumMod val="95000"/>
                  </a:schemeClr>
                </a:solidFill>
              </a:rPr>
              <a:t>RTL Simulation with Qsys IP</a:t>
            </a:r>
          </a:p>
        </p:txBody>
      </p:sp>
    </p:spTree>
    <p:extLst>
      <p:ext uri="{BB962C8B-B14F-4D97-AF65-F5344CB8AC3E}">
        <p14:creationId xmlns:p14="http://schemas.microsoft.com/office/powerpoint/2010/main" val="38414356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0" y="543449"/>
            <a:ext cx="7886700" cy="994172"/>
          </a:xfrm>
        </p:spPr>
        <p:txBody>
          <a:bodyPr/>
          <a:lstStyle/>
          <a:p>
            <a:r>
              <a:rPr lang="en-US" altLang="zh-TW" dirty="0"/>
              <a:t>Avalon Memory-Mapped Protocol</a:t>
            </a:r>
            <a:endParaRPr lang="zh-TW" altLang="en-US" dirty="0"/>
          </a:p>
        </p:txBody>
      </p:sp>
      <p:sp>
        <p:nvSpPr>
          <p:cNvPr id="4" name="內容版面配置區 2">
            <a:extLst>
              <a:ext uri="{FF2B5EF4-FFF2-40B4-BE49-F238E27FC236}">
                <a16:creationId xmlns:a16="http://schemas.microsoft.com/office/drawing/2014/main" id="{4CB9BFA9-D1F8-43AB-8772-A676F13ADAD1}"/>
              </a:ext>
            </a:extLst>
          </p:cNvPr>
          <p:cNvSpPr>
            <a:spLocks noGrp="1"/>
          </p:cNvSpPr>
          <p:nvPr>
            <p:ph idx="1"/>
          </p:nvPr>
        </p:nvSpPr>
        <p:spPr>
          <a:xfrm>
            <a:off x="540865" y="1368559"/>
            <a:ext cx="8062269" cy="4838900"/>
          </a:xfrm>
        </p:spPr>
        <p:txBody>
          <a:bodyPr>
            <a:normAutofit/>
          </a:bodyPr>
          <a:lstStyle/>
          <a:p>
            <a:r>
              <a:rPr lang="en-US" altLang="zh-TW" dirty="0"/>
              <a:t>The Avalon Memory-Mapped interface specification is designed to accommodate peripheral development for the system-on-a-programmable-chip (SOPC) environment.</a:t>
            </a:r>
          </a:p>
          <a:p>
            <a:r>
              <a:rPr lang="en-US" altLang="zh-TW" dirty="0"/>
              <a:t> The specification provides peripheral designers with a basis for describing the </a:t>
            </a:r>
            <a:r>
              <a:rPr lang="en-US" altLang="zh-TW" dirty="0">
                <a:solidFill>
                  <a:srgbClr val="FF0000"/>
                </a:solidFill>
              </a:rPr>
              <a:t>address-based read/write interface</a:t>
            </a:r>
            <a:r>
              <a:rPr lang="en-US" altLang="zh-TW" dirty="0"/>
              <a:t> found on master and slave peripherals. </a:t>
            </a:r>
          </a:p>
          <a:p>
            <a:r>
              <a:rPr lang="en-US" altLang="zh-TW" dirty="0"/>
              <a:t>The Avalon-MM interface defines: ■ A set of signal types ■ The behavior of these signals ■ The types of transfers supported by these signals .</a:t>
            </a:r>
          </a:p>
          <a:p>
            <a:r>
              <a:rPr lang="en-US" altLang="zh-TW" dirty="0"/>
              <a:t>For example, the Avalon-MM interface can be used to describe a traditional peripheral interface, such as SRAM, that supports only simple, fixed-cycle read/write transfers. </a:t>
            </a:r>
          </a:p>
          <a:p>
            <a:r>
              <a:rPr lang="en-US" altLang="zh-TW" dirty="0"/>
              <a:t>On the other hand, the Avalon-MM interface can also be used to describe a more complex pipelined interface capable of burst transfers.</a:t>
            </a:r>
          </a:p>
        </p:txBody>
      </p:sp>
      <p:sp>
        <p:nvSpPr>
          <p:cNvPr id="3" name="投影片編號版面配置區 2">
            <a:extLst>
              <a:ext uri="{FF2B5EF4-FFF2-40B4-BE49-F238E27FC236}">
                <a16:creationId xmlns:a16="http://schemas.microsoft.com/office/drawing/2014/main" id="{748DF04C-E3F7-4F4C-8BBF-669705E58E98}"/>
              </a:ext>
            </a:extLst>
          </p:cNvPr>
          <p:cNvSpPr>
            <a:spLocks noGrp="1"/>
          </p:cNvSpPr>
          <p:nvPr>
            <p:ph type="sldNum" sz="quarter" idx="12"/>
          </p:nvPr>
        </p:nvSpPr>
        <p:spPr/>
        <p:txBody>
          <a:bodyPr/>
          <a:lstStyle/>
          <a:p>
            <a:fld id="{AE4B70F8-4499-4EB5-A47F-9F74713612AE}" type="slidenum">
              <a:rPr lang="zh-TW" altLang="en-US" smtClean="0"/>
              <a:t>56</a:t>
            </a:fld>
            <a:endParaRPr lang="zh-TW" altLang="en-US" dirty="0"/>
          </a:p>
        </p:txBody>
      </p:sp>
    </p:spTree>
    <p:extLst>
      <p:ext uri="{BB962C8B-B14F-4D97-AF65-F5344CB8AC3E}">
        <p14:creationId xmlns:p14="http://schemas.microsoft.com/office/powerpoint/2010/main" val="1503009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0" y="485597"/>
            <a:ext cx="7886700" cy="994172"/>
          </a:xfrm>
        </p:spPr>
        <p:txBody>
          <a:bodyPr/>
          <a:lstStyle/>
          <a:p>
            <a:r>
              <a:rPr lang="en-US" altLang="zh-TW" dirty="0"/>
              <a:t>External Memory Interface IP</a:t>
            </a:r>
            <a:endParaRPr lang="zh-TW" altLang="en-US" dirty="0"/>
          </a:p>
        </p:txBody>
      </p:sp>
      <p:sp>
        <p:nvSpPr>
          <p:cNvPr id="4" name="內容版面配置區 2">
            <a:extLst>
              <a:ext uri="{FF2B5EF4-FFF2-40B4-BE49-F238E27FC236}">
                <a16:creationId xmlns:a16="http://schemas.microsoft.com/office/drawing/2014/main" id="{4CB9BFA9-D1F8-43AB-8772-A676F13ADAD1}"/>
              </a:ext>
            </a:extLst>
          </p:cNvPr>
          <p:cNvSpPr>
            <a:spLocks noGrp="1"/>
          </p:cNvSpPr>
          <p:nvPr>
            <p:ph idx="1"/>
          </p:nvPr>
        </p:nvSpPr>
        <p:spPr>
          <a:xfrm>
            <a:off x="628650" y="1392416"/>
            <a:ext cx="7756072" cy="3431381"/>
          </a:xfrm>
        </p:spPr>
        <p:txBody>
          <a:bodyPr>
            <a:normAutofit/>
          </a:bodyPr>
          <a:lstStyle/>
          <a:p>
            <a:r>
              <a:rPr lang="en-US" altLang="zh-TW" dirty="0"/>
              <a:t>Arria 10 External Memory Interfaces (EMIF)</a:t>
            </a:r>
          </a:p>
          <a:p>
            <a:pPr lvl="1"/>
            <a:r>
              <a:rPr lang="zh-TW" altLang="en-US" dirty="0"/>
              <a:t>這個</a:t>
            </a:r>
            <a:r>
              <a:rPr lang="en-US" altLang="zh-TW" dirty="0"/>
              <a:t>IP</a:t>
            </a:r>
            <a:r>
              <a:rPr lang="zh-TW" altLang="en-US" dirty="0"/>
              <a:t>可以將我們用</a:t>
            </a:r>
            <a:r>
              <a:rPr lang="en-US" altLang="zh-TW" dirty="0"/>
              <a:t>Avalon Memory-Mapped</a:t>
            </a:r>
            <a:r>
              <a:rPr lang="zh-TW" altLang="en-US" dirty="0"/>
              <a:t>介面傳輸的資料轉換為以</a:t>
            </a:r>
            <a:r>
              <a:rPr lang="en-US" altLang="zh-TW" dirty="0"/>
              <a:t>DRAM</a:t>
            </a:r>
            <a:r>
              <a:rPr lang="zh-TW" altLang="en-US" dirty="0"/>
              <a:t>介面傳輸的資料。</a:t>
            </a:r>
            <a:endParaRPr lang="en-US" altLang="zh-TW" dirty="0"/>
          </a:p>
          <a:p>
            <a:pPr lvl="1"/>
            <a:r>
              <a:rPr lang="zh-TW" altLang="en-US" dirty="0"/>
              <a:t>由於</a:t>
            </a:r>
            <a:r>
              <a:rPr lang="en-US" altLang="zh-TW" dirty="0"/>
              <a:t>DRAM</a:t>
            </a:r>
            <a:r>
              <a:rPr lang="zh-TW" altLang="en-US" dirty="0"/>
              <a:t>控制較複雜，有這個</a:t>
            </a:r>
            <a:r>
              <a:rPr lang="en-US" altLang="zh-TW" dirty="0"/>
              <a:t>IP</a:t>
            </a:r>
            <a:r>
              <a:rPr lang="zh-TW" altLang="en-US" dirty="0"/>
              <a:t>我們就能更方便的存取</a:t>
            </a:r>
            <a:r>
              <a:rPr lang="en-US" altLang="zh-TW" dirty="0"/>
              <a:t>DRAM</a:t>
            </a:r>
            <a:r>
              <a:rPr lang="zh-TW" altLang="en-US" dirty="0"/>
              <a:t>中的資料。</a:t>
            </a:r>
            <a:endParaRPr lang="en-US" altLang="zh-TW" dirty="0"/>
          </a:p>
          <a:p>
            <a:pPr lvl="1"/>
            <a:r>
              <a:rPr lang="zh-TW" altLang="en-US" dirty="0"/>
              <a:t>除了</a:t>
            </a:r>
            <a:r>
              <a:rPr lang="en-US" altLang="zh-TW" dirty="0"/>
              <a:t>DRAM</a:t>
            </a:r>
            <a:r>
              <a:rPr lang="zh-TW" altLang="en-US" dirty="0"/>
              <a:t>之外，這個</a:t>
            </a:r>
            <a:r>
              <a:rPr lang="en-US" altLang="zh-TW" dirty="0"/>
              <a:t>IP</a:t>
            </a:r>
            <a:r>
              <a:rPr lang="zh-TW" altLang="en-US" dirty="0"/>
              <a:t>也能改成與其他種類的外部記憶體溝通。</a:t>
            </a:r>
            <a:br>
              <a:rPr lang="en-US" altLang="zh-TW" dirty="0"/>
            </a:br>
            <a:r>
              <a:rPr lang="en-US" altLang="zh-TW" dirty="0"/>
              <a:t>Ex. QDRII+ SRAM</a:t>
            </a:r>
          </a:p>
        </p:txBody>
      </p:sp>
      <p:sp>
        <p:nvSpPr>
          <p:cNvPr id="5" name="矩形 4">
            <a:extLst>
              <a:ext uri="{FF2B5EF4-FFF2-40B4-BE49-F238E27FC236}">
                <a16:creationId xmlns:a16="http://schemas.microsoft.com/office/drawing/2014/main" id="{1E0E0D8A-C81A-4AB4-AEAF-36EBD6FDB2ED}"/>
              </a:ext>
            </a:extLst>
          </p:cNvPr>
          <p:cNvSpPr/>
          <p:nvPr/>
        </p:nvSpPr>
        <p:spPr>
          <a:xfrm>
            <a:off x="4047444" y="3969618"/>
            <a:ext cx="1049111" cy="1277554"/>
          </a:xfrm>
          <a:prstGeom prst="rect">
            <a:avLst/>
          </a:prstGeom>
          <a:solidFill>
            <a:schemeClr val="accent1">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100" dirty="0">
                <a:solidFill>
                  <a:schemeClr val="tx1"/>
                </a:solidFill>
              </a:rPr>
              <a:t>Arria 10 EMIF</a:t>
            </a:r>
            <a:endParaRPr lang="zh-TW" altLang="en-US" sz="2100" dirty="0">
              <a:solidFill>
                <a:schemeClr val="tx1"/>
              </a:solidFill>
            </a:endParaRPr>
          </a:p>
        </p:txBody>
      </p:sp>
      <p:sp>
        <p:nvSpPr>
          <p:cNvPr id="6" name="箭號: 左-右雙向 5">
            <a:extLst>
              <a:ext uri="{FF2B5EF4-FFF2-40B4-BE49-F238E27FC236}">
                <a16:creationId xmlns:a16="http://schemas.microsoft.com/office/drawing/2014/main" id="{62AFAF37-9F67-44AE-BEBA-2C51DFA75D08}"/>
              </a:ext>
            </a:extLst>
          </p:cNvPr>
          <p:cNvSpPr/>
          <p:nvPr/>
        </p:nvSpPr>
        <p:spPr>
          <a:xfrm>
            <a:off x="2549884" y="4685353"/>
            <a:ext cx="1159631" cy="368584"/>
          </a:xfrm>
          <a:prstGeom prst="lef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50"/>
          </a:p>
        </p:txBody>
      </p:sp>
      <p:sp>
        <p:nvSpPr>
          <p:cNvPr id="7" name="文字方塊 6">
            <a:extLst>
              <a:ext uri="{FF2B5EF4-FFF2-40B4-BE49-F238E27FC236}">
                <a16:creationId xmlns:a16="http://schemas.microsoft.com/office/drawing/2014/main" id="{E3534275-5A6B-4F25-B271-9C60D87A1EBA}"/>
              </a:ext>
            </a:extLst>
          </p:cNvPr>
          <p:cNvSpPr txBox="1"/>
          <p:nvPr/>
        </p:nvSpPr>
        <p:spPr>
          <a:xfrm>
            <a:off x="2273501" y="4039022"/>
            <a:ext cx="1741032" cy="646331"/>
          </a:xfrm>
          <a:prstGeom prst="rect">
            <a:avLst/>
          </a:prstGeom>
          <a:noFill/>
        </p:spPr>
        <p:txBody>
          <a:bodyPr wrap="square" rtlCol="0">
            <a:spAutoFit/>
          </a:bodyPr>
          <a:lstStyle/>
          <a:p>
            <a:pPr algn="ctr"/>
            <a:r>
              <a:rPr lang="en-US" altLang="zh-TW" sz="1800" dirty="0"/>
              <a:t>DRAM Protocol</a:t>
            </a:r>
            <a:endParaRPr lang="zh-TW" altLang="en-US" sz="1800" dirty="0"/>
          </a:p>
        </p:txBody>
      </p:sp>
      <p:sp>
        <p:nvSpPr>
          <p:cNvPr id="8" name="文字方塊 7">
            <a:extLst>
              <a:ext uri="{FF2B5EF4-FFF2-40B4-BE49-F238E27FC236}">
                <a16:creationId xmlns:a16="http://schemas.microsoft.com/office/drawing/2014/main" id="{BE60465E-0170-4992-9297-D3989D9D5041}"/>
              </a:ext>
            </a:extLst>
          </p:cNvPr>
          <p:cNvSpPr txBox="1"/>
          <p:nvPr/>
        </p:nvSpPr>
        <p:spPr>
          <a:xfrm>
            <a:off x="5096555" y="3977343"/>
            <a:ext cx="2005656" cy="646331"/>
          </a:xfrm>
          <a:prstGeom prst="rect">
            <a:avLst/>
          </a:prstGeom>
          <a:noFill/>
        </p:spPr>
        <p:txBody>
          <a:bodyPr wrap="square" rtlCol="0">
            <a:spAutoFit/>
          </a:bodyPr>
          <a:lstStyle/>
          <a:p>
            <a:pPr algn="ctr"/>
            <a:r>
              <a:rPr lang="en-US" altLang="zh-TW" sz="1800" dirty="0"/>
              <a:t>Avalon Memory-Mapped Protocol</a:t>
            </a:r>
            <a:endParaRPr lang="zh-TW" altLang="en-US" sz="1800" dirty="0"/>
          </a:p>
        </p:txBody>
      </p:sp>
      <p:sp>
        <p:nvSpPr>
          <p:cNvPr id="9" name="箭號: 左-右雙向 8">
            <a:extLst>
              <a:ext uri="{FF2B5EF4-FFF2-40B4-BE49-F238E27FC236}">
                <a16:creationId xmlns:a16="http://schemas.microsoft.com/office/drawing/2014/main" id="{87795414-D762-4759-B101-C2D8F7F51D84}"/>
              </a:ext>
            </a:extLst>
          </p:cNvPr>
          <p:cNvSpPr/>
          <p:nvPr/>
        </p:nvSpPr>
        <p:spPr>
          <a:xfrm>
            <a:off x="5519567" y="4685354"/>
            <a:ext cx="1159631" cy="368584"/>
          </a:xfrm>
          <a:prstGeom prst="lef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50"/>
          </a:p>
        </p:txBody>
      </p:sp>
      <p:sp>
        <p:nvSpPr>
          <p:cNvPr id="10" name="矩形 9">
            <a:extLst>
              <a:ext uri="{FF2B5EF4-FFF2-40B4-BE49-F238E27FC236}">
                <a16:creationId xmlns:a16="http://schemas.microsoft.com/office/drawing/2014/main" id="{24FEA796-7E62-4DBB-ABC7-5D72EFE0C600}"/>
              </a:ext>
            </a:extLst>
          </p:cNvPr>
          <p:cNvSpPr/>
          <p:nvPr/>
        </p:nvSpPr>
        <p:spPr>
          <a:xfrm>
            <a:off x="1043195" y="3978216"/>
            <a:ext cx="1159631" cy="1277554"/>
          </a:xfrm>
          <a:prstGeom prst="rect">
            <a:avLst/>
          </a:prstGeom>
          <a:solidFill>
            <a:schemeClr val="accent1">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100" dirty="0">
                <a:solidFill>
                  <a:schemeClr val="tx1"/>
                </a:solidFill>
              </a:rPr>
              <a:t>External Memory</a:t>
            </a:r>
            <a:endParaRPr lang="zh-TW" altLang="en-US" sz="2100" dirty="0">
              <a:solidFill>
                <a:schemeClr val="tx1"/>
              </a:solidFill>
            </a:endParaRPr>
          </a:p>
        </p:txBody>
      </p:sp>
      <p:sp>
        <p:nvSpPr>
          <p:cNvPr id="11" name="矩形 10">
            <a:extLst>
              <a:ext uri="{FF2B5EF4-FFF2-40B4-BE49-F238E27FC236}">
                <a16:creationId xmlns:a16="http://schemas.microsoft.com/office/drawing/2014/main" id="{6F3A3B1C-560F-4DAE-8D09-9CADCF2EB3F0}"/>
              </a:ext>
            </a:extLst>
          </p:cNvPr>
          <p:cNvSpPr/>
          <p:nvPr/>
        </p:nvSpPr>
        <p:spPr>
          <a:xfrm>
            <a:off x="7102211" y="3978216"/>
            <a:ext cx="1131208" cy="1277554"/>
          </a:xfrm>
          <a:prstGeom prst="rect">
            <a:avLst/>
          </a:prstGeom>
          <a:solidFill>
            <a:schemeClr val="accent1">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100" dirty="0">
                <a:solidFill>
                  <a:schemeClr val="tx1"/>
                </a:solidFill>
              </a:rPr>
              <a:t>User Logic</a:t>
            </a:r>
            <a:endParaRPr lang="zh-TW" altLang="en-US" sz="2100" dirty="0">
              <a:solidFill>
                <a:schemeClr val="tx1"/>
              </a:solidFill>
            </a:endParaRPr>
          </a:p>
        </p:txBody>
      </p:sp>
      <p:sp>
        <p:nvSpPr>
          <p:cNvPr id="3" name="投影片編號版面配置區 2">
            <a:extLst>
              <a:ext uri="{FF2B5EF4-FFF2-40B4-BE49-F238E27FC236}">
                <a16:creationId xmlns:a16="http://schemas.microsoft.com/office/drawing/2014/main" id="{8AC36DD3-7406-4195-8503-D5FF8B35BF62}"/>
              </a:ext>
            </a:extLst>
          </p:cNvPr>
          <p:cNvSpPr>
            <a:spLocks noGrp="1"/>
          </p:cNvSpPr>
          <p:nvPr>
            <p:ph type="sldNum" sz="quarter" idx="12"/>
          </p:nvPr>
        </p:nvSpPr>
        <p:spPr/>
        <p:txBody>
          <a:bodyPr/>
          <a:lstStyle/>
          <a:p>
            <a:fld id="{AE4B70F8-4499-4EB5-A47F-9F74713612AE}" type="slidenum">
              <a:rPr lang="zh-TW" altLang="en-US" smtClean="0"/>
              <a:t>57</a:t>
            </a:fld>
            <a:endParaRPr lang="zh-TW" altLang="en-US" dirty="0"/>
          </a:p>
        </p:txBody>
      </p:sp>
    </p:spTree>
    <p:extLst>
      <p:ext uri="{BB962C8B-B14F-4D97-AF65-F5344CB8AC3E}">
        <p14:creationId xmlns:p14="http://schemas.microsoft.com/office/powerpoint/2010/main" val="6235645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300BB0C0-F982-4D5B-9D53-84C957F8B8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pic>
        <p:nvPicPr>
          <p:cNvPr id="4" name="圖片 3">
            <a:extLst>
              <a:ext uri="{FF2B5EF4-FFF2-40B4-BE49-F238E27FC236}">
                <a16:creationId xmlns:a16="http://schemas.microsoft.com/office/drawing/2014/main" id="{7649CE51-8131-4C26-A299-79E6333E6BD5}"/>
              </a:ext>
            </a:extLst>
          </p:cNvPr>
          <p:cNvPicPr>
            <a:picLocks noChangeAspect="1"/>
          </p:cNvPicPr>
          <p:nvPr/>
        </p:nvPicPr>
        <p:blipFill rotWithShape="1">
          <a:blip r:embed="rId3"/>
          <a:srcRect t="691"/>
          <a:stretch/>
        </p:blipFill>
        <p:spPr>
          <a:xfrm>
            <a:off x="1201189" y="0"/>
            <a:ext cx="6741622" cy="6669186"/>
          </a:xfrm>
          <a:prstGeom prst="rect">
            <a:avLst/>
          </a:prstGeom>
        </p:spPr>
      </p:pic>
      <p:cxnSp>
        <p:nvCxnSpPr>
          <p:cNvPr id="5" name="直線單箭頭接點 4">
            <a:extLst>
              <a:ext uri="{FF2B5EF4-FFF2-40B4-BE49-F238E27FC236}">
                <a16:creationId xmlns:a16="http://schemas.microsoft.com/office/drawing/2014/main" id="{3FE3F547-62FC-4545-9A2D-A0214A3E9111}"/>
              </a:ext>
            </a:extLst>
          </p:cNvPr>
          <p:cNvCxnSpPr>
            <a:cxnSpLocks/>
          </p:cNvCxnSpPr>
          <p:nvPr/>
        </p:nvCxnSpPr>
        <p:spPr>
          <a:xfrm flipV="1">
            <a:off x="6842760" y="1112520"/>
            <a:ext cx="419100" cy="86868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a:extLst>
              <a:ext uri="{FF2B5EF4-FFF2-40B4-BE49-F238E27FC236}">
                <a16:creationId xmlns:a16="http://schemas.microsoft.com/office/drawing/2014/main" id="{7DF5C073-FC28-4114-B28E-0AF0DE1DA9AC}"/>
              </a:ext>
            </a:extLst>
          </p:cNvPr>
          <p:cNvCxnSpPr>
            <a:cxnSpLocks/>
          </p:cNvCxnSpPr>
          <p:nvPr/>
        </p:nvCxnSpPr>
        <p:spPr>
          <a:xfrm flipH="1">
            <a:off x="4709160" y="2324100"/>
            <a:ext cx="1615440" cy="146304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692DCE99-EE75-4895-810A-6E74AC5DE74E}"/>
              </a:ext>
            </a:extLst>
          </p:cNvPr>
          <p:cNvSpPr txBox="1"/>
          <p:nvPr/>
        </p:nvSpPr>
        <p:spPr>
          <a:xfrm>
            <a:off x="6457950" y="719874"/>
            <a:ext cx="2190750" cy="338554"/>
          </a:xfrm>
          <a:prstGeom prst="rect">
            <a:avLst/>
          </a:prstGeom>
          <a:noFill/>
        </p:spPr>
        <p:txBody>
          <a:bodyPr wrap="square" rtlCol="0">
            <a:spAutoFit/>
          </a:bodyPr>
          <a:lstStyle/>
          <a:p>
            <a:r>
              <a:rPr lang="en-US" altLang="zh-TW" sz="1600" b="1" dirty="0"/>
              <a:t>Your Dram Wrapper</a:t>
            </a:r>
            <a:endParaRPr lang="zh-TW" altLang="en-US" sz="1600" b="1" dirty="0"/>
          </a:p>
        </p:txBody>
      </p:sp>
      <p:sp>
        <p:nvSpPr>
          <p:cNvPr id="9" name="文字方塊 8">
            <a:extLst>
              <a:ext uri="{FF2B5EF4-FFF2-40B4-BE49-F238E27FC236}">
                <a16:creationId xmlns:a16="http://schemas.microsoft.com/office/drawing/2014/main" id="{E3FC1390-89F5-4AD4-9FE7-82C9B6E657ED}"/>
              </a:ext>
            </a:extLst>
          </p:cNvPr>
          <p:cNvSpPr txBox="1"/>
          <p:nvPr/>
        </p:nvSpPr>
        <p:spPr>
          <a:xfrm>
            <a:off x="3750945" y="3334593"/>
            <a:ext cx="958215" cy="338554"/>
          </a:xfrm>
          <a:prstGeom prst="rect">
            <a:avLst/>
          </a:prstGeom>
          <a:noFill/>
        </p:spPr>
        <p:txBody>
          <a:bodyPr wrap="square" rtlCol="0">
            <a:spAutoFit/>
          </a:bodyPr>
          <a:lstStyle/>
          <a:p>
            <a:r>
              <a:rPr lang="en-US" altLang="zh-TW" sz="1600" b="1" dirty="0"/>
              <a:t>EMIF IP</a:t>
            </a:r>
            <a:endParaRPr lang="zh-TW" altLang="en-US" sz="1600" b="1" dirty="0"/>
          </a:p>
        </p:txBody>
      </p:sp>
      <p:cxnSp>
        <p:nvCxnSpPr>
          <p:cNvPr id="11" name="直線單箭頭接點 10">
            <a:extLst>
              <a:ext uri="{FF2B5EF4-FFF2-40B4-BE49-F238E27FC236}">
                <a16:creationId xmlns:a16="http://schemas.microsoft.com/office/drawing/2014/main" id="{3917EC0B-C6E1-420A-9454-C4E8CEAB5D40}"/>
              </a:ext>
            </a:extLst>
          </p:cNvPr>
          <p:cNvCxnSpPr>
            <a:cxnSpLocks/>
          </p:cNvCxnSpPr>
          <p:nvPr/>
        </p:nvCxnSpPr>
        <p:spPr>
          <a:xfrm>
            <a:off x="4709160" y="4637613"/>
            <a:ext cx="0" cy="719247"/>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66955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9113F4-00BF-4A3F-860A-53BC4E82CE9D}"/>
              </a:ext>
            </a:extLst>
          </p:cNvPr>
          <p:cNvSpPr>
            <a:spLocks noGrp="1"/>
          </p:cNvSpPr>
          <p:nvPr>
            <p:ph type="title"/>
          </p:nvPr>
        </p:nvSpPr>
        <p:spPr/>
        <p:txBody>
          <a:bodyPr/>
          <a:lstStyle/>
          <a:p>
            <a:r>
              <a:rPr lang="en-US" altLang="zh-TW" dirty="0"/>
              <a:t>Avalon MM-Master </a:t>
            </a:r>
            <a:endParaRPr lang="zh-TW" altLang="en-US" dirty="0"/>
          </a:p>
        </p:txBody>
      </p:sp>
      <p:sp>
        <p:nvSpPr>
          <p:cNvPr id="3" name="投影片編號版面配置區 2">
            <a:extLst>
              <a:ext uri="{FF2B5EF4-FFF2-40B4-BE49-F238E27FC236}">
                <a16:creationId xmlns:a16="http://schemas.microsoft.com/office/drawing/2014/main" id="{B51B3D5A-B10B-41D8-8FF6-FB84B67D1B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dirty="0"/>
          </a:p>
        </p:txBody>
      </p:sp>
      <p:pic>
        <p:nvPicPr>
          <p:cNvPr id="5" name="圖片 4">
            <a:extLst>
              <a:ext uri="{FF2B5EF4-FFF2-40B4-BE49-F238E27FC236}">
                <a16:creationId xmlns:a16="http://schemas.microsoft.com/office/drawing/2014/main" id="{185E9F39-971F-41F1-BA01-5331236A564F}"/>
              </a:ext>
            </a:extLst>
          </p:cNvPr>
          <p:cNvPicPr>
            <a:picLocks noChangeAspect="1"/>
          </p:cNvPicPr>
          <p:nvPr/>
        </p:nvPicPr>
        <p:blipFill rotWithShape="1">
          <a:blip r:embed="rId2"/>
          <a:srcRect t="8417"/>
          <a:stretch/>
        </p:blipFill>
        <p:spPr>
          <a:xfrm>
            <a:off x="1816417" y="1323315"/>
            <a:ext cx="5511165" cy="5400410"/>
          </a:xfrm>
          <a:prstGeom prst="rect">
            <a:avLst/>
          </a:prstGeom>
        </p:spPr>
      </p:pic>
      <p:sp>
        <p:nvSpPr>
          <p:cNvPr id="6" name="文字方塊 5">
            <a:extLst>
              <a:ext uri="{FF2B5EF4-FFF2-40B4-BE49-F238E27FC236}">
                <a16:creationId xmlns:a16="http://schemas.microsoft.com/office/drawing/2014/main" id="{09505098-E5DA-4AAA-A951-BBD47B1C9A60}"/>
              </a:ext>
            </a:extLst>
          </p:cNvPr>
          <p:cNvSpPr txBox="1"/>
          <p:nvPr/>
        </p:nvSpPr>
        <p:spPr>
          <a:xfrm>
            <a:off x="5113020" y="1323315"/>
            <a:ext cx="3726180" cy="523220"/>
          </a:xfrm>
          <a:prstGeom prst="rect">
            <a:avLst/>
          </a:prstGeom>
          <a:noFill/>
        </p:spPr>
        <p:txBody>
          <a:bodyPr wrap="square" rtlCol="0">
            <a:spAutoFit/>
          </a:bodyPr>
          <a:lstStyle/>
          <a:p>
            <a:r>
              <a:rPr lang="zh-TW" altLang="en-US" dirty="0"/>
              <a:t>接下來幾頁關於</a:t>
            </a:r>
            <a:r>
              <a:rPr lang="en-US" altLang="zh-TW" dirty="0"/>
              <a:t>ports</a:t>
            </a:r>
            <a:r>
              <a:rPr lang="zh-TW" altLang="en-US" dirty="0"/>
              <a:t>的設定</a:t>
            </a:r>
            <a:r>
              <a:rPr lang="en-US" altLang="zh-TW" dirty="0"/>
              <a:t>(</a:t>
            </a:r>
            <a:r>
              <a:rPr lang="zh-TW" altLang="en-US" dirty="0"/>
              <a:t>如</a:t>
            </a:r>
            <a:r>
              <a:rPr lang="en-US" altLang="zh-TW" dirty="0"/>
              <a:t>burst/pipeline)</a:t>
            </a:r>
            <a:r>
              <a:rPr lang="zh-TW" altLang="en-US" dirty="0"/>
              <a:t>會影響</a:t>
            </a:r>
            <a:r>
              <a:rPr lang="en-US" altLang="zh-TW" dirty="0"/>
              <a:t>slave</a:t>
            </a:r>
            <a:r>
              <a:rPr lang="zh-TW" altLang="en-US" dirty="0"/>
              <a:t> </a:t>
            </a:r>
            <a:r>
              <a:rPr lang="en-US" altLang="zh-TW" dirty="0"/>
              <a:t>IP</a:t>
            </a:r>
            <a:r>
              <a:rPr lang="zh-TW" altLang="en-US" dirty="0"/>
              <a:t>怎麼接收資料</a:t>
            </a:r>
          </a:p>
        </p:txBody>
      </p:sp>
      <p:sp>
        <p:nvSpPr>
          <p:cNvPr id="7" name="橢圓 6">
            <a:extLst>
              <a:ext uri="{FF2B5EF4-FFF2-40B4-BE49-F238E27FC236}">
                <a16:creationId xmlns:a16="http://schemas.microsoft.com/office/drawing/2014/main" id="{865003FF-245A-439B-A507-77A59D60BE6A}"/>
              </a:ext>
            </a:extLst>
          </p:cNvPr>
          <p:cNvSpPr/>
          <p:nvPr/>
        </p:nvSpPr>
        <p:spPr>
          <a:xfrm>
            <a:off x="4145280" y="3756660"/>
            <a:ext cx="678180" cy="701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1580443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BE7C419A-804C-43C7-ACBB-E001C1E907D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60</a:t>
            </a:fld>
            <a:endParaRPr lang="en-US"/>
          </a:p>
        </p:txBody>
      </p:sp>
      <p:pic>
        <p:nvPicPr>
          <p:cNvPr id="4" name="圖片 3">
            <a:extLst>
              <a:ext uri="{FF2B5EF4-FFF2-40B4-BE49-F238E27FC236}">
                <a16:creationId xmlns:a16="http://schemas.microsoft.com/office/drawing/2014/main" id="{8B9D1816-6860-4DBA-8BC7-D90AE9DEBC91}"/>
              </a:ext>
            </a:extLst>
          </p:cNvPr>
          <p:cNvPicPr>
            <a:picLocks noChangeAspect="1"/>
          </p:cNvPicPr>
          <p:nvPr/>
        </p:nvPicPr>
        <p:blipFill>
          <a:blip r:embed="rId2"/>
          <a:stretch>
            <a:fillRect/>
          </a:stretch>
        </p:blipFill>
        <p:spPr>
          <a:xfrm>
            <a:off x="90616" y="967805"/>
            <a:ext cx="4669089" cy="5753671"/>
          </a:xfrm>
          <a:prstGeom prst="rect">
            <a:avLst/>
          </a:prstGeom>
        </p:spPr>
      </p:pic>
      <p:pic>
        <p:nvPicPr>
          <p:cNvPr id="6" name="圖片 5">
            <a:extLst>
              <a:ext uri="{FF2B5EF4-FFF2-40B4-BE49-F238E27FC236}">
                <a16:creationId xmlns:a16="http://schemas.microsoft.com/office/drawing/2014/main" id="{694C084C-BD8F-4F94-B15B-D0F73450D1CC}"/>
              </a:ext>
            </a:extLst>
          </p:cNvPr>
          <p:cNvPicPr>
            <a:picLocks noChangeAspect="1"/>
          </p:cNvPicPr>
          <p:nvPr/>
        </p:nvPicPr>
        <p:blipFill>
          <a:blip r:embed="rId3"/>
          <a:stretch>
            <a:fillRect/>
          </a:stretch>
        </p:blipFill>
        <p:spPr>
          <a:xfrm>
            <a:off x="4759705" y="967805"/>
            <a:ext cx="4222645" cy="5753671"/>
          </a:xfrm>
          <a:prstGeom prst="rect">
            <a:avLst/>
          </a:prstGeom>
        </p:spPr>
      </p:pic>
      <p:sp>
        <p:nvSpPr>
          <p:cNvPr id="7" name="標題 1">
            <a:extLst>
              <a:ext uri="{FF2B5EF4-FFF2-40B4-BE49-F238E27FC236}">
                <a16:creationId xmlns:a16="http://schemas.microsoft.com/office/drawing/2014/main" id="{DB987F9C-97B7-4ABD-BCFE-EF1070073B12}"/>
              </a:ext>
            </a:extLst>
          </p:cNvPr>
          <p:cNvSpPr txBox="1">
            <a:spLocks/>
          </p:cNvSpPr>
          <p:nvPr/>
        </p:nvSpPr>
        <p:spPr>
          <a:xfrm>
            <a:off x="356801" y="388341"/>
            <a:ext cx="7886700" cy="99417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3200" dirty="0"/>
              <a:t>Avalon Master Signals – 1</a:t>
            </a:r>
          </a:p>
          <a:p>
            <a:r>
              <a:rPr lang="en-US" altLang="zh-TW" sz="3200" dirty="0"/>
              <a:t> </a:t>
            </a:r>
            <a:endParaRPr lang="zh-TW" altLang="en-US" sz="3200" dirty="0"/>
          </a:p>
        </p:txBody>
      </p:sp>
    </p:spTree>
    <p:extLst>
      <p:ext uri="{BB962C8B-B14F-4D97-AF65-F5344CB8AC3E}">
        <p14:creationId xmlns:p14="http://schemas.microsoft.com/office/powerpoint/2010/main" val="594063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BE7C419A-804C-43C7-ACBB-E001C1E907D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61</a:t>
            </a:fld>
            <a:endParaRPr lang="en-US"/>
          </a:p>
        </p:txBody>
      </p:sp>
      <p:sp>
        <p:nvSpPr>
          <p:cNvPr id="7" name="標題 1">
            <a:extLst>
              <a:ext uri="{FF2B5EF4-FFF2-40B4-BE49-F238E27FC236}">
                <a16:creationId xmlns:a16="http://schemas.microsoft.com/office/drawing/2014/main" id="{DB987F9C-97B7-4ABD-BCFE-EF1070073B12}"/>
              </a:ext>
            </a:extLst>
          </p:cNvPr>
          <p:cNvSpPr txBox="1">
            <a:spLocks/>
          </p:cNvSpPr>
          <p:nvPr/>
        </p:nvSpPr>
        <p:spPr>
          <a:xfrm>
            <a:off x="356801" y="388341"/>
            <a:ext cx="7886700" cy="99417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3200" dirty="0"/>
              <a:t>Avalon Master Signals – 2</a:t>
            </a:r>
          </a:p>
          <a:p>
            <a:r>
              <a:rPr lang="en-US" altLang="zh-TW" sz="3200" dirty="0"/>
              <a:t> </a:t>
            </a:r>
            <a:endParaRPr lang="zh-TW" altLang="en-US" sz="3200" dirty="0"/>
          </a:p>
        </p:txBody>
      </p:sp>
      <p:pic>
        <p:nvPicPr>
          <p:cNvPr id="5" name="圖片 4">
            <a:extLst>
              <a:ext uri="{FF2B5EF4-FFF2-40B4-BE49-F238E27FC236}">
                <a16:creationId xmlns:a16="http://schemas.microsoft.com/office/drawing/2014/main" id="{BF9BCC14-9355-4BF6-8C3E-C2EE02C13DBE}"/>
              </a:ext>
            </a:extLst>
          </p:cNvPr>
          <p:cNvPicPr>
            <a:picLocks noChangeAspect="1"/>
          </p:cNvPicPr>
          <p:nvPr/>
        </p:nvPicPr>
        <p:blipFill>
          <a:blip r:embed="rId2"/>
          <a:stretch>
            <a:fillRect/>
          </a:stretch>
        </p:blipFill>
        <p:spPr>
          <a:xfrm>
            <a:off x="441302" y="960613"/>
            <a:ext cx="4489497" cy="5650715"/>
          </a:xfrm>
          <a:prstGeom prst="rect">
            <a:avLst/>
          </a:prstGeom>
        </p:spPr>
      </p:pic>
      <p:pic>
        <p:nvPicPr>
          <p:cNvPr id="9" name="圖片 8">
            <a:extLst>
              <a:ext uri="{FF2B5EF4-FFF2-40B4-BE49-F238E27FC236}">
                <a16:creationId xmlns:a16="http://schemas.microsoft.com/office/drawing/2014/main" id="{C54920C0-37A5-4A52-9447-AACA831579CE}"/>
              </a:ext>
            </a:extLst>
          </p:cNvPr>
          <p:cNvPicPr>
            <a:picLocks noChangeAspect="1"/>
          </p:cNvPicPr>
          <p:nvPr/>
        </p:nvPicPr>
        <p:blipFill>
          <a:blip r:embed="rId3"/>
          <a:stretch>
            <a:fillRect/>
          </a:stretch>
        </p:blipFill>
        <p:spPr>
          <a:xfrm>
            <a:off x="4862899" y="2691979"/>
            <a:ext cx="4223547" cy="1474041"/>
          </a:xfrm>
          <a:prstGeom prst="rect">
            <a:avLst/>
          </a:prstGeom>
        </p:spPr>
      </p:pic>
    </p:spTree>
    <p:extLst>
      <p:ext uri="{BB962C8B-B14F-4D97-AF65-F5344CB8AC3E}">
        <p14:creationId xmlns:p14="http://schemas.microsoft.com/office/powerpoint/2010/main" val="26229347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0" y="609078"/>
            <a:ext cx="7886700" cy="994172"/>
          </a:xfrm>
        </p:spPr>
        <p:txBody>
          <a:bodyPr/>
          <a:lstStyle/>
          <a:p>
            <a:r>
              <a:rPr lang="en-US" altLang="zh-TW" dirty="0"/>
              <a:t>Avalon MM Basic Signals</a:t>
            </a:r>
            <a:endParaRPr lang="zh-TW" altLang="en-US" dirty="0"/>
          </a:p>
        </p:txBody>
      </p:sp>
      <p:graphicFrame>
        <p:nvGraphicFramePr>
          <p:cNvPr id="3" name="表格 2">
            <a:extLst>
              <a:ext uri="{FF2B5EF4-FFF2-40B4-BE49-F238E27FC236}">
                <a16:creationId xmlns:a16="http://schemas.microsoft.com/office/drawing/2014/main" id="{D22C48D0-1F0D-4278-AAB5-918418C8CCF6}"/>
              </a:ext>
            </a:extLst>
          </p:cNvPr>
          <p:cNvGraphicFramePr>
            <a:graphicFrameLocks noGrp="1"/>
          </p:cNvGraphicFramePr>
          <p:nvPr/>
        </p:nvGraphicFramePr>
        <p:xfrm>
          <a:off x="628650" y="1602144"/>
          <a:ext cx="8091400" cy="4481662"/>
        </p:xfrm>
        <a:graphic>
          <a:graphicData uri="http://schemas.openxmlformats.org/drawingml/2006/table">
            <a:tbl>
              <a:tblPr firstRow="1" bandRow="1">
                <a:tableStyleId>{5C22544A-7EE6-4342-B048-85BDC9FD1C3A}</a:tableStyleId>
              </a:tblPr>
              <a:tblGrid>
                <a:gridCol w="1296924">
                  <a:extLst>
                    <a:ext uri="{9D8B030D-6E8A-4147-A177-3AD203B41FA5}">
                      <a16:colId xmlns:a16="http://schemas.microsoft.com/office/drawing/2014/main" val="340149355"/>
                    </a:ext>
                  </a:extLst>
                </a:gridCol>
                <a:gridCol w="977484">
                  <a:extLst>
                    <a:ext uri="{9D8B030D-6E8A-4147-A177-3AD203B41FA5}">
                      <a16:colId xmlns:a16="http://schemas.microsoft.com/office/drawing/2014/main" val="4240618571"/>
                    </a:ext>
                  </a:extLst>
                </a:gridCol>
                <a:gridCol w="977484">
                  <a:extLst>
                    <a:ext uri="{9D8B030D-6E8A-4147-A177-3AD203B41FA5}">
                      <a16:colId xmlns:a16="http://schemas.microsoft.com/office/drawing/2014/main" val="1037358580"/>
                    </a:ext>
                  </a:extLst>
                </a:gridCol>
                <a:gridCol w="4839508">
                  <a:extLst>
                    <a:ext uri="{9D8B030D-6E8A-4147-A177-3AD203B41FA5}">
                      <a16:colId xmlns:a16="http://schemas.microsoft.com/office/drawing/2014/main" val="1934068267"/>
                    </a:ext>
                  </a:extLst>
                </a:gridCol>
              </a:tblGrid>
              <a:tr h="503325">
                <a:tc>
                  <a:txBody>
                    <a:bodyPr/>
                    <a:lstStyle/>
                    <a:p>
                      <a:r>
                        <a:rPr lang="en-US" altLang="zh-TW" sz="1100" dirty="0">
                          <a:solidFill>
                            <a:schemeClr val="tx1"/>
                          </a:solidFill>
                        </a:rPr>
                        <a:t>Signal Type</a:t>
                      </a:r>
                      <a:endParaRPr lang="zh-TW" alt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100" dirty="0">
                          <a:solidFill>
                            <a:schemeClr val="tx1"/>
                          </a:solidFill>
                        </a:rPr>
                        <a:t>Width</a:t>
                      </a:r>
                      <a:endParaRPr lang="zh-TW" alt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100" dirty="0">
                          <a:solidFill>
                            <a:schemeClr val="tx1"/>
                          </a:solidFill>
                        </a:rPr>
                        <a:t>Direction</a:t>
                      </a:r>
                      <a:endParaRPr lang="zh-TW" alt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100" dirty="0">
                          <a:solidFill>
                            <a:schemeClr val="tx1"/>
                          </a:solidFill>
                        </a:rPr>
                        <a:t>Description</a:t>
                      </a:r>
                      <a:endParaRPr lang="zh-TW" alt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4484416"/>
                  </a:ext>
                </a:extLst>
              </a:tr>
              <a:tr h="503325">
                <a:tc>
                  <a:txBody>
                    <a:bodyPr/>
                    <a:lstStyle/>
                    <a:p>
                      <a:r>
                        <a:rPr lang="en-US" altLang="zh-TW" sz="1400" dirty="0"/>
                        <a:t>address</a:t>
                      </a:r>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t>1-32</a:t>
                      </a:r>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rPr>
                        <a:t>M -&gt; S</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rPr>
                        <a:t>Slave address.</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547793"/>
                  </a:ext>
                </a:extLst>
              </a:tr>
              <a:tr h="503325">
                <a:tc>
                  <a:txBody>
                    <a:bodyPr/>
                    <a:lstStyle/>
                    <a:p>
                      <a:r>
                        <a:rPr lang="en-US" altLang="zh-TW" sz="1400" dirty="0"/>
                        <a:t>read</a:t>
                      </a:r>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t>1</a:t>
                      </a:r>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schemeClr val="tx1"/>
                          </a:solidFill>
                        </a:rPr>
                        <a:t>M -&gt; S</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rPr>
                        <a:t>Read-request signal to the slave port.</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8126072"/>
                  </a:ext>
                </a:extLst>
              </a:tr>
              <a:tr h="503325">
                <a:tc>
                  <a:txBody>
                    <a:bodyPr/>
                    <a:lstStyle/>
                    <a:p>
                      <a:r>
                        <a:rPr lang="en-US" altLang="zh-TW" sz="1400" dirty="0"/>
                        <a:t>readdata</a:t>
                      </a:r>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t>1-1024</a:t>
                      </a:r>
                      <a:endParaRPr lang="zh-TW" altLang="en-US" sz="1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rPr>
                        <a:t>S -&gt; M</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rPr>
                        <a:t>Data transferred from slave to master by the read operation.</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3094894"/>
                  </a:ext>
                </a:extLst>
              </a:tr>
              <a:tr h="503325">
                <a:tc>
                  <a:txBody>
                    <a:bodyPr/>
                    <a:lstStyle/>
                    <a:p>
                      <a:r>
                        <a:rPr lang="en-US" altLang="zh-TW" sz="1400" dirty="0">
                          <a:solidFill>
                            <a:schemeClr val="tx1"/>
                          </a:solidFill>
                        </a:rPr>
                        <a:t>write</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rPr>
                        <a:t>1</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rPr>
                        <a:t>M -&gt; S</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rPr>
                        <a:t>Write-request signal to the slave port.</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3150681"/>
                  </a:ext>
                </a:extLst>
              </a:tr>
              <a:tr h="503325">
                <a:tc>
                  <a:txBody>
                    <a:bodyPr/>
                    <a:lstStyle/>
                    <a:p>
                      <a:r>
                        <a:rPr lang="en-US" altLang="zh-TW" sz="1400" dirty="0">
                          <a:solidFill>
                            <a:schemeClr val="tx1"/>
                          </a:solidFill>
                        </a:rPr>
                        <a:t>writedata</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rPr>
                        <a:t>1-1024</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rPr>
                        <a:t>M -&gt; S</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schemeClr val="tx1"/>
                          </a:solidFill>
                        </a:rPr>
                        <a:t>Data transferred from master to slave by the write operation.</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4156965"/>
                  </a:ext>
                </a:extLst>
              </a:tr>
              <a:tr h="730856">
                <a:tc>
                  <a:txBody>
                    <a:bodyPr/>
                    <a:lstStyle/>
                    <a:p>
                      <a:r>
                        <a:rPr lang="en-US" altLang="zh-TW" sz="1400" dirty="0">
                          <a:solidFill>
                            <a:schemeClr val="tx1"/>
                          </a:solidFill>
                        </a:rPr>
                        <a:t>waitrequest</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rPr>
                        <a:t>1</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rPr>
                        <a:t>S -&gt; M</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rPr>
                        <a:t>Used to stall the system interconnect fabric when the slave port is not able to respond immediately.</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1264564"/>
                  </a:ext>
                </a:extLst>
              </a:tr>
              <a:tr h="730856">
                <a:tc>
                  <a:txBody>
                    <a:bodyPr/>
                    <a:lstStyle/>
                    <a:p>
                      <a:r>
                        <a:rPr lang="en-US" altLang="zh-TW" sz="1400" dirty="0">
                          <a:solidFill>
                            <a:schemeClr val="tx1"/>
                          </a:solidFill>
                        </a:rPr>
                        <a:t>readdatavalid</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rPr>
                        <a:t>1</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rPr>
                        <a:t>S</a:t>
                      </a:r>
                      <a:r>
                        <a:rPr lang="zh-TW" altLang="en-US" sz="1400" dirty="0">
                          <a:solidFill>
                            <a:schemeClr val="tx1"/>
                          </a:solidFill>
                        </a:rPr>
                        <a:t> </a:t>
                      </a:r>
                      <a:r>
                        <a:rPr lang="en-US" altLang="zh-TW" sz="1400" dirty="0">
                          <a:solidFill>
                            <a:schemeClr val="tx1"/>
                          </a:solidFill>
                        </a:rPr>
                        <a:t>=&gt;</a:t>
                      </a:r>
                      <a:r>
                        <a:rPr lang="zh-TW" altLang="en-US" sz="1400" dirty="0">
                          <a:solidFill>
                            <a:schemeClr val="tx1"/>
                          </a:solidFill>
                        </a:rPr>
                        <a:t> </a:t>
                      </a:r>
                      <a:r>
                        <a:rPr lang="en-US" altLang="zh-TW" sz="1400" dirty="0">
                          <a:solidFill>
                            <a:schemeClr val="tx1"/>
                          </a:solidFill>
                        </a:rPr>
                        <a:t>M</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400" dirty="0">
                          <a:solidFill>
                            <a:schemeClr val="tx1"/>
                          </a:solidFill>
                        </a:rPr>
                        <a:t>Marks the rising clock edge when the slave asserts valid readdata.</a:t>
                      </a:r>
                      <a:endParaRPr lang="zh-TW" alt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4566347"/>
                  </a:ext>
                </a:extLst>
              </a:tr>
            </a:tbl>
          </a:graphicData>
        </a:graphic>
      </p:graphicFrame>
      <p:sp>
        <p:nvSpPr>
          <p:cNvPr id="5" name="投影片編號版面配置區 4">
            <a:extLst>
              <a:ext uri="{FF2B5EF4-FFF2-40B4-BE49-F238E27FC236}">
                <a16:creationId xmlns:a16="http://schemas.microsoft.com/office/drawing/2014/main" id="{5680CF5C-F067-4F98-B158-BB714B0AAC4B}"/>
              </a:ext>
            </a:extLst>
          </p:cNvPr>
          <p:cNvSpPr>
            <a:spLocks noGrp="1"/>
          </p:cNvSpPr>
          <p:nvPr>
            <p:ph type="sldNum" sz="quarter" idx="12"/>
          </p:nvPr>
        </p:nvSpPr>
        <p:spPr/>
        <p:txBody>
          <a:bodyPr/>
          <a:lstStyle/>
          <a:p>
            <a:fld id="{AE4B70F8-4499-4EB5-A47F-9F74713612AE}" type="slidenum">
              <a:rPr lang="zh-TW" altLang="en-US" smtClean="0"/>
              <a:t>62</a:t>
            </a:fld>
            <a:endParaRPr lang="zh-TW" altLang="en-US" dirty="0"/>
          </a:p>
        </p:txBody>
      </p:sp>
    </p:spTree>
    <p:extLst>
      <p:ext uri="{BB962C8B-B14F-4D97-AF65-F5344CB8AC3E}">
        <p14:creationId xmlns:p14="http://schemas.microsoft.com/office/powerpoint/2010/main" val="34908372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0" y="586096"/>
            <a:ext cx="7886700" cy="994172"/>
          </a:xfrm>
        </p:spPr>
        <p:txBody>
          <a:bodyPr/>
          <a:lstStyle/>
          <a:p>
            <a:r>
              <a:rPr lang="en-US" altLang="zh-TW" dirty="0"/>
              <a:t>Avalon MM Basic Waveform – Read No wait</a:t>
            </a:r>
            <a:endParaRPr lang="zh-TW" altLang="en-US" dirty="0"/>
          </a:p>
        </p:txBody>
      </p:sp>
      <p:sp>
        <p:nvSpPr>
          <p:cNvPr id="10" name="投影片編號版面配置區 9">
            <a:extLst>
              <a:ext uri="{FF2B5EF4-FFF2-40B4-BE49-F238E27FC236}">
                <a16:creationId xmlns:a16="http://schemas.microsoft.com/office/drawing/2014/main" id="{D40A3EDE-7A92-4984-BF57-C509E904D47B}"/>
              </a:ext>
            </a:extLst>
          </p:cNvPr>
          <p:cNvSpPr>
            <a:spLocks noGrp="1"/>
          </p:cNvSpPr>
          <p:nvPr>
            <p:ph type="sldNum" sz="quarter" idx="12"/>
          </p:nvPr>
        </p:nvSpPr>
        <p:spPr/>
        <p:txBody>
          <a:bodyPr/>
          <a:lstStyle/>
          <a:p>
            <a:fld id="{AE4B70F8-4499-4EB5-A47F-9F74713612AE}" type="slidenum">
              <a:rPr lang="zh-TW" altLang="en-US" smtClean="0"/>
              <a:t>63</a:t>
            </a:fld>
            <a:endParaRPr lang="zh-TW" altLang="en-US" dirty="0"/>
          </a:p>
        </p:txBody>
      </p:sp>
      <p:pic>
        <p:nvPicPr>
          <p:cNvPr id="4" name="圖片 3">
            <a:extLst>
              <a:ext uri="{FF2B5EF4-FFF2-40B4-BE49-F238E27FC236}">
                <a16:creationId xmlns:a16="http://schemas.microsoft.com/office/drawing/2014/main" id="{9A57DFE4-53C7-4031-9F63-396B3EB0E5FD}"/>
              </a:ext>
            </a:extLst>
          </p:cNvPr>
          <p:cNvPicPr>
            <a:picLocks noChangeAspect="1"/>
          </p:cNvPicPr>
          <p:nvPr/>
        </p:nvPicPr>
        <p:blipFill rotWithShape="1">
          <a:blip r:embed="rId3"/>
          <a:srcRect t="14282" r="4367" b="8471"/>
          <a:stretch/>
        </p:blipFill>
        <p:spPr>
          <a:xfrm>
            <a:off x="120931" y="1826625"/>
            <a:ext cx="8902137" cy="3537855"/>
          </a:xfrm>
          <a:prstGeom prst="rect">
            <a:avLst/>
          </a:prstGeom>
        </p:spPr>
      </p:pic>
    </p:spTree>
    <p:extLst>
      <p:ext uri="{BB962C8B-B14F-4D97-AF65-F5344CB8AC3E}">
        <p14:creationId xmlns:p14="http://schemas.microsoft.com/office/powerpoint/2010/main" val="29709796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0" y="586096"/>
            <a:ext cx="7886700" cy="994172"/>
          </a:xfrm>
        </p:spPr>
        <p:txBody>
          <a:bodyPr/>
          <a:lstStyle/>
          <a:p>
            <a:r>
              <a:rPr lang="en-US" altLang="zh-TW" dirty="0"/>
              <a:t>Avalon MM Basic Waveform – Read Wait</a:t>
            </a:r>
            <a:endParaRPr lang="zh-TW" altLang="en-US" dirty="0"/>
          </a:p>
        </p:txBody>
      </p:sp>
      <p:sp>
        <p:nvSpPr>
          <p:cNvPr id="10" name="投影片編號版面配置區 9">
            <a:extLst>
              <a:ext uri="{FF2B5EF4-FFF2-40B4-BE49-F238E27FC236}">
                <a16:creationId xmlns:a16="http://schemas.microsoft.com/office/drawing/2014/main" id="{D40A3EDE-7A92-4984-BF57-C509E904D47B}"/>
              </a:ext>
            </a:extLst>
          </p:cNvPr>
          <p:cNvSpPr>
            <a:spLocks noGrp="1"/>
          </p:cNvSpPr>
          <p:nvPr>
            <p:ph type="sldNum" sz="quarter" idx="12"/>
          </p:nvPr>
        </p:nvSpPr>
        <p:spPr/>
        <p:txBody>
          <a:bodyPr/>
          <a:lstStyle/>
          <a:p>
            <a:fld id="{AE4B70F8-4499-4EB5-A47F-9F74713612AE}" type="slidenum">
              <a:rPr lang="zh-TW" altLang="en-US" smtClean="0"/>
              <a:t>64</a:t>
            </a:fld>
            <a:endParaRPr lang="zh-TW" altLang="en-US" dirty="0"/>
          </a:p>
        </p:txBody>
      </p:sp>
      <p:pic>
        <p:nvPicPr>
          <p:cNvPr id="5" name="圖片 4">
            <a:extLst>
              <a:ext uri="{FF2B5EF4-FFF2-40B4-BE49-F238E27FC236}">
                <a16:creationId xmlns:a16="http://schemas.microsoft.com/office/drawing/2014/main" id="{50967B96-87A1-4545-B9A7-380D94DAACF6}"/>
              </a:ext>
            </a:extLst>
          </p:cNvPr>
          <p:cNvPicPr>
            <a:picLocks noChangeAspect="1"/>
          </p:cNvPicPr>
          <p:nvPr/>
        </p:nvPicPr>
        <p:blipFill>
          <a:blip r:embed="rId3"/>
          <a:stretch>
            <a:fillRect/>
          </a:stretch>
        </p:blipFill>
        <p:spPr>
          <a:xfrm>
            <a:off x="0" y="1446276"/>
            <a:ext cx="9144000" cy="4407408"/>
          </a:xfrm>
          <a:prstGeom prst="rect">
            <a:avLst/>
          </a:prstGeom>
        </p:spPr>
      </p:pic>
    </p:spTree>
    <p:extLst>
      <p:ext uri="{BB962C8B-B14F-4D97-AF65-F5344CB8AC3E}">
        <p14:creationId xmlns:p14="http://schemas.microsoft.com/office/powerpoint/2010/main" val="42014359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0" y="558230"/>
            <a:ext cx="7886700" cy="994172"/>
          </a:xfrm>
        </p:spPr>
        <p:txBody>
          <a:bodyPr/>
          <a:lstStyle/>
          <a:p>
            <a:r>
              <a:rPr lang="en-US" altLang="zh-TW" dirty="0"/>
              <a:t>Basic Avalon MM Operation in the Example</a:t>
            </a:r>
            <a:endParaRPr lang="zh-TW" altLang="en-US" dirty="0"/>
          </a:p>
        </p:txBody>
      </p:sp>
      <p:sp>
        <p:nvSpPr>
          <p:cNvPr id="4" name="內容版面配置區 2">
            <a:extLst>
              <a:ext uri="{FF2B5EF4-FFF2-40B4-BE49-F238E27FC236}">
                <a16:creationId xmlns:a16="http://schemas.microsoft.com/office/drawing/2014/main" id="{4CB9BFA9-D1F8-43AB-8772-A676F13ADAD1}"/>
              </a:ext>
            </a:extLst>
          </p:cNvPr>
          <p:cNvSpPr>
            <a:spLocks noGrp="1"/>
          </p:cNvSpPr>
          <p:nvPr>
            <p:ph idx="1"/>
          </p:nvPr>
        </p:nvSpPr>
        <p:spPr>
          <a:xfrm>
            <a:off x="628650" y="1454782"/>
            <a:ext cx="7886700" cy="3431381"/>
          </a:xfrm>
        </p:spPr>
        <p:txBody>
          <a:bodyPr>
            <a:normAutofit/>
          </a:bodyPr>
          <a:lstStyle/>
          <a:p>
            <a:r>
              <a:rPr lang="en-US" altLang="zh-TW" dirty="0"/>
              <a:t>Read:</a:t>
            </a:r>
          </a:p>
          <a:p>
            <a:pPr marL="342900" lvl="1" indent="0">
              <a:buNone/>
            </a:pPr>
            <a:r>
              <a:rPr lang="zh-TW" altLang="en-US" dirty="0"/>
              <a:t>與</a:t>
            </a:r>
            <a:r>
              <a:rPr lang="en-US" altLang="zh-TW" dirty="0"/>
              <a:t>SRAM</a:t>
            </a:r>
            <a:r>
              <a:rPr lang="zh-TW" altLang="en-US" dirty="0"/>
              <a:t>操作類似。將</a:t>
            </a:r>
            <a:r>
              <a:rPr lang="en-US" altLang="zh-TW" dirty="0"/>
              <a:t>read</a:t>
            </a:r>
            <a:r>
              <a:rPr lang="zh-TW" altLang="en-US" dirty="0"/>
              <a:t>拉高並設定好</a:t>
            </a:r>
            <a:r>
              <a:rPr lang="en-US" altLang="zh-TW" dirty="0"/>
              <a:t>address</a:t>
            </a:r>
            <a:r>
              <a:rPr lang="zh-TW" altLang="en-US" dirty="0"/>
              <a:t>。但是當</a:t>
            </a:r>
            <a:r>
              <a:rPr lang="en-US" altLang="zh-TW" dirty="0"/>
              <a:t>waitrequest</a:t>
            </a:r>
            <a:r>
              <a:rPr lang="zh-TW" altLang="en-US" dirty="0"/>
              <a:t>訊號為</a:t>
            </a:r>
            <a:r>
              <a:rPr lang="en-US" altLang="zh-TW" dirty="0"/>
              <a:t>1</a:t>
            </a:r>
            <a:r>
              <a:rPr lang="zh-TW" altLang="en-US" dirty="0"/>
              <a:t>時，</a:t>
            </a:r>
            <a:r>
              <a:rPr lang="en-US" altLang="zh-TW" dirty="0"/>
              <a:t>read</a:t>
            </a:r>
            <a:r>
              <a:rPr lang="zh-TW" altLang="en-US" dirty="0"/>
              <a:t>、</a:t>
            </a:r>
            <a:r>
              <a:rPr lang="en-US" altLang="zh-TW" dirty="0"/>
              <a:t>address</a:t>
            </a:r>
            <a:r>
              <a:rPr lang="zh-TW" altLang="en-US" dirty="0"/>
              <a:t>必須保持為固定值。當</a:t>
            </a:r>
            <a:r>
              <a:rPr lang="en-US" altLang="zh-TW" dirty="0"/>
              <a:t>readdatavalid</a:t>
            </a:r>
            <a:r>
              <a:rPr lang="zh-TW" altLang="en-US" dirty="0"/>
              <a:t>訊號為</a:t>
            </a:r>
            <a:r>
              <a:rPr lang="en-US" altLang="zh-TW" dirty="0"/>
              <a:t>1</a:t>
            </a:r>
            <a:r>
              <a:rPr lang="zh-TW" altLang="en-US" dirty="0"/>
              <a:t>時，表示此時的</a:t>
            </a:r>
            <a:r>
              <a:rPr lang="en-US" altLang="zh-TW" dirty="0"/>
              <a:t>readdata</a:t>
            </a:r>
            <a:r>
              <a:rPr lang="zh-TW" altLang="en-US" dirty="0"/>
              <a:t>為有效值。</a:t>
            </a:r>
            <a:endParaRPr lang="en-US" altLang="zh-TW" dirty="0"/>
          </a:p>
          <a:p>
            <a:pPr lvl="1"/>
            <a:endParaRPr lang="en-US" altLang="zh-TW" dirty="0"/>
          </a:p>
        </p:txBody>
      </p:sp>
      <p:pic>
        <p:nvPicPr>
          <p:cNvPr id="5" name="圖片 4">
            <a:extLst>
              <a:ext uri="{FF2B5EF4-FFF2-40B4-BE49-F238E27FC236}">
                <a16:creationId xmlns:a16="http://schemas.microsoft.com/office/drawing/2014/main" id="{14904062-F20A-44EF-9C1A-69C4D8BCEEFE}"/>
              </a:ext>
            </a:extLst>
          </p:cNvPr>
          <p:cNvPicPr>
            <a:picLocks noChangeAspect="1"/>
          </p:cNvPicPr>
          <p:nvPr/>
        </p:nvPicPr>
        <p:blipFill>
          <a:blip r:embed="rId3"/>
          <a:stretch>
            <a:fillRect/>
          </a:stretch>
        </p:blipFill>
        <p:spPr>
          <a:xfrm>
            <a:off x="175554" y="2952528"/>
            <a:ext cx="8792892" cy="3096421"/>
          </a:xfrm>
          <a:prstGeom prst="rect">
            <a:avLst/>
          </a:prstGeom>
        </p:spPr>
      </p:pic>
      <p:sp>
        <p:nvSpPr>
          <p:cNvPr id="3" name="投影片編號版面配置區 2">
            <a:extLst>
              <a:ext uri="{FF2B5EF4-FFF2-40B4-BE49-F238E27FC236}">
                <a16:creationId xmlns:a16="http://schemas.microsoft.com/office/drawing/2014/main" id="{7E3AC62C-3E7C-4041-A382-31D1D85A72D4}"/>
              </a:ext>
            </a:extLst>
          </p:cNvPr>
          <p:cNvSpPr>
            <a:spLocks noGrp="1"/>
          </p:cNvSpPr>
          <p:nvPr>
            <p:ph type="sldNum" sz="quarter" idx="12"/>
          </p:nvPr>
        </p:nvSpPr>
        <p:spPr/>
        <p:txBody>
          <a:bodyPr/>
          <a:lstStyle/>
          <a:p>
            <a:fld id="{AE4B70F8-4499-4EB5-A47F-9F74713612AE}" type="slidenum">
              <a:rPr lang="zh-TW" altLang="en-US" smtClean="0"/>
              <a:t>65</a:t>
            </a:fld>
            <a:endParaRPr lang="zh-TW" altLang="en-US" dirty="0"/>
          </a:p>
        </p:txBody>
      </p:sp>
    </p:spTree>
    <p:extLst>
      <p:ext uri="{BB962C8B-B14F-4D97-AF65-F5344CB8AC3E}">
        <p14:creationId xmlns:p14="http://schemas.microsoft.com/office/powerpoint/2010/main" val="20847747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0" y="586096"/>
            <a:ext cx="7886700" cy="994172"/>
          </a:xfrm>
        </p:spPr>
        <p:txBody>
          <a:bodyPr/>
          <a:lstStyle/>
          <a:p>
            <a:r>
              <a:rPr lang="en-US" altLang="zh-TW" dirty="0"/>
              <a:t>Avalon MM Basic Waveform – Write No wait</a:t>
            </a:r>
            <a:endParaRPr lang="zh-TW" altLang="en-US" dirty="0"/>
          </a:p>
        </p:txBody>
      </p:sp>
      <p:sp>
        <p:nvSpPr>
          <p:cNvPr id="10" name="投影片編號版面配置區 9">
            <a:extLst>
              <a:ext uri="{FF2B5EF4-FFF2-40B4-BE49-F238E27FC236}">
                <a16:creationId xmlns:a16="http://schemas.microsoft.com/office/drawing/2014/main" id="{D40A3EDE-7A92-4984-BF57-C509E904D47B}"/>
              </a:ext>
            </a:extLst>
          </p:cNvPr>
          <p:cNvSpPr>
            <a:spLocks noGrp="1"/>
          </p:cNvSpPr>
          <p:nvPr>
            <p:ph type="sldNum" sz="quarter" idx="12"/>
          </p:nvPr>
        </p:nvSpPr>
        <p:spPr/>
        <p:txBody>
          <a:bodyPr/>
          <a:lstStyle/>
          <a:p>
            <a:fld id="{AE4B70F8-4499-4EB5-A47F-9F74713612AE}" type="slidenum">
              <a:rPr lang="zh-TW" altLang="en-US" smtClean="0"/>
              <a:t>66</a:t>
            </a:fld>
            <a:endParaRPr lang="zh-TW" altLang="en-US" dirty="0"/>
          </a:p>
        </p:txBody>
      </p:sp>
      <p:pic>
        <p:nvPicPr>
          <p:cNvPr id="5" name="圖片 4">
            <a:extLst>
              <a:ext uri="{FF2B5EF4-FFF2-40B4-BE49-F238E27FC236}">
                <a16:creationId xmlns:a16="http://schemas.microsoft.com/office/drawing/2014/main" id="{1ED5A2E2-5630-4007-A3F0-800B659048E2}"/>
              </a:ext>
            </a:extLst>
          </p:cNvPr>
          <p:cNvPicPr>
            <a:picLocks noChangeAspect="1"/>
          </p:cNvPicPr>
          <p:nvPr/>
        </p:nvPicPr>
        <p:blipFill>
          <a:blip r:embed="rId3"/>
          <a:stretch>
            <a:fillRect/>
          </a:stretch>
        </p:blipFill>
        <p:spPr>
          <a:xfrm>
            <a:off x="0" y="1816165"/>
            <a:ext cx="9144000" cy="3609275"/>
          </a:xfrm>
          <a:prstGeom prst="rect">
            <a:avLst/>
          </a:prstGeom>
        </p:spPr>
      </p:pic>
    </p:spTree>
    <p:extLst>
      <p:ext uri="{BB962C8B-B14F-4D97-AF65-F5344CB8AC3E}">
        <p14:creationId xmlns:p14="http://schemas.microsoft.com/office/powerpoint/2010/main" val="34092256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0" y="586096"/>
            <a:ext cx="7886700" cy="994172"/>
          </a:xfrm>
        </p:spPr>
        <p:txBody>
          <a:bodyPr/>
          <a:lstStyle/>
          <a:p>
            <a:r>
              <a:rPr lang="en-US" altLang="zh-TW" dirty="0"/>
              <a:t>Avalon MM Basic Waveform – Write wait</a:t>
            </a:r>
            <a:endParaRPr lang="zh-TW" altLang="en-US" dirty="0"/>
          </a:p>
        </p:txBody>
      </p:sp>
      <p:sp>
        <p:nvSpPr>
          <p:cNvPr id="10" name="投影片編號版面配置區 9">
            <a:extLst>
              <a:ext uri="{FF2B5EF4-FFF2-40B4-BE49-F238E27FC236}">
                <a16:creationId xmlns:a16="http://schemas.microsoft.com/office/drawing/2014/main" id="{D40A3EDE-7A92-4984-BF57-C509E904D47B}"/>
              </a:ext>
            </a:extLst>
          </p:cNvPr>
          <p:cNvSpPr>
            <a:spLocks noGrp="1"/>
          </p:cNvSpPr>
          <p:nvPr>
            <p:ph type="sldNum" sz="quarter" idx="12"/>
          </p:nvPr>
        </p:nvSpPr>
        <p:spPr/>
        <p:txBody>
          <a:bodyPr/>
          <a:lstStyle/>
          <a:p>
            <a:fld id="{AE4B70F8-4499-4EB5-A47F-9F74713612AE}" type="slidenum">
              <a:rPr lang="zh-TW" altLang="en-US" smtClean="0"/>
              <a:t>67</a:t>
            </a:fld>
            <a:endParaRPr lang="zh-TW" altLang="en-US" dirty="0"/>
          </a:p>
        </p:txBody>
      </p:sp>
      <p:pic>
        <p:nvPicPr>
          <p:cNvPr id="4" name="圖片 3">
            <a:extLst>
              <a:ext uri="{FF2B5EF4-FFF2-40B4-BE49-F238E27FC236}">
                <a16:creationId xmlns:a16="http://schemas.microsoft.com/office/drawing/2014/main" id="{8F96C698-C759-4617-81A5-B73C38C12707}"/>
              </a:ext>
            </a:extLst>
          </p:cNvPr>
          <p:cNvPicPr>
            <a:picLocks noChangeAspect="1"/>
          </p:cNvPicPr>
          <p:nvPr/>
        </p:nvPicPr>
        <p:blipFill>
          <a:blip r:embed="rId3"/>
          <a:stretch>
            <a:fillRect/>
          </a:stretch>
        </p:blipFill>
        <p:spPr>
          <a:xfrm>
            <a:off x="0" y="1478250"/>
            <a:ext cx="9144000" cy="4450140"/>
          </a:xfrm>
          <a:prstGeom prst="rect">
            <a:avLst/>
          </a:prstGeom>
        </p:spPr>
      </p:pic>
    </p:spTree>
    <p:extLst>
      <p:ext uri="{BB962C8B-B14F-4D97-AF65-F5344CB8AC3E}">
        <p14:creationId xmlns:p14="http://schemas.microsoft.com/office/powerpoint/2010/main" val="2421426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0183" y="493339"/>
            <a:ext cx="7886700" cy="994172"/>
          </a:xfrm>
        </p:spPr>
        <p:txBody>
          <a:bodyPr/>
          <a:lstStyle/>
          <a:p>
            <a:r>
              <a:rPr lang="en-US" altLang="zh-TW" dirty="0"/>
              <a:t>Basic Avalon MM Operation in the example</a:t>
            </a:r>
            <a:endParaRPr lang="zh-TW" altLang="en-US" dirty="0"/>
          </a:p>
        </p:txBody>
      </p:sp>
      <p:sp>
        <p:nvSpPr>
          <p:cNvPr id="4" name="內容版面配置區 2">
            <a:extLst>
              <a:ext uri="{FF2B5EF4-FFF2-40B4-BE49-F238E27FC236}">
                <a16:creationId xmlns:a16="http://schemas.microsoft.com/office/drawing/2014/main" id="{4CB9BFA9-D1F8-43AB-8772-A676F13ADAD1}"/>
              </a:ext>
            </a:extLst>
          </p:cNvPr>
          <p:cNvSpPr>
            <a:spLocks noGrp="1"/>
          </p:cNvSpPr>
          <p:nvPr>
            <p:ph idx="1"/>
          </p:nvPr>
        </p:nvSpPr>
        <p:spPr>
          <a:xfrm>
            <a:off x="620183" y="1403691"/>
            <a:ext cx="7886700" cy="3431381"/>
          </a:xfrm>
        </p:spPr>
        <p:txBody>
          <a:bodyPr>
            <a:normAutofit/>
          </a:bodyPr>
          <a:lstStyle/>
          <a:p>
            <a:r>
              <a:rPr lang="en-US" altLang="zh-TW" dirty="0"/>
              <a:t>Write:</a:t>
            </a:r>
          </a:p>
          <a:p>
            <a:pPr marL="342900" lvl="1" indent="0">
              <a:buNone/>
            </a:pPr>
            <a:r>
              <a:rPr lang="zh-TW" altLang="en-US" dirty="0"/>
              <a:t>與</a:t>
            </a:r>
            <a:r>
              <a:rPr lang="en-US" altLang="zh-TW" dirty="0"/>
              <a:t>SRAM</a:t>
            </a:r>
            <a:r>
              <a:rPr lang="zh-TW" altLang="en-US" dirty="0"/>
              <a:t>操作類似。將</a:t>
            </a:r>
            <a:r>
              <a:rPr lang="en-US" altLang="zh-TW" dirty="0"/>
              <a:t>write</a:t>
            </a:r>
            <a:r>
              <a:rPr lang="zh-TW" altLang="en-US" dirty="0"/>
              <a:t>拉高並設定好</a:t>
            </a:r>
            <a:r>
              <a:rPr lang="en-US" altLang="zh-TW" dirty="0"/>
              <a:t>address</a:t>
            </a:r>
            <a:r>
              <a:rPr lang="zh-TW" altLang="en-US" dirty="0"/>
              <a:t>和</a:t>
            </a:r>
            <a:r>
              <a:rPr lang="en-US" altLang="zh-TW" dirty="0"/>
              <a:t>writedata</a:t>
            </a:r>
            <a:r>
              <a:rPr lang="zh-TW" altLang="en-US" dirty="0"/>
              <a:t>。但是當</a:t>
            </a:r>
            <a:r>
              <a:rPr lang="en-US" altLang="zh-TW" dirty="0"/>
              <a:t>waitrequest</a:t>
            </a:r>
            <a:r>
              <a:rPr lang="zh-TW" altLang="en-US" dirty="0"/>
              <a:t>訊號為</a:t>
            </a:r>
            <a:r>
              <a:rPr lang="en-US" altLang="zh-TW" dirty="0"/>
              <a:t>1</a:t>
            </a:r>
            <a:r>
              <a:rPr lang="zh-TW" altLang="en-US" dirty="0"/>
              <a:t>時，</a:t>
            </a:r>
            <a:r>
              <a:rPr lang="en-US" altLang="zh-TW" dirty="0"/>
              <a:t>write</a:t>
            </a:r>
            <a:r>
              <a:rPr lang="zh-TW" altLang="en-US" dirty="0"/>
              <a:t>、</a:t>
            </a:r>
            <a:r>
              <a:rPr lang="en-US" altLang="zh-TW" dirty="0"/>
              <a:t>writedata</a:t>
            </a:r>
            <a:r>
              <a:rPr lang="zh-TW" altLang="en-US" dirty="0"/>
              <a:t>、</a:t>
            </a:r>
            <a:r>
              <a:rPr lang="en-US" altLang="zh-TW" dirty="0"/>
              <a:t>address</a:t>
            </a:r>
            <a:r>
              <a:rPr lang="zh-TW" altLang="en-US" dirty="0"/>
              <a:t>必須保持為固定值。</a:t>
            </a:r>
            <a:endParaRPr lang="en-US" altLang="zh-TW" dirty="0"/>
          </a:p>
          <a:p>
            <a:pPr lvl="1"/>
            <a:endParaRPr lang="en-US" altLang="zh-TW" dirty="0"/>
          </a:p>
        </p:txBody>
      </p:sp>
      <p:pic>
        <p:nvPicPr>
          <p:cNvPr id="3" name="圖片 2">
            <a:extLst>
              <a:ext uri="{FF2B5EF4-FFF2-40B4-BE49-F238E27FC236}">
                <a16:creationId xmlns:a16="http://schemas.microsoft.com/office/drawing/2014/main" id="{9FBFCDC7-7396-4496-9227-0000B8FC06C6}"/>
              </a:ext>
            </a:extLst>
          </p:cNvPr>
          <p:cNvPicPr>
            <a:picLocks noChangeAspect="1"/>
          </p:cNvPicPr>
          <p:nvPr/>
        </p:nvPicPr>
        <p:blipFill>
          <a:blip r:embed="rId3"/>
          <a:stretch>
            <a:fillRect/>
          </a:stretch>
        </p:blipFill>
        <p:spPr>
          <a:xfrm>
            <a:off x="282182" y="2741186"/>
            <a:ext cx="8701556" cy="3255060"/>
          </a:xfrm>
          <a:prstGeom prst="rect">
            <a:avLst/>
          </a:prstGeom>
        </p:spPr>
      </p:pic>
      <p:sp>
        <p:nvSpPr>
          <p:cNvPr id="5" name="投影片編號版面配置區 4">
            <a:extLst>
              <a:ext uri="{FF2B5EF4-FFF2-40B4-BE49-F238E27FC236}">
                <a16:creationId xmlns:a16="http://schemas.microsoft.com/office/drawing/2014/main" id="{58212936-94DE-42C5-877F-6D3F091535C4}"/>
              </a:ext>
            </a:extLst>
          </p:cNvPr>
          <p:cNvSpPr>
            <a:spLocks noGrp="1"/>
          </p:cNvSpPr>
          <p:nvPr>
            <p:ph type="sldNum" sz="quarter" idx="12"/>
          </p:nvPr>
        </p:nvSpPr>
        <p:spPr/>
        <p:txBody>
          <a:bodyPr/>
          <a:lstStyle/>
          <a:p>
            <a:fld id="{AE4B70F8-4499-4EB5-A47F-9F74713612AE}" type="slidenum">
              <a:rPr lang="zh-TW" altLang="en-US" smtClean="0"/>
              <a:t>68</a:t>
            </a:fld>
            <a:endParaRPr lang="zh-TW" altLang="en-US" dirty="0"/>
          </a:p>
        </p:txBody>
      </p:sp>
    </p:spTree>
    <p:extLst>
      <p:ext uri="{BB962C8B-B14F-4D97-AF65-F5344CB8AC3E}">
        <p14:creationId xmlns:p14="http://schemas.microsoft.com/office/powerpoint/2010/main" val="28958224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0" y="543449"/>
            <a:ext cx="7886700" cy="994172"/>
          </a:xfrm>
        </p:spPr>
        <p:txBody>
          <a:bodyPr/>
          <a:lstStyle/>
          <a:p>
            <a:r>
              <a:rPr lang="en-US" altLang="zh-TW" dirty="0"/>
              <a:t>Avalon MM Slave Transfer Types</a:t>
            </a:r>
            <a:endParaRPr lang="zh-TW" altLang="en-US" dirty="0"/>
          </a:p>
        </p:txBody>
      </p:sp>
      <p:sp>
        <p:nvSpPr>
          <p:cNvPr id="4" name="內容版面配置區 2">
            <a:extLst>
              <a:ext uri="{FF2B5EF4-FFF2-40B4-BE49-F238E27FC236}">
                <a16:creationId xmlns:a16="http://schemas.microsoft.com/office/drawing/2014/main" id="{4CB9BFA9-D1F8-43AB-8772-A676F13ADAD1}"/>
              </a:ext>
            </a:extLst>
          </p:cNvPr>
          <p:cNvSpPr>
            <a:spLocks noGrp="1"/>
          </p:cNvSpPr>
          <p:nvPr>
            <p:ph idx="1"/>
          </p:nvPr>
        </p:nvSpPr>
        <p:spPr>
          <a:xfrm>
            <a:off x="628650" y="1411588"/>
            <a:ext cx="7886700" cy="3431381"/>
          </a:xfrm>
        </p:spPr>
        <p:txBody>
          <a:bodyPr>
            <a:normAutofit/>
          </a:bodyPr>
          <a:lstStyle/>
          <a:p>
            <a:r>
              <a:rPr lang="en-US" altLang="zh-TW" sz="2400" dirty="0"/>
              <a:t>Variable Latency</a:t>
            </a:r>
          </a:p>
          <a:p>
            <a:r>
              <a:rPr lang="en-US" altLang="zh-TW" sz="2400" dirty="0"/>
              <a:t>Fixed Latency</a:t>
            </a:r>
          </a:p>
          <a:p>
            <a:r>
              <a:rPr lang="en-US" altLang="zh-TW" sz="2400" b="1" dirty="0"/>
              <a:t>Pipelined Variable Latency</a:t>
            </a:r>
          </a:p>
          <a:p>
            <a:r>
              <a:rPr lang="en-US" altLang="zh-TW" sz="2400" b="1" dirty="0"/>
              <a:t>Pipelined Fixed Latency</a:t>
            </a:r>
          </a:p>
          <a:p>
            <a:r>
              <a:rPr lang="en-US" altLang="zh-TW" sz="2400" dirty="0"/>
              <a:t>Tristate</a:t>
            </a:r>
          </a:p>
          <a:p>
            <a:r>
              <a:rPr lang="en-US" altLang="zh-TW" sz="2400" b="1" dirty="0"/>
              <a:t>Burst</a:t>
            </a:r>
          </a:p>
        </p:txBody>
      </p:sp>
      <p:sp>
        <p:nvSpPr>
          <p:cNvPr id="9" name="文字方塊 8">
            <a:extLst>
              <a:ext uri="{FF2B5EF4-FFF2-40B4-BE49-F238E27FC236}">
                <a16:creationId xmlns:a16="http://schemas.microsoft.com/office/drawing/2014/main" id="{701CFDF1-A7A2-486D-8AF0-671771D2FF83}"/>
              </a:ext>
            </a:extLst>
          </p:cNvPr>
          <p:cNvSpPr txBox="1"/>
          <p:nvPr/>
        </p:nvSpPr>
        <p:spPr>
          <a:xfrm>
            <a:off x="769813" y="4508362"/>
            <a:ext cx="7680767" cy="1477328"/>
          </a:xfrm>
          <a:prstGeom prst="rect">
            <a:avLst/>
          </a:prstGeom>
          <a:noFill/>
        </p:spPr>
        <p:txBody>
          <a:bodyPr wrap="square" rtlCol="0">
            <a:spAutoFit/>
          </a:bodyPr>
          <a:lstStyle/>
          <a:p>
            <a:r>
              <a:rPr lang="en-US" altLang="zh-TW" sz="1800" dirty="0"/>
              <a:t>More Info:</a:t>
            </a:r>
          </a:p>
          <a:p>
            <a:pPr marL="257175" indent="-257175">
              <a:buAutoNum type="arabicPeriod"/>
            </a:pPr>
            <a:r>
              <a:rPr lang="en-US" altLang="zh-TW" sz="1800" dirty="0">
                <a:hlinkClick r:id="rId3"/>
              </a:rPr>
              <a:t>http://www1.cs.columbia.edu/~sedwards/classes/2009/4840/mnl_avalon_spec.pdf</a:t>
            </a:r>
            <a:endParaRPr lang="en-US" altLang="zh-TW" sz="1800" dirty="0"/>
          </a:p>
          <a:p>
            <a:pPr marL="257175" indent="-257175">
              <a:buAutoNum type="arabicPeriod"/>
            </a:pPr>
            <a:r>
              <a:rPr lang="en-US" altLang="zh-TW" sz="1800" dirty="0">
                <a:hlinkClick r:id="rId4"/>
              </a:rPr>
              <a:t>http://www.innovateasia.com/asia/download/document/knowledge_11_Taiwan.pdf</a:t>
            </a:r>
            <a:endParaRPr lang="zh-TW" altLang="en-US" sz="1800" dirty="0"/>
          </a:p>
        </p:txBody>
      </p:sp>
      <p:sp>
        <p:nvSpPr>
          <p:cNvPr id="3" name="投影片編號版面配置區 2">
            <a:extLst>
              <a:ext uri="{FF2B5EF4-FFF2-40B4-BE49-F238E27FC236}">
                <a16:creationId xmlns:a16="http://schemas.microsoft.com/office/drawing/2014/main" id="{C3868E32-35F0-4DB9-8067-48BF403E6564}"/>
              </a:ext>
            </a:extLst>
          </p:cNvPr>
          <p:cNvSpPr>
            <a:spLocks noGrp="1"/>
          </p:cNvSpPr>
          <p:nvPr>
            <p:ph type="sldNum" sz="quarter" idx="12"/>
          </p:nvPr>
        </p:nvSpPr>
        <p:spPr/>
        <p:txBody>
          <a:bodyPr/>
          <a:lstStyle/>
          <a:p>
            <a:fld id="{AE4B70F8-4499-4EB5-A47F-9F74713612AE}" type="slidenum">
              <a:rPr lang="zh-TW" altLang="en-US" smtClean="0"/>
              <a:t>69</a:t>
            </a:fld>
            <a:endParaRPr lang="zh-TW" altLang="en-US" dirty="0"/>
          </a:p>
        </p:txBody>
      </p:sp>
    </p:spTree>
    <p:extLst>
      <p:ext uri="{BB962C8B-B14F-4D97-AF65-F5344CB8AC3E}">
        <p14:creationId xmlns:p14="http://schemas.microsoft.com/office/powerpoint/2010/main" val="22213046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4EC636-96F3-45C9-A66D-8F8E19E3CB8A}"/>
              </a:ext>
            </a:extLst>
          </p:cNvPr>
          <p:cNvSpPr>
            <a:spLocks noGrp="1"/>
          </p:cNvSpPr>
          <p:nvPr>
            <p:ph type="title"/>
          </p:nvPr>
        </p:nvSpPr>
        <p:spPr/>
        <p:txBody>
          <a:bodyPr/>
          <a:lstStyle/>
          <a:p>
            <a:r>
              <a:rPr lang="en-US" altLang="zh-TW" dirty="0"/>
              <a:t>Avalon Master – Pipelined</a:t>
            </a:r>
            <a:endParaRPr lang="zh-TW" altLang="en-US" dirty="0"/>
          </a:p>
        </p:txBody>
      </p:sp>
      <p:sp>
        <p:nvSpPr>
          <p:cNvPr id="3" name="投影片編號版面配置區 2">
            <a:extLst>
              <a:ext uri="{FF2B5EF4-FFF2-40B4-BE49-F238E27FC236}">
                <a16:creationId xmlns:a16="http://schemas.microsoft.com/office/drawing/2014/main" id="{D04A3DC2-47B0-45A9-8FD3-F3B4C0C2C9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70</a:t>
            </a:fld>
            <a:endParaRPr lang="en-US"/>
          </a:p>
        </p:txBody>
      </p:sp>
      <p:pic>
        <p:nvPicPr>
          <p:cNvPr id="5" name="圖片 4">
            <a:extLst>
              <a:ext uri="{FF2B5EF4-FFF2-40B4-BE49-F238E27FC236}">
                <a16:creationId xmlns:a16="http://schemas.microsoft.com/office/drawing/2014/main" id="{9425BF3D-7022-4CDD-A717-B330DBD94DFD}"/>
              </a:ext>
            </a:extLst>
          </p:cNvPr>
          <p:cNvPicPr>
            <a:picLocks noChangeAspect="1"/>
          </p:cNvPicPr>
          <p:nvPr/>
        </p:nvPicPr>
        <p:blipFill>
          <a:blip r:embed="rId2"/>
          <a:stretch>
            <a:fillRect/>
          </a:stretch>
        </p:blipFill>
        <p:spPr>
          <a:xfrm>
            <a:off x="490733" y="1332593"/>
            <a:ext cx="8162534" cy="5388883"/>
          </a:xfrm>
          <a:prstGeom prst="rect">
            <a:avLst/>
          </a:prstGeom>
        </p:spPr>
      </p:pic>
    </p:spTree>
    <p:extLst>
      <p:ext uri="{BB962C8B-B14F-4D97-AF65-F5344CB8AC3E}">
        <p14:creationId xmlns:p14="http://schemas.microsoft.com/office/powerpoint/2010/main" val="7943559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4EC636-96F3-45C9-A66D-8F8E19E3CB8A}"/>
              </a:ext>
            </a:extLst>
          </p:cNvPr>
          <p:cNvSpPr>
            <a:spLocks noGrp="1"/>
          </p:cNvSpPr>
          <p:nvPr>
            <p:ph type="title"/>
          </p:nvPr>
        </p:nvSpPr>
        <p:spPr/>
        <p:txBody>
          <a:bodyPr/>
          <a:lstStyle/>
          <a:p>
            <a:r>
              <a:rPr lang="en-US" altLang="zh-TW" dirty="0"/>
              <a:t>Avalon Master – Write Burst</a:t>
            </a:r>
            <a:endParaRPr lang="zh-TW" altLang="en-US" dirty="0"/>
          </a:p>
        </p:txBody>
      </p:sp>
      <p:sp>
        <p:nvSpPr>
          <p:cNvPr id="3" name="投影片編號版面配置區 2">
            <a:extLst>
              <a:ext uri="{FF2B5EF4-FFF2-40B4-BE49-F238E27FC236}">
                <a16:creationId xmlns:a16="http://schemas.microsoft.com/office/drawing/2014/main" id="{D04A3DC2-47B0-45A9-8FD3-F3B4C0C2C9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71</a:t>
            </a:fld>
            <a:endParaRPr lang="en-US"/>
          </a:p>
        </p:txBody>
      </p:sp>
      <p:pic>
        <p:nvPicPr>
          <p:cNvPr id="6" name="圖片 5">
            <a:extLst>
              <a:ext uri="{FF2B5EF4-FFF2-40B4-BE49-F238E27FC236}">
                <a16:creationId xmlns:a16="http://schemas.microsoft.com/office/drawing/2014/main" id="{59388CBF-3594-4C4E-B2E1-8CE366AF5991}"/>
              </a:ext>
            </a:extLst>
          </p:cNvPr>
          <p:cNvPicPr>
            <a:picLocks noChangeAspect="1"/>
          </p:cNvPicPr>
          <p:nvPr/>
        </p:nvPicPr>
        <p:blipFill>
          <a:blip r:embed="rId2"/>
          <a:stretch>
            <a:fillRect/>
          </a:stretch>
        </p:blipFill>
        <p:spPr>
          <a:xfrm>
            <a:off x="769620" y="1254335"/>
            <a:ext cx="7604760" cy="5385043"/>
          </a:xfrm>
          <a:prstGeom prst="rect">
            <a:avLst/>
          </a:prstGeom>
        </p:spPr>
      </p:pic>
    </p:spTree>
    <p:extLst>
      <p:ext uri="{BB962C8B-B14F-4D97-AF65-F5344CB8AC3E}">
        <p14:creationId xmlns:p14="http://schemas.microsoft.com/office/powerpoint/2010/main" val="12916308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4EC636-96F3-45C9-A66D-8F8E19E3CB8A}"/>
              </a:ext>
            </a:extLst>
          </p:cNvPr>
          <p:cNvSpPr>
            <a:spLocks noGrp="1"/>
          </p:cNvSpPr>
          <p:nvPr>
            <p:ph type="title"/>
          </p:nvPr>
        </p:nvSpPr>
        <p:spPr/>
        <p:txBody>
          <a:bodyPr/>
          <a:lstStyle/>
          <a:p>
            <a:r>
              <a:rPr lang="en-US" altLang="zh-TW" dirty="0"/>
              <a:t>Avalon Master – Read Burst</a:t>
            </a:r>
            <a:endParaRPr lang="zh-TW" altLang="en-US" dirty="0"/>
          </a:p>
        </p:txBody>
      </p:sp>
      <p:sp>
        <p:nvSpPr>
          <p:cNvPr id="3" name="投影片編號版面配置區 2">
            <a:extLst>
              <a:ext uri="{FF2B5EF4-FFF2-40B4-BE49-F238E27FC236}">
                <a16:creationId xmlns:a16="http://schemas.microsoft.com/office/drawing/2014/main" id="{D04A3DC2-47B0-45A9-8FD3-F3B4C0C2C9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72</a:t>
            </a:fld>
            <a:endParaRPr lang="en-US"/>
          </a:p>
        </p:txBody>
      </p:sp>
      <p:pic>
        <p:nvPicPr>
          <p:cNvPr id="5" name="圖片 4">
            <a:extLst>
              <a:ext uri="{FF2B5EF4-FFF2-40B4-BE49-F238E27FC236}">
                <a16:creationId xmlns:a16="http://schemas.microsoft.com/office/drawing/2014/main" id="{019EB156-B6AF-4706-AE15-D600782035B5}"/>
              </a:ext>
            </a:extLst>
          </p:cNvPr>
          <p:cNvPicPr>
            <a:picLocks noChangeAspect="1"/>
          </p:cNvPicPr>
          <p:nvPr/>
        </p:nvPicPr>
        <p:blipFill>
          <a:blip r:embed="rId2"/>
          <a:stretch>
            <a:fillRect/>
          </a:stretch>
        </p:blipFill>
        <p:spPr>
          <a:xfrm>
            <a:off x="628650" y="1289830"/>
            <a:ext cx="7886700" cy="5249083"/>
          </a:xfrm>
          <a:prstGeom prst="rect">
            <a:avLst/>
          </a:prstGeom>
        </p:spPr>
      </p:pic>
    </p:spTree>
    <p:extLst>
      <p:ext uri="{BB962C8B-B14F-4D97-AF65-F5344CB8AC3E}">
        <p14:creationId xmlns:p14="http://schemas.microsoft.com/office/powerpoint/2010/main" val="22276002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D6E051-2786-488E-BC60-A3BBE8916E6D}"/>
              </a:ext>
            </a:extLst>
          </p:cNvPr>
          <p:cNvSpPr>
            <a:spLocks noGrp="1"/>
          </p:cNvSpPr>
          <p:nvPr>
            <p:ph type="title"/>
          </p:nvPr>
        </p:nvSpPr>
        <p:spPr/>
        <p:txBody>
          <a:bodyPr/>
          <a:lstStyle/>
          <a:p>
            <a:r>
              <a:rPr lang="en-US" altLang="zh-TW" dirty="0"/>
              <a:t>DRAM tutorial</a:t>
            </a:r>
            <a:endParaRPr lang="zh-TW" altLang="en-US" dirty="0"/>
          </a:p>
        </p:txBody>
      </p:sp>
      <p:sp>
        <p:nvSpPr>
          <p:cNvPr id="3" name="投影片編號版面配置區 2">
            <a:extLst>
              <a:ext uri="{FF2B5EF4-FFF2-40B4-BE49-F238E27FC236}">
                <a16:creationId xmlns:a16="http://schemas.microsoft.com/office/drawing/2014/main" id="{300BB0C0-F982-4D5B-9D53-84C957F8B8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73</a:t>
            </a:fld>
            <a:endParaRPr lang="en-US"/>
          </a:p>
        </p:txBody>
      </p:sp>
      <p:sp>
        <p:nvSpPr>
          <p:cNvPr id="4" name="內容版面配置區 2">
            <a:extLst>
              <a:ext uri="{FF2B5EF4-FFF2-40B4-BE49-F238E27FC236}">
                <a16:creationId xmlns:a16="http://schemas.microsoft.com/office/drawing/2014/main" id="{4CB9BFA9-D1F8-43AB-8772-A676F13ADAD1}"/>
              </a:ext>
            </a:extLst>
          </p:cNvPr>
          <p:cNvSpPr>
            <a:spLocks noGrp="1"/>
          </p:cNvSpPr>
          <p:nvPr/>
        </p:nvSpPr>
        <p:spPr>
          <a:xfrm>
            <a:off x="628650" y="1590301"/>
            <a:ext cx="7742266" cy="4575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dirty="0">
                <a:solidFill>
                  <a:schemeClr val="bg1">
                    <a:lumMod val="95000"/>
                  </a:schemeClr>
                </a:solidFill>
              </a:rPr>
              <a:t>External Memory Interface IP</a:t>
            </a:r>
          </a:p>
          <a:p>
            <a:r>
              <a:rPr lang="en-US" altLang="zh-TW" sz="2400" dirty="0">
                <a:solidFill>
                  <a:schemeClr val="bg1">
                    <a:lumMod val="95000"/>
                  </a:schemeClr>
                </a:solidFill>
              </a:rPr>
              <a:t>Avalon Memory-Mapped Protocol</a:t>
            </a:r>
          </a:p>
          <a:p>
            <a:r>
              <a:rPr lang="en-US" altLang="zh-TW" sz="2400" dirty="0"/>
              <a:t>Example Code</a:t>
            </a:r>
          </a:p>
          <a:p>
            <a:r>
              <a:rPr lang="en-US" altLang="zh-TW" sz="2400" dirty="0">
                <a:solidFill>
                  <a:schemeClr val="bg1">
                    <a:lumMod val="95000"/>
                  </a:schemeClr>
                </a:solidFill>
              </a:rPr>
              <a:t>Quartus Project Settings</a:t>
            </a:r>
          </a:p>
          <a:p>
            <a:r>
              <a:rPr lang="en-US" altLang="zh-TW" sz="2400" dirty="0">
                <a:solidFill>
                  <a:schemeClr val="bg1">
                    <a:lumMod val="95000"/>
                  </a:schemeClr>
                </a:solidFill>
              </a:rPr>
              <a:t>RTL Simulation with Qsys IP</a:t>
            </a:r>
          </a:p>
        </p:txBody>
      </p:sp>
    </p:spTree>
    <p:extLst>
      <p:ext uri="{BB962C8B-B14F-4D97-AF65-F5344CB8AC3E}">
        <p14:creationId xmlns:p14="http://schemas.microsoft.com/office/powerpoint/2010/main" val="25632619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0" y="419356"/>
            <a:ext cx="7886700" cy="994172"/>
          </a:xfrm>
        </p:spPr>
        <p:txBody>
          <a:bodyPr/>
          <a:lstStyle/>
          <a:p>
            <a:r>
              <a:rPr lang="en-US" altLang="zh-TW" dirty="0"/>
              <a:t>Example Code</a:t>
            </a:r>
            <a:endParaRPr lang="zh-TW" altLang="en-US" dirty="0"/>
          </a:p>
        </p:txBody>
      </p:sp>
      <p:sp>
        <p:nvSpPr>
          <p:cNvPr id="4" name="內容版面配置區 2">
            <a:extLst>
              <a:ext uri="{FF2B5EF4-FFF2-40B4-BE49-F238E27FC236}">
                <a16:creationId xmlns:a16="http://schemas.microsoft.com/office/drawing/2014/main" id="{4CB9BFA9-D1F8-43AB-8772-A676F13ADAD1}"/>
              </a:ext>
            </a:extLst>
          </p:cNvPr>
          <p:cNvSpPr>
            <a:spLocks noGrp="1"/>
          </p:cNvSpPr>
          <p:nvPr>
            <p:ph idx="1"/>
          </p:nvPr>
        </p:nvSpPr>
        <p:spPr>
          <a:xfrm>
            <a:off x="628650" y="1242111"/>
            <a:ext cx="7886700" cy="3431381"/>
          </a:xfrm>
        </p:spPr>
        <p:txBody>
          <a:bodyPr>
            <a:normAutofit fontScale="92500" lnSpcReduction="10000"/>
          </a:bodyPr>
          <a:lstStyle/>
          <a:p>
            <a:r>
              <a:rPr lang="en-US" altLang="zh-TW" dirty="0"/>
              <a:t>Platform: DE5</a:t>
            </a:r>
          </a:p>
          <a:p>
            <a:r>
              <a:rPr lang="en-US" altLang="zh-TW" dirty="0"/>
              <a:t>PCIe: Gen2x8 (250 MHz, 128 bit)</a:t>
            </a:r>
          </a:p>
          <a:p>
            <a:r>
              <a:rPr lang="en-US" altLang="zh-TW" dirty="0"/>
              <a:t>Data Flow:</a:t>
            </a:r>
          </a:p>
          <a:p>
            <a:pPr lvl="1"/>
            <a:r>
              <a:rPr lang="en-US" altLang="zh-TW" sz="2000" dirty="0"/>
              <a:t>Input </a:t>
            </a:r>
          </a:p>
          <a:p>
            <a:pPr lvl="1"/>
            <a:r>
              <a:rPr lang="en-US" altLang="zh-TW" sz="2000" dirty="0"/>
              <a:t>-&gt; Store in BRAM (A)</a:t>
            </a:r>
          </a:p>
          <a:p>
            <a:pPr lvl="1"/>
            <a:r>
              <a:rPr lang="en-US" altLang="zh-TW" sz="2000" dirty="0"/>
              <a:t>-&gt; Read from (A), Store in DDR3</a:t>
            </a:r>
          </a:p>
          <a:p>
            <a:pPr lvl="1"/>
            <a:r>
              <a:rPr lang="en-US" altLang="zh-TW" sz="2000" dirty="0"/>
              <a:t>-&gt; Read from DDR3, Store in BRAM (B) (reversed order)</a:t>
            </a:r>
          </a:p>
          <a:p>
            <a:pPr lvl="1"/>
            <a:r>
              <a:rPr lang="en-US" altLang="zh-TW" sz="2000" dirty="0"/>
              <a:t>-&gt; Read from (B)</a:t>
            </a:r>
          </a:p>
          <a:p>
            <a:pPr lvl="1"/>
            <a:r>
              <a:rPr lang="en-US" altLang="zh-TW" sz="2000" dirty="0"/>
              <a:t>-&gt; Output</a:t>
            </a:r>
            <a:br>
              <a:rPr lang="en-US" altLang="zh-TW" dirty="0"/>
            </a:br>
            <a:endParaRPr lang="en-US" altLang="zh-TW" dirty="0"/>
          </a:p>
          <a:p>
            <a:pPr lvl="1"/>
            <a:endParaRPr lang="en-US" altLang="zh-TW" dirty="0"/>
          </a:p>
          <a:p>
            <a:pPr lvl="1"/>
            <a:endParaRPr lang="en-US" altLang="zh-TW" dirty="0"/>
          </a:p>
        </p:txBody>
      </p:sp>
      <p:sp>
        <p:nvSpPr>
          <p:cNvPr id="3" name="投影片編號版面配置區 2">
            <a:extLst>
              <a:ext uri="{FF2B5EF4-FFF2-40B4-BE49-F238E27FC236}">
                <a16:creationId xmlns:a16="http://schemas.microsoft.com/office/drawing/2014/main" id="{4400CC38-2F2D-48BB-87E1-92DA852A88A2}"/>
              </a:ext>
            </a:extLst>
          </p:cNvPr>
          <p:cNvSpPr>
            <a:spLocks noGrp="1"/>
          </p:cNvSpPr>
          <p:nvPr>
            <p:ph type="sldNum" sz="quarter" idx="12"/>
          </p:nvPr>
        </p:nvSpPr>
        <p:spPr>
          <a:xfrm>
            <a:off x="6759435" y="6345475"/>
            <a:ext cx="2057400" cy="365125"/>
          </a:xfrm>
        </p:spPr>
        <p:txBody>
          <a:bodyPr/>
          <a:lstStyle/>
          <a:p>
            <a:fld id="{AE4B70F8-4499-4EB5-A47F-9F74713612AE}" type="slidenum">
              <a:rPr lang="zh-TW" altLang="en-US" smtClean="0"/>
              <a:t>74</a:t>
            </a:fld>
            <a:endParaRPr lang="zh-TW" altLang="en-US" dirty="0"/>
          </a:p>
        </p:txBody>
      </p:sp>
      <p:sp>
        <p:nvSpPr>
          <p:cNvPr id="5" name="矩形 4">
            <a:extLst>
              <a:ext uri="{FF2B5EF4-FFF2-40B4-BE49-F238E27FC236}">
                <a16:creationId xmlns:a16="http://schemas.microsoft.com/office/drawing/2014/main" id="{4AD6100B-79C4-4E2C-AB7C-C13C7F029AEE}"/>
              </a:ext>
            </a:extLst>
          </p:cNvPr>
          <p:cNvSpPr/>
          <p:nvPr/>
        </p:nvSpPr>
        <p:spPr>
          <a:xfrm>
            <a:off x="3433850" y="5177043"/>
            <a:ext cx="1045028" cy="107071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500" dirty="0">
                <a:solidFill>
                  <a:schemeClr val="tx1"/>
                </a:solidFill>
              </a:rPr>
              <a:t>On-Chip</a:t>
            </a:r>
          </a:p>
          <a:p>
            <a:pPr algn="ctr"/>
            <a:r>
              <a:rPr lang="en-US" altLang="zh-TW" sz="1500" dirty="0">
                <a:solidFill>
                  <a:schemeClr val="tx1"/>
                </a:solidFill>
              </a:rPr>
              <a:t>Block-RAM</a:t>
            </a:r>
          </a:p>
          <a:p>
            <a:pPr algn="ctr"/>
            <a:r>
              <a:rPr lang="en-US" altLang="zh-TW" sz="1500" dirty="0">
                <a:solidFill>
                  <a:schemeClr val="tx1"/>
                </a:solidFill>
              </a:rPr>
              <a:t>(A)</a:t>
            </a:r>
            <a:endParaRPr lang="zh-TW" altLang="en-US" sz="1500" dirty="0">
              <a:solidFill>
                <a:schemeClr val="tx1"/>
              </a:solidFill>
            </a:endParaRPr>
          </a:p>
        </p:txBody>
      </p:sp>
      <p:sp>
        <p:nvSpPr>
          <p:cNvPr id="6" name="矩形 5">
            <a:extLst>
              <a:ext uri="{FF2B5EF4-FFF2-40B4-BE49-F238E27FC236}">
                <a16:creationId xmlns:a16="http://schemas.microsoft.com/office/drawing/2014/main" id="{319ECD59-66E8-41F7-9927-5FE1A167EBD7}"/>
              </a:ext>
            </a:extLst>
          </p:cNvPr>
          <p:cNvSpPr/>
          <p:nvPr/>
        </p:nvSpPr>
        <p:spPr>
          <a:xfrm>
            <a:off x="4829942" y="5177042"/>
            <a:ext cx="1045028" cy="107071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500" dirty="0">
                <a:solidFill>
                  <a:schemeClr val="tx1"/>
                </a:solidFill>
              </a:rPr>
              <a:t>Off-Chip</a:t>
            </a:r>
          </a:p>
          <a:p>
            <a:pPr algn="ctr"/>
            <a:r>
              <a:rPr lang="en-US" altLang="zh-TW" sz="1500" dirty="0">
                <a:solidFill>
                  <a:schemeClr val="tx1"/>
                </a:solidFill>
              </a:rPr>
              <a:t>DDR4</a:t>
            </a:r>
            <a:endParaRPr lang="zh-TW" altLang="en-US" sz="1500" dirty="0">
              <a:solidFill>
                <a:schemeClr val="tx1"/>
              </a:solidFill>
            </a:endParaRPr>
          </a:p>
        </p:txBody>
      </p:sp>
      <p:sp>
        <p:nvSpPr>
          <p:cNvPr id="7" name="矩形 6">
            <a:extLst>
              <a:ext uri="{FF2B5EF4-FFF2-40B4-BE49-F238E27FC236}">
                <a16:creationId xmlns:a16="http://schemas.microsoft.com/office/drawing/2014/main" id="{FD97765B-AF53-4AD1-9FEE-8AD41AFB760A}"/>
              </a:ext>
            </a:extLst>
          </p:cNvPr>
          <p:cNvSpPr/>
          <p:nvPr/>
        </p:nvSpPr>
        <p:spPr>
          <a:xfrm>
            <a:off x="6226035" y="5177042"/>
            <a:ext cx="1045028" cy="107071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500" dirty="0">
                <a:solidFill>
                  <a:schemeClr val="tx1"/>
                </a:solidFill>
              </a:rPr>
              <a:t>On-Chip</a:t>
            </a:r>
          </a:p>
          <a:p>
            <a:pPr algn="ctr"/>
            <a:r>
              <a:rPr lang="en-US" altLang="zh-TW" sz="1500" dirty="0">
                <a:solidFill>
                  <a:schemeClr val="tx1"/>
                </a:solidFill>
              </a:rPr>
              <a:t>Block-RAM</a:t>
            </a:r>
          </a:p>
          <a:p>
            <a:pPr algn="ctr"/>
            <a:r>
              <a:rPr lang="en-US" altLang="zh-TW" sz="1500" dirty="0">
                <a:solidFill>
                  <a:schemeClr val="tx1"/>
                </a:solidFill>
              </a:rPr>
              <a:t>(B)</a:t>
            </a:r>
            <a:endParaRPr lang="zh-TW" altLang="en-US" sz="1500" dirty="0">
              <a:solidFill>
                <a:schemeClr val="tx1"/>
              </a:solidFill>
            </a:endParaRPr>
          </a:p>
        </p:txBody>
      </p:sp>
      <p:sp>
        <p:nvSpPr>
          <p:cNvPr id="8" name="矩形 7">
            <a:extLst>
              <a:ext uri="{FF2B5EF4-FFF2-40B4-BE49-F238E27FC236}">
                <a16:creationId xmlns:a16="http://schemas.microsoft.com/office/drawing/2014/main" id="{EA5C260B-9E35-40C7-8147-B20B7BDE539A}"/>
              </a:ext>
            </a:extLst>
          </p:cNvPr>
          <p:cNvSpPr/>
          <p:nvPr/>
        </p:nvSpPr>
        <p:spPr>
          <a:xfrm>
            <a:off x="3433848" y="4337314"/>
            <a:ext cx="3837215" cy="433898"/>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800" dirty="0">
                <a:solidFill>
                  <a:schemeClr val="tx1"/>
                </a:solidFill>
              </a:rPr>
              <a:t>PCIe</a:t>
            </a:r>
            <a:endParaRPr lang="zh-TW" altLang="en-US" sz="1800" dirty="0">
              <a:solidFill>
                <a:schemeClr val="tx1"/>
              </a:solidFill>
            </a:endParaRPr>
          </a:p>
        </p:txBody>
      </p:sp>
      <p:cxnSp>
        <p:nvCxnSpPr>
          <p:cNvPr id="9" name="直線單箭頭接點 8">
            <a:extLst>
              <a:ext uri="{FF2B5EF4-FFF2-40B4-BE49-F238E27FC236}">
                <a16:creationId xmlns:a16="http://schemas.microsoft.com/office/drawing/2014/main" id="{360D7C29-040D-40E2-871C-BA07C5C1C084}"/>
              </a:ext>
            </a:extLst>
          </p:cNvPr>
          <p:cNvCxnSpPr>
            <a:endCxn id="5" idx="0"/>
          </p:cNvCxnSpPr>
          <p:nvPr/>
        </p:nvCxnSpPr>
        <p:spPr>
          <a:xfrm>
            <a:off x="3956363" y="4771212"/>
            <a:ext cx="1" cy="40583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0" name="直線單箭頭接點 9">
            <a:extLst>
              <a:ext uri="{FF2B5EF4-FFF2-40B4-BE49-F238E27FC236}">
                <a16:creationId xmlns:a16="http://schemas.microsoft.com/office/drawing/2014/main" id="{6B30224C-A4CA-4684-8526-5D039BF613BB}"/>
              </a:ext>
            </a:extLst>
          </p:cNvPr>
          <p:cNvCxnSpPr>
            <a:cxnSpLocks/>
            <a:stCxn id="5" idx="3"/>
            <a:endCxn id="6" idx="1"/>
          </p:cNvCxnSpPr>
          <p:nvPr/>
        </p:nvCxnSpPr>
        <p:spPr>
          <a:xfrm flipV="1">
            <a:off x="4478877" y="5712399"/>
            <a:ext cx="351065" cy="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1" name="直線單箭頭接點 10">
            <a:extLst>
              <a:ext uri="{FF2B5EF4-FFF2-40B4-BE49-F238E27FC236}">
                <a16:creationId xmlns:a16="http://schemas.microsoft.com/office/drawing/2014/main" id="{E98B7F64-574D-4A79-B715-1C9C81B1086A}"/>
              </a:ext>
            </a:extLst>
          </p:cNvPr>
          <p:cNvCxnSpPr>
            <a:cxnSpLocks/>
            <a:stCxn id="6" idx="3"/>
            <a:endCxn id="7" idx="1"/>
          </p:cNvCxnSpPr>
          <p:nvPr/>
        </p:nvCxnSpPr>
        <p:spPr>
          <a:xfrm flipV="1">
            <a:off x="5874970" y="5712398"/>
            <a:ext cx="351065" cy="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2" name="直線單箭頭接點 11">
            <a:extLst>
              <a:ext uri="{FF2B5EF4-FFF2-40B4-BE49-F238E27FC236}">
                <a16:creationId xmlns:a16="http://schemas.microsoft.com/office/drawing/2014/main" id="{614BEC32-C53F-48A8-B48F-07DD2BB4EE06}"/>
              </a:ext>
            </a:extLst>
          </p:cNvPr>
          <p:cNvCxnSpPr>
            <a:cxnSpLocks/>
            <a:stCxn id="7" idx="0"/>
          </p:cNvCxnSpPr>
          <p:nvPr/>
        </p:nvCxnSpPr>
        <p:spPr>
          <a:xfrm flipH="1" flipV="1">
            <a:off x="6748549" y="4771212"/>
            <a:ext cx="1" cy="40583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18470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0" y="374451"/>
            <a:ext cx="7886700" cy="994172"/>
          </a:xfrm>
        </p:spPr>
        <p:txBody>
          <a:bodyPr/>
          <a:lstStyle/>
          <a:p>
            <a:r>
              <a:rPr lang="en-US" altLang="zh-TW" dirty="0"/>
              <a:t>Example Code Reproduce</a:t>
            </a:r>
            <a:endParaRPr lang="zh-TW" altLang="en-US" dirty="0"/>
          </a:p>
        </p:txBody>
      </p:sp>
      <p:sp>
        <p:nvSpPr>
          <p:cNvPr id="4" name="內容版面配置區 2">
            <a:extLst>
              <a:ext uri="{FF2B5EF4-FFF2-40B4-BE49-F238E27FC236}">
                <a16:creationId xmlns:a16="http://schemas.microsoft.com/office/drawing/2014/main" id="{4CB9BFA9-D1F8-43AB-8772-A676F13ADAD1}"/>
              </a:ext>
            </a:extLst>
          </p:cNvPr>
          <p:cNvSpPr>
            <a:spLocks noGrp="1"/>
          </p:cNvSpPr>
          <p:nvPr>
            <p:ph idx="1"/>
          </p:nvPr>
        </p:nvSpPr>
        <p:spPr>
          <a:xfrm>
            <a:off x="628650" y="1213866"/>
            <a:ext cx="7886700" cy="3880417"/>
          </a:xfrm>
        </p:spPr>
        <p:txBody>
          <a:bodyPr>
            <a:normAutofit fontScale="92500" lnSpcReduction="20000"/>
          </a:bodyPr>
          <a:lstStyle/>
          <a:p>
            <a:pPr marL="385763" indent="-385763">
              <a:buFont typeface="+mj-lt"/>
              <a:buAutoNum type="arabicPeriod"/>
            </a:pPr>
            <a:r>
              <a:rPr lang="en-US" altLang="zh-TW" dirty="0"/>
              <a:t>Copy RIFFA from workstation</a:t>
            </a:r>
          </a:p>
          <a:p>
            <a:pPr lvl="1"/>
            <a:r>
              <a:rPr lang="en-US" altLang="zh-TW" i="1" dirty="0">
                <a:cs typeface="Times New Roman" panose="02020603050405020304" pitchFamily="18" charset="0"/>
              </a:rPr>
              <a:t>cp -r /mnt/ds1515/fpga/riffa_2.2.2/ ./</a:t>
            </a:r>
            <a:endParaRPr lang="en-US" altLang="zh-TW" i="1" dirty="0"/>
          </a:p>
          <a:p>
            <a:pPr marL="385763" indent="-385763">
              <a:buFont typeface="+mj-lt"/>
              <a:buAutoNum type="arabicPeriod"/>
            </a:pPr>
            <a:r>
              <a:rPr lang="en-US" altLang="zh-TW" dirty="0"/>
              <a:t>Open project directory DE5Gen2x8If128</a:t>
            </a:r>
          </a:p>
          <a:p>
            <a:pPr lvl="1"/>
            <a:r>
              <a:rPr lang="en-US" altLang="zh-TW" dirty="0"/>
              <a:t>Located at ./riffa_2.2.2/source/fpga/altera/de5/DE5Gen2x8If128/</a:t>
            </a:r>
          </a:p>
          <a:p>
            <a:pPr marL="385763" indent="-385763">
              <a:buFont typeface="+mj-lt"/>
              <a:buAutoNum type="arabicPeriod"/>
            </a:pPr>
            <a:r>
              <a:rPr lang="en-US" altLang="zh-TW" dirty="0"/>
              <a:t>Copy files under </a:t>
            </a:r>
            <a:r>
              <a:rPr lang="en-US" altLang="zh-TW" i="1" dirty="0" err="1"/>
              <a:t>Quartus_Project</a:t>
            </a:r>
            <a:r>
              <a:rPr lang="en-US" altLang="zh-TW" dirty="0"/>
              <a:t> into their corresponding folders</a:t>
            </a:r>
          </a:p>
          <a:p>
            <a:pPr lvl="1"/>
            <a:r>
              <a:rPr lang="en-US" altLang="zh-TW" dirty="0"/>
              <a:t>*.qpf, *.qsf -&gt; prj</a:t>
            </a:r>
          </a:p>
          <a:p>
            <a:pPr lvl="1"/>
            <a:r>
              <a:rPr lang="en-US" altLang="zh-TW" dirty="0"/>
              <a:t>*.sdc            -&gt; </a:t>
            </a:r>
            <a:r>
              <a:rPr lang="en-US" altLang="zh-TW" dirty="0" err="1"/>
              <a:t>constr</a:t>
            </a:r>
            <a:endParaRPr lang="en-US" altLang="zh-TW" dirty="0"/>
          </a:p>
          <a:p>
            <a:pPr lvl="1"/>
            <a:r>
              <a:rPr lang="en-US" altLang="zh-TW" dirty="0"/>
              <a:t>*.v                -&gt; </a:t>
            </a:r>
            <a:r>
              <a:rPr lang="en-US" altLang="zh-TW" dirty="0" err="1"/>
              <a:t>hdl</a:t>
            </a:r>
            <a:endParaRPr lang="en-US" altLang="zh-TW" dirty="0"/>
          </a:p>
          <a:p>
            <a:pPr lvl="1"/>
            <a:r>
              <a:rPr lang="en-US" altLang="zh-TW" dirty="0"/>
              <a:t>*.qsys          -&gt; ip</a:t>
            </a:r>
          </a:p>
          <a:p>
            <a:pPr marL="385763" indent="-385763">
              <a:buFont typeface="+mj-lt"/>
              <a:buAutoNum type="arabicPeriod"/>
            </a:pPr>
            <a:r>
              <a:rPr lang="en-US" altLang="zh-TW" dirty="0"/>
              <a:t>Copy files under </a:t>
            </a:r>
            <a:r>
              <a:rPr lang="en-US" altLang="zh-TW" dirty="0" err="1"/>
              <a:t>test_DRAM</a:t>
            </a:r>
            <a:r>
              <a:rPr lang="en-US" altLang="zh-TW" dirty="0"/>
              <a:t> into their corresponding folders.</a:t>
            </a:r>
          </a:p>
          <a:p>
            <a:pPr lvl="1"/>
            <a:r>
              <a:rPr lang="en-US" altLang="zh-TW" dirty="0"/>
              <a:t>*.v                  -&gt; ./riffa_2.2.2/source/fpga/riffa_hdl/</a:t>
            </a:r>
          </a:p>
          <a:p>
            <a:pPr lvl="1"/>
            <a:r>
              <a:rPr lang="en-US" altLang="zh-TW" dirty="0" err="1"/>
              <a:t>sample_app</a:t>
            </a:r>
            <a:r>
              <a:rPr lang="en-US" altLang="zh-TW" dirty="0"/>
              <a:t> -&gt; ./riffa_2.2.2/source/c_c++/linux/x64/</a:t>
            </a:r>
            <a:br>
              <a:rPr lang="en-US" altLang="zh-TW" dirty="0"/>
            </a:br>
            <a:endParaRPr lang="en-US" altLang="zh-TW" dirty="0"/>
          </a:p>
          <a:p>
            <a:pPr lvl="1"/>
            <a:endParaRPr lang="en-US" altLang="zh-TW" dirty="0"/>
          </a:p>
          <a:p>
            <a:pPr lvl="1"/>
            <a:endParaRPr lang="en-US" altLang="zh-TW" dirty="0"/>
          </a:p>
        </p:txBody>
      </p:sp>
      <p:sp>
        <p:nvSpPr>
          <p:cNvPr id="3" name="投影片編號版面配置區 2">
            <a:extLst>
              <a:ext uri="{FF2B5EF4-FFF2-40B4-BE49-F238E27FC236}">
                <a16:creationId xmlns:a16="http://schemas.microsoft.com/office/drawing/2014/main" id="{4400CC38-2F2D-48BB-87E1-92DA852A88A2}"/>
              </a:ext>
            </a:extLst>
          </p:cNvPr>
          <p:cNvSpPr>
            <a:spLocks noGrp="1"/>
          </p:cNvSpPr>
          <p:nvPr>
            <p:ph type="sldNum" sz="quarter" idx="12"/>
          </p:nvPr>
        </p:nvSpPr>
        <p:spPr/>
        <p:txBody>
          <a:bodyPr/>
          <a:lstStyle/>
          <a:p>
            <a:fld id="{AE4B70F8-4499-4EB5-A47F-9F74713612AE}" type="slidenum">
              <a:rPr lang="zh-TW" altLang="en-US" smtClean="0"/>
              <a:t>75</a:t>
            </a:fld>
            <a:endParaRPr lang="zh-TW" altLang="en-US" dirty="0"/>
          </a:p>
        </p:txBody>
      </p:sp>
      <p:pic>
        <p:nvPicPr>
          <p:cNvPr id="5" name="圖片 4">
            <a:extLst>
              <a:ext uri="{FF2B5EF4-FFF2-40B4-BE49-F238E27FC236}">
                <a16:creationId xmlns:a16="http://schemas.microsoft.com/office/drawing/2014/main" id="{9B3AA573-31DB-440B-A7FD-214828E97E6D}"/>
              </a:ext>
            </a:extLst>
          </p:cNvPr>
          <p:cNvPicPr>
            <a:picLocks noChangeAspect="1"/>
          </p:cNvPicPr>
          <p:nvPr/>
        </p:nvPicPr>
        <p:blipFill>
          <a:blip r:embed="rId3"/>
          <a:stretch>
            <a:fillRect/>
          </a:stretch>
        </p:blipFill>
        <p:spPr>
          <a:xfrm>
            <a:off x="1463041" y="4784980"/>
            <a:ext cx="2750594" cy="1744280"/>
          </a:xfrm>
          <a:prstGeom prst="rect">
            <a:avLst/>
          </a:prstGeom>
        </p:spPr>
      </p:pic>
      <p:pic>
        <p:nvPicPr>
          <p:cNvPr id="6" name="圖片 5">
            <a:extLst>
              <a:ext uri="{FF2B5EF4-FFF2-40B4-BE49-F238E27FC236}">
                <a16:creationId xmlns:a16="http://schemas.microsoft.com/office/drawing/2014/main" id="{20CDB3AC-0AAE-4DCE-824A-F568CE27CEA8}"/>
              </a:ext>
            </a:extLst>
          </p:cNvPr>
          <p:cNvPicPr>
            <a:picLocks noChangeAspect="1"/>
          </p:cNvPicPr>
          <p:nvPr/>
        </p:nvPicPr>
        <p:blipFill>
          <a:blip r:embed="rId4"/>
          <a:stretch>
            <a:fillRect/>
          </a:stretch>
        </p:blipFill>
        <p:spPr>
          <a:xfrm>
            <a:off x="6820414" y="4630435"/>
            <a:ext cx="1277652" cy="2053369"/>
          </a:xfrm>
          <a:prstGeom prst="rect">
            <a:avLst/>
          </a:prstGeom>
        </p:spPr>
      </p:pic>
      <p:cxnSp>
        <p:nvCxnSpPr>
          <p:cNvPr id="8" name="直線接點 7">
            <a:extLst>
              <a:ext uri="{FF2B5EF4-FFF2-40B4-BE49-F238E27FC236}">
                <a16:creationId xmlns:a16="http://schemas.microsoft.com/office/drawing/2014/main" id="{D622F89E-9BDC-40F9-9903-38C46384CB3E}"/>
              </a:ext>
            </a:extLst>
          </p:cNvPr>
          <p:cNvCxnSpPr/>
          <p:nvPr/>
        </p:nvCxnSpPr>
        <p:spPr>
          <a:xfrm>
            <a:off x="1600200" y="6103620"/>
            <a:ext cx="1447800" cy="0"/>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6895B31B-80D4-4A7E-ABF1-189FF8CB4EEB}"/>
              </a:ext>
            </a:extLst>
          </p:cNvPr>
          <p:cNvSpPr txBox="1"/>
          <p:nvPr/>
        </p:nvSpPr>
        <p:spPr>
          <a:xfrm>
            <a:off x="3048000" y="5948938"/>
            <a:ext cx="2331720" cy="307777"/>
          </a:xfrm>
          <a:prstGeom prst="rect">
            <a:avLst/>
          </a:prstGeom>
          <a:noFill/>
        </p:spPr>
        <p:txBody>
          <a:bodyPr wrap="square" rtlCol="0">
            <a:spAutoFit/>
          </a:bodyPr>
          <a:lstStyle/>
          <a:p>
            <a:r>
              <a:rPr lang="en-US" altLang="zh-TW" dirty="0"/>
              <a:t>QsysDDR3A.qsys</a:t>
            </a:r>
            <a:endParaRPr lang="zh-TW" altLang="en-US" dirty="0"/>
          </a:p>
        </p:txBody>
      </p:sp>
    </p:spTree>
    <p:extLst>
      <p:ext uri="{BB962C8B-B14F-4D97-AF65-F5344CB8AC3E}">
        <p14:creationId xmlns:p14="http://schemas.microsoft.com/office/powerpoint/2010/main" val="30321320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0" y="434918"/>
            <a:ext cx="7886700" cy="994172"/>
          </a:xfrm>
        </p:spPr>
        <p:txBody>
          <a:bodyPr/>
          <a:lstStyle/>
          <a:p>
            <a:r>
              <a:rPr lang="en-US" altLang="zh-TW" dirty="0"/>
              <a:t>Example Code Reproduce</a:t>
            </a:r>
            <a:endParaRPr lang="zh-TW" altLang="en-US" dirty="0"/>
          </a:p>
        </p:txBody>
      </p:sp>
      <p:sp>
        <p:nvSpPr>
          <p:cNvPr id="4" name="內容版面配置區 2">
            <a:extLst>
              <a:ext uri="{FF2B5EF4-FFF2-40B4-BE49-F238E27FC236}">
                <a16:creationId xmlns:a16="http://schemas.microsoft.com/office/drawing/2014/main" id="{4CB9BFA9-D1F8-43AB-8772-A676F13ADAD1}"/>
              </a:ext>
            </a:extLst>
          </p:cNvPr>
          <p:cNvSpPr>
            <a:spLocks noGrp="1"/>
          </p:cNvSpPr>
          <p:nvPr>
            <p:ph idx="1"/>
          </p:nvPr>
        </p:nvSpPr>
        <p:spPr>
          <a:xfrm>
            <a:off x="686839" y="1429090"/>
            <a:ext cx="7886700" cy="3431381"/>
          </a:xfrm>
        </p:spPr>
        <p:txBody>
          <a:bodyPr>
            <a:normAutofit fontScale="92500" lnSpcReduction="10000"/>
          </a:bodyPr>
          <a:lstStyle/>
          <a:p>
            <a:pPr marL="385763" indent="-385763">
              <a:buFont typeface="+mj-lt"/>
              <a:buAutoNum type="arabicPeriod" startAt="4"/>
            </a:pPr>
            <a:r>
              <a:rPr lang="en-US" altLang="zh-TW" dirty="0"/>
              <a:t>Open project in Quartus</a:t>
            </a:r>
            <a:r>
              <a:rPr lang="zh-TW" altLang="en-US" dirty="0"/>
              <a:t> </a:t>
            </a:r>
            <a:r>
              <a:rPr lang="en-US" altLang="zh-TW" dirty="0"/>
              <a:t>	</a:t>
            </a:r>
            <a:r>
              <a:rPr lang="zh-TW" altLang="en-US" dirty="0">
                <a:latin typeface="標楷體" panose="03000509000000000000" pitchFamily="65" charset="-120"/>
                <a:ea typeface="標楷體" panose="03000509000000000000" pitchFamily="65" charset="-120"/>
              </a:rPr>
              <a:t>請參考前面</a:t>
            </a:r>
            <a:endParaRPr lang="en-US" altLang="zh-TW" dirty="0">
              <a:latin typeface="標楷體" panose="03000509000000000000" pitchFamily="65" charset="-120"/>
              <a:ea typeface="標楷體" panose="03000509000000000000" pitchFamily="65" charset="-120"/>
            </a:endParaRPr>
          </a:p>
          <a:p>
            <a:pPr marL="385763" indent="-385763">
              <a:buFont typeface="+mj-lt"/>
              <a:buAutoNum type="arabicPeriod" startAt="4"/>
            </a:pPr>
            <a:r>
              <a:rPr lang="en-US" altLang="zh-TW" dirty="0"/>
              <a:t>Open Qsys IP files and generate HDL (</a:t>
            </a:r>
            <a:r>
              <a:rPr lang="zh-TW" altLang="en-US" dirty="0">
                <a:latin typeface="標楷體" panose="03000509000000000000" pitchFamily="65" charset="-120"/>
                <a:ea typeface="標楷體" panose="03000509000000000000" pitchFamily="65" charset="-120"/>
              </a:rPr>
              <a:t>兩個</a:t>
            </a:r>
            <a:r>
              <a:rPr lang="en-US" altLang="zh-TW" dirty="0">
                <a:latin typeface="標楷體" panose="03000509000000000000" pitchFamily="65" charset="-120"/>
                <a:ea typeface="標楷體" panose="03000509000000000000" pitchFamily="65" charset="-120"/>
              </a:rPr>
              <a:t>IP</a:t>
            </a:r>
            <a:r>
              <a:rPr lang="zh-TW" altLang="en-US" dirty="0">
                <a:latin typeface="標楷體" panose="03000509000000000000" pitchFamily="65" charset="-120"/>
                <a:ea typeface="標楷體" panose="03000509000000000000" pitchFamily="65" charset="-120"/>
              </a:rPr>
              <a:t>都要</a:t>
            </a:r>
            <a:r>
              <a:rPr lang="en-US" altLang="zh-TW" dirty="0"/>
              <a:t>)</a:t>
            </a:r>
          </a:p>
          <a:p>
            <a:pPr lvl="1"/>
            <a:r>
              <a:rPr lang="en-US" altLang="zh-TW" dirty="0"/>
              <a:t>Open Qsys tool</a:t>
            </a:r>
          </a:p>
          <a:p>
            <a:pPr lvl="1"/>
            <a:r>
              <a:rPr lang="en-US" altLang="zh-TW" dirty="0"/>
              <a:t>File -&gt; Open -&gt; </a:t>
            </a:r>
            <a:r>
              <a:rPr lang="en-US" altLang="zh-TW" dirty="0">
                <a:solidFill>
                  <a:srgbClr val="FF0000"/>
                </a:solidFill>
              </a:rPr>
              <a:t>../ip/QsysDE5Gen2x8If128.qsys</a:t>
            </a:r>
            <a:r>
              <a:rPr lang="en-US" altLang="zh-TW" dirty="0"/>
              <a:t> or </a:t>
            </a:r>
            <a:r>
              <a:rPr lang="en-US" altLang="zh-TW" dirty="0">
                <a:solidFill>
                  <a:srgbClr val="FF0000"/>
                </a:solidFill>
              </a:rPr>
              <a:t>../ip/QsysDDR3A.qsys</a:t>
            </a:r>
          </a:p>
          <a:p>
            <a:pPr lvl="1"/>
            <a:r>
              <a:rPr lang="en-US" altLang="zh-TW" dirty="0"/>
              <a:t>Generate -&gt; Generate HDL -&gt; Generate</a:t>
            </a:r>
          </a:p>
          <a:p>
            <a:pPr marL="385763" indent="-385763">
              <a:buFont typeface="+mj-lt"/>
              <a:buAutoNum type="arabicPeriod" startAt="6"/>
            </a:pPr>
            <a:r>
              <a:rPr lang="en-US" altLang="zh-TW" dirty="0">
                <a:solidFill>
                  <a:srgbClr val="FF0000"/>
                </a:solidFill>
              </a:rPr>
              <a:t>Check user-define SDC in the last order</a:t>
            </a:r>
          </a:p>
          <a:p>
            <a:pPr lvl="1"/>
            <a:r>
              <a:rPr lang="en-US" altLang="zh-TW" dirty="0"/>
              <a:t>Assignments -&gt; Settings -&gt; </a:t>
            </a:r>
            <a:r>
              <a:rPr lang="en-US" altLang="zh-TW" dirty="0" err="1"/>
              <a:t>TimeQuest</a:t>
            </a:r>
            <a:r>
              <a:rPr lang="en-US" altLang="zh-TW" dirty="0"/>
              <a:t> Timing Analyzer -&gt; ok</a:t>
            </a:r>
          </a:p>
          <a:p>
            <a:pPr marL="385763" indent="-385763">
              <a:buFont typeface="+mj-lt"/>
              <a:buAutoNum type="arabicPeriod" startAt="6"/>
            </a:pPr>
            <a:r>
              <a:rPr lang="en-US" altLang="zh-TW" dirty="0"/>
              <a:t>Compile and Program Device	</a:t>
            </a:r>
            <a:r>
              <a:rPr lang="zh-TW" altLang="en-US" dirty="0">
                <a:latin typeface="標楷體" panose="03000509000000000000" pitchFamily="65" charset="-120"/>
                <a:ea typeface="標楷體" panose="03000509000000000000" pitchFamily="65" charset="-120"/>
              </a:rPr>
              <a:t>請參考前面</a:t>
            </a:r>
            <a:endParaRPr lang="en-US" altLang="zh-TW" dirty="0"/>
          </a:p>
          <a:p>
            <a:pPr marL="385763" indent="-385763">
              <a:buFont typeface="+mj-lt"/>
              <a:buAutoNum type="arabicPeriod" startAt="6"/>
            </a:pPr>
            <a:r>
              <a:rPr lang="en-US" altLang="zh-TW" dirty="0"/>
              <a:t>Reboot Computer and Test	</a:t>
            </a:r>
            <a:r>
              <a:rPr lang="zh-TW" altLang="en-US" dirty="0">
                <a:latin typeface="標楷體" panose="03000509000000000000" pitchFamily="65" charset="-120"/>
                <a:ea typeface="標楷體" panose="03000509000000000000" pitchFamily="65" charset="-120"/>
              </a:rPr>
              <a:t>請參考前面</a:t>
            </a:r>
            <a:br>
              <a:rPr lang="en-US" altLang="zh-TW" dirty="0"/>
            </a:br>
            <a:endParaRPr lang="en-US" altLang="zh-TW" dirty="0"/>
          </a:p>
          <a:p>
            <a:pPr lvl="1"/>
            <a:endParaRPr lang="en-US" altLang="zh-TW" dirty="0"/>
          </a:p>
          <a:p>
            <a:pPr lvl="1"/>
            <a:endParaRPr lang="en-US" altLang="zh-TW" dirty="0"/>
          </a:p>
        </p:txBody>
      </p:sp>
      <p:sp>
        <p:nvSpPr>
          <p:cNvPr id="3" name="投影片編號版面配置區 2">
            <a:extLst>
              <a:ext uri="{FF2B5EF4-FFF2-40B4-BE49-F238E27FC236}">
                <a16:creationId xmlns:a16="http://schemas.microsoft.com/office/drawing/2014/main" id="{4400CC38-2F2D-48BB-87E1-92DA852A88A2}"/>
              </a:ext>
            </a:extLst>
          </p:cNvPr>
          <p:cNvSpPr>
            <a:spLocks noGrp="1"/>
          </p:cNvSpPr>
          <p:nvPr>
            <p:ph type="sldNum" sz="quarter" idx="12"/>
          </p:nvPr>
        </p:nvSpPr>
        <p:spPr/>
        <p:txBody>
          <a:bodyPr/>
          <a:lstStyle/>
          <a:p>
            <a:fld id="{AE4B70F8-4499-4EB5-A47F-9F74713612AE}" type="slidenum">
              <a:rPr lang="zh-TW" altLang="en-US" smtClean="0"/>
              <a:t>76</a:t>
            </a:fld>
            <a:endParaRPr lang="zh-TW" altLang="en-US" dirty="0"/>
          </a:p>
        </p:txBody>
      </p:sp>
      <p:grpSp>
        <p:nvGrpSpPr>
          <p:cNvPr id="11" name="群組 10">
            <a:extLst>
              <a:ext uri="{FF2B5EF4-FFF2-40B4-BE49-F238E27FC236}">
                <a16:creationId xmlns:a16="http://schemas.microsoft.com/office/drawing/2014/main" id="{31227B0D-6CD1-4790-ADAE-43D0D94069D8}"/>
              </a:ext>
            </a:extLst>
          </p:cNvPr>
          <p:cNvGrpSpPr/>
          <p:nvPr/>
        </p:nvGrpSpPr>
        <p:grpSpPr>
          <a:xfrm>
            <a:off x="4087939" y="2244906"/>
            <a:ext cx="3564731" cy="250031"/>
            <a:chOff x="1422626" y="3273199"/>
            <a:chExt cx="4752975" cy="333375"/>
          </a:xfrm>
        </p:grpSpPr>
        <p:pic>
          <p:nvPicPr>
            <p:cNvPr id="9" name="圖片 8">
              <a:extLst>
                <a:ext uri="{FF2B5EF4-FFF2-40B4-BE49-F238E27FC236}">
                  <a16:creationId xmlns:a16="http://schemas.microsoft.com/office/drawing/2014/main" id="{F579F59C-5C62-41E7-BA00-D75438B0ADEE}"/>
                </a:ext>
              </a:extLst>
            </p:cNvPr>
            <p:cNvPicPr/>
            <p:nvPr/>
          </p:nvPicPr>
          <p:blipFill>
            <a:blip r:embed="rId3">
              <a:extLst>
                <a:ext uri="{28A0092B-C50C-407E-A947-70E740481C1C}">
                  <a14:useLocalDpi xmlns:a14="http://schemas.microsoft.com/office/drawing/2010/main" val="0"/>
                </a:ext>
              </a:extLst>
            </a:blip>
            <a:stretch>
              <a:fillRect/>
            </a:stretch>
          </p:blipFill>
          <p:spPr>
            <a:xfrm>
              <a:off x="1422626" y="3273199"/>
              <a:ext cx="4752975" cy="333375"/>
            </a:xfrm>
            <a:prstGeom prst="rect">
              <a:avLst/>
            </a:prstGeom>
          </p:spPr>
        </p:pic>
        <p:sp>
          <p:nvSpPr>
            <p:cNvPr id="10" name="矩形 9">
              <a:extLst>
                <a:ext uri="{FF2B5EF4-FFF2-40B4-BE49-F238E27FC236}">
                  <a16:creationId xmlns:a16="http://schemas.microsoft.com/office/drawing/2014/main" id="{2D45A009-DBBF-4EBB-A531-61593E18EF8E}"/>
                </a:ext>
              </a:extLst>
            </p:cNvPr>
            <p:cNvSpPr/>
            <p:nvPr/>
          </p:nvSpPr>
          <p:spPr>
            <a:xfrm>
              <a:off x="4795746" y="3273199"/>
              <a:ext cx="371475" cy="3238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zh-TW" altLang="en-US" sz="1050"/>
            </a:p>
          </p:txBody>
        </p:sp>
      </p:grpSp>
      <p:pic>
        <p:nvPicPr>
          <p:cNvPr id="13" name="圖片 12">
            <a:extLst>
              <a:ext uri="{FF2B5EF4-FFF2-40B4-BE49-F238E27FC236}">
                <a16:creationId xmlns:a16="http://schemas.microsoft.com/office/drawing/2014/main" id="{3A7474B0-5CD2-4DBD-BFDD-AA766E7BB286}"/>
              </a:ext>
            </a:extLst>
          </p:cNvPr>
          <p:cNvPicPr>
            <a:picLocks noChangeAspect="1"/>
          </p:cNvPicPr>
          <p:nvPr/>
        </p:nvPicPr>
        <p:blipFill rotWithShape="1">
          <a:blip r:embed="rId4"/>
          <a:srcRect l="30977" t="56387" r="16954" b="23412"/>
          <a:stretch/>
        </p:blipFill>
        <p:spPr>
          <a:xfrm>
            <a:off x="1022639" y="4706200"/>
            <a:ext cx="7080415" cy="1370404"/>
          </a:xfrm>
          <a:prstGeom prst="rect">
            <a:avLst/>
          </a:prstGeom>
        </p:spPr>
      </p:pic>
      <p:cxnSp>
        <p:nvCxnSpPr>
          <p:cNvPr id="14" name="直線單箭頭接點 13">
            <a:extLst>
              <a:ext uri="{FF2B5EF4-FFF2-40B4-BE49-F238E27FC236}">
                <a16:creationId xmlns:a16="http://schemas.microsoft.com/office/drawing/2014/main" id="{87FA722A-9E2B-471E-9E67-0D6DA368B2ED}"/>
              </a:ext>
            </a:extLst>
          </p:cNvPr>
          <p:cNvCxnSpPr>
            <a:cxnSpLocks/>
          </p:cNvCxnSpPr>
          <p:nvPr/>
        </p:nvCxnSpPr>
        <p:spPr>
          <a:xfrm>
            <a:off x="1365243" y="6005055"/>
            <a:ext cx="6548473" cy="0"/>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139C8C9E-C8AE-4A21-AAC0-F88B248C7296}"/>
              </a:ext>
            </a:extLst>
          </p:cNvPr>
          <p:cNvCxnSpPr>
            <a:cxnSpLocks/>
          </p:cNvCxnSpPr>
          <p:nvPr/>
        </p:nvCxnSpPr>
        <p:spPr>
          <a:xfrm>
            <a:off x="1776723" y="5578335"/>
            <a:ext cx="1591317" cy="0"/>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文字方塊 14">
            <a:extLst>
              <a:ext uri="{FF2B5EF4-FFF2-40B4-BE49-F238E27FC236}">
                <a16:creationId xmlns:a16="http://schemas.microsoft.com/office/drawing/2014/main" id="{88BC33CA-5E6D-4286-B5AC-F0D8004D5CC0}"/>
              </a:ext>
            </a:extLst>
          </p:cNvPr>
          <p:cNvSpPr txBox="1"/>
          <p:nvPr/>
        </p:nvSpPr>
        <p:spPr>
          <a:xfrm>
            <a:off x="3291840" y="5405848"/>
            <a:ext cx="2331720" cy="307777"/>
          </a:xfrm>
          <a:prstGeom prst="rect">
            <a:avLst/>
          </a:prstGeom>
          <a:noFill/>
        </p:spPr>
        <p:txBody>
          <a:bodyPr wrap="square" rtlCol="0">
            <a:spAutoFit/>
          </a:bodyPr>
          <a:lstStyle/>
          <a:p>
            <a:r>
              <a:rPr lang="en-US" altLang="zh-TW" dirty="0"/>
              <a:t>QsysDDR3A.qsys</a:t>
            </a:r>
            <a:endParaRPr lang="zh-TW" altLang="en-US" dirty="0"/>
          </a:p>
        </p:txBody>
      </p:sp>
    </p:spTree>
    <p:extLst>
      <p:ext uri="{BB962C8B-B14F-4D97-AF65-F5344CB8AC3E}">
        <p14:creationId xmlns:p14="http://schemas.microsoft.com/office/powerpoint/2010/main" val="14881074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D26A5-44B6-3E12-6821-33F9AD56DFB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86AF056-2479-F48F-3C01-6F9FA00B21BF}"/>
              </a:ext>
            </a:extLst>
          </p:cNvPr>
          <p:cNvSpPr>
            <a:spLocks noGrp="1"/>
          </p:cNvSpPr>
          <p:nvPr>
            <p:ph type="title"/>
          </p:nvPr>
        </p:nvSpPr>
        <p:spPr>
          <a:xfrm>
            <a:off x="628650" y="434918"/>
            <a:ext cx="7886700" cy="994172"/>
          </a:xfrm>
        </p:spPr>
        <p:txBody>
          <a:bodyPr/>
          <a:lstStyle/>
          <a:p>
            <a:r>
              <a:rPr lang="en-US" altLang="zh-TW" dirty="0"/>
              <a:t>Example Code Reproduce</a:t>
            </a:r>
            <a:r>
              <a:rPr lang="zh-TW" altLang="en-US" dirty="0"/>
              <a:t> </a:t>
            </a:r>
            <a:r>
              <a:rPr lang="en-US" altLang="zh-TW" dirty="0"/>
              <a:t>– Qsys tool</a:t>
            </a:r>
            <a:endParaRPr lang="zh-TW" altLang="en-US" dirty="0"/>
          </a:p>
        </p:txBody>
      </p:sp>
      <p:sp>
        <p:nvSpPr>
          <p:cNvPr id="4" name="內容版面配置區 2">
            <a:extLst>
              <a:ext uri="{FF2B5EF4-FFF2-40B4-BE49-F238E27FC236}">
                <a16:creationId xmlns:a16="http://schemas.microsoft.com/office/drawing/2014/main" id="{C92DCB86-8B9C-C221-01E6-03A8EAF553D2}"/>
              </a:ext>
            </a:extLst>
          </p:cNvPr>
          <p:cNvSpPr>
            <a:spLocks noGrp="1"/>
          </p:cNvSpPr>
          <p:nvPr>
            <p:ph idx="1"/>
          </p:nvPr>
        </p:nvSpPr>
        <p:spPr>
          <a:xfrm>
            <a:off x="686839" y="1429090"/>
            <a:ext cx="7886700" cy="3431381"/>
          </a:xfrm>
        </p:spPr>
        <p:txBody>
          <a:bodyPr>
            <a:normAutofit/>
          </a:bodyPr>
          <a:lstStyle/>
          <a:p>
            <a:pPr marL="0" indent="0">
              <a:buNone/>
            </a:pPr>
            <a:br>
              <a:rPr lang="en-US" altLang="zh-TW" dirty="0"/>
            </a:br>
            <a:endParaRPr lang="en-US" altLang="zh-TW" dirty="0"/>
          </a:p>
          <a:p>
            <a:pPr lvl="1"/>
            <a:endParaRPr lang="en-US" altLang="zh-TW" dirty="0"/>
          </a:p>
          <a:p>
            <a:pPr lvl="1"/>
            <a:endParaRPr lang="en-US" altLang="zh-TW" dirty="0"/>
          </a:p>
        </p:txBody>
      </p:sp>
      <p:sp>
        <p:nvSpPr>
          <p:cNvPr id="3" name="投影片編號版面配置區 2">
            <a:extLst>
              <a:ext uri="{FF2B5EF4-FFF2-40B4-BE49-F238E27FC236}">
                <a16:creationId xmlns:a16="http://schemas.microsoft.com/office/drawing/2014/main" id="{84AFA9DB-9661-5657-5800-ED26F502B0B2}"/>
              </a:ext>
            </a:extLst>
          </p:cNvPr>
          <p:cNvSpPr>
            <a:spLocks noGrp="1"/>
          </p:cNvSpPr>
          <p:nvPr>
            <p:ph type="sldNum" sz="quarter" idx="12"/>
          </p:nvPr>
        </p:nvSpPr>
        <p:spPr/>
        <p:txBody>
          <a:bodyPr/>
          <a:lstStyle/>
          <a:p>
            <a:fld id="{AE4B70F8-4499-4EB5-A47F-9F74713612AE}" type="slidenum">
              <a:rPr lang="zh-TW" altLang="en-US" smtClean="0"/>
              <a:t>77</a:t>
            </a:fld>
            <a:endParaRPr lang="zh-TW" altLang="en-US" dirty="0"/>
          </a:p>
        </p:txBody>
      </p:sp>
      <p:pic>
        <p:nvPicPr>
          <p:cNvPr id="6" name="圖片 5" descr="一張含有 文字, 螢幕擷取畫面, 陳列, 數字 的圖片&#10;&#10;AI 產生的內容可能不正確。">
            <a:extLst>
              <a:ext uri="{FF2B5EF4-FFF2-40B4-BE49-F238E27FC236}">
                <a16:creationId xmlns:a16="http://schemas.microsoft.com/office/drawing/2014/main" id="{F3A150DB-C1A9-F52E-3C7D-90229D79C404}"/>
              </a:ext>
            </a:extLst>
          </p:cNvPr>
          <p:cNvPicPr>
            <a:picLocks noChangeAspect="1"/>
          </p:cNvPicPr>
          <p:nvPr/>
        </p:nvPicPr>
        <p:blipFill>
          <a:blip r:embed="rId3"/>
          <a:stretch>
            <a:fillRect/>
          </a:stretch>
        </p:blipFill>
        <p:spPr>
          <a:xfrm>
            <a:off x="686839" y="1288455"/>
            <a:ext cx="7200442" cy="5423368"/>
          </a:xfrm>
          <a:prstGeom prst="rect">
            <a:avLst/>
          </a:prstGeom>
        </p:spPr>
      </p:pic>
      <p:sp>
        <p:nvSpPr>
          <p:cNvPr id="7" name="矩形 6">
            <a:extLst>
              <a:ext uri="{FF2B5EF4-FFF2-40B4-BE49-F238E27FC236}">
                <a16:creationId xmlns:a16="http://schemas.microsoft.com/office/drawing/2014/main" id="{F12CB031-7FC9-AFF2-22C3-71075D3B83BD}"/>
              </a:ext>
            </a:extLst>
          </p:cNvPr>
          <p:cNvSpPr/>
          <p:nvPr/>
        </p:nvSpPr>
        <p:spPr>
          <a:xfrm>
            <a:off x="6695768" y="6479458"/>
            <a:ext cx="786580" cy="232365"/>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415292909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1B414-D103-7CBB-92F1-7A7B601DC7F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21F5577-A12C-F3FA-1A17-3928E2B4E038}"/>
              </a:ext>
            </a:extLst>
          </p:cNvPr>
          <p:cNvSpPr>
            <a:spLocks noGrp="1"/>
          </p:cNvSpPr>
          <p:nvPr>
            <p:ph type="title"/>
          </p:nvPr>
        </p:nvSpPr>
        <p:spPr>
          <a:xfrm>
            <a:off x="628650" y="434918"/>
            <a:ext cx="7886700" cy="994172"/>
          </a:xfrm>
        </p:spPr>
        <p:txBody>
          <a:bodyPr/>
          <a:lstStyle/>
          <a:p>
            <a:r>
              <a:rPr lang="en-US" altLang="zh-TW" dirty="0"/>
              <a:t>Example Code Reproduce</a:t>
            </a:r>
            <a:r>
              <a:rPr lang="zh-TW" altLang="en-US" dirty="0"/>
              <a:t> </a:t>
            </a:r>
            <a:r>
              <a:rPr lang="en-US" altLang="zh-TW" dirty="0"/>
              <a:t>– You might occur</a:t>
            </a:r>
            <a:endParaRPr lang="zh-TW" altLang="en-US" dirty="0"/>
          </a:p>
        </p:txBody>
      </p:sp>
      <p:sp>
        <p:nvSpPr>
          <p:cNvPr id="3" name="投影片編號版面配置區 2">
            <a:extLst>
              <a:ext uri="{FF2B5EF4-FFF2-40B4-BE49-F238E27FC236}">
                <a16:creationId xmlns:a16="http://schemas.microsoft.com/office/drawing/2014/main" id="{185D7B32-2A39-DE95-9EEC-1DC75F48920C}"/>
              </a:ext>
            </a:extLst>
          </p:cNvPr>
          <p:cNvSpPr>
            <a:spLocks noGrp="1"/>
          </p:cNvSpPr>
          <p:nvPr>
            <p:ph type="sldNum" sz="quarter" idx="12"/>
          </p:nvPr>
        </p:nvSpPr>
        <p:spPr/>
        <p:txBody>
          <a:bodyPr/>
          <a:lstStyle/>
          <a:p>
            <a:fld id="{AE4B70F8-4499-4EB5-A47F-9F74713612AE}" type="slidenum">
              <a:rPr lang="zh-TW" altLang="en-US" smtClean="0"/>
              <a:t>78</a:t>
            </a:fld>
            <a:endParaRPr lang="zh-TW" altLang="en-US" dirty="0"/>
          </a:p>
        </p:txBody>
      </p:sp>
      <p:sp>
        <p:nvSpPr>
          <p:cNvPr id="10" name="文字版面配置區 9">
            <a:extLst>
              <a:ext uri="{FF2B5EF4-FFF2-40B4-BE49-F238E27FC236}">
                <a16:creationId xmlns:a16="http://schemas.microsoft.com/office/drawing/2014/main" id="{E7D14A26-7805-AEFC-295F-93BFDEB1A44F}"/>
              </a:ext>
            </a:extLst>
          </p:cNvPr>
          <p:cNvSpPr>
            <a:spLocks noGrp="1"/>
          </p:cNvSpPr>
          <p:nvPr>
            <p:ph type="body" idx="1"/>
          </p:nvPr>
        </p:nvSpPr>
        <p:spPr/>
        <p:txBody>
          <a:bodyPr/>
          <a:lstStyle/>
          <a:p>
            <a:r>
              <a:rPr lang="en-US" altLang="zh-TW" dirty="0"/>
              <a:t>Error (209015): Can't configure device. Expected JTAG ID code 0x02E660DD for device 1, but found JTAG ID code 0x029030DD. Make sure the location of the target device on the circuit board matches the device's location in the device chain in the Chain Description File (.cdf).</a:t>
            </a:r>
          </a:p>
          <a:p>
            <a:endParaRPr lang="zh-TW" altLang="en-US" dirty="0"/>
          </a:p>
        </p:txBody>
      </p:sp>
      <p:pic>
        <p:nvPicPr>
          <p:cNvPr id="12" name="圖片 11">
            <a:extLst>
              <a:ext uri="{FF2B5EF4-FFF2-40B4-BE49-F238E27FC236}">
                <a16:creationId xmlns:a16="http://schemas.microsoft.com/office/drawing/2014/main" id="{26376E64-3F5B-B318-072B-0BC64EF48FA9}"/>
              </a:ext>
            </a:extLst>
          </p:cNvPr>
          <p:cNvPicPr>
            <a:picLocks noChangeAspect="1"/>
          </p:cNvPicPr>
          <p:nvPr/>
        </p:nvPicPr>
        <p:blipFill>
          <a:blip r:embed="rId3"/>
          <a:stretch>
            <a:fillRect/>
          </a:stretch>
        </p:blipFill>
        <p:spPr>
          <a:xfrm>
            <a:off x="32951" y="2658122"/>
            <a:ext cx="9144000" cy="881881"/>
          </a:xfrm>
          <a:prstGeom prst="rect">
            <a:avLst/>
          </a:prstGeom>
        </p:spPr>
      </p:pic>
      <p:sp>
        <p:nvSpPr>
          <p:cNvPr id="4" name="文字方塊 3">
            <a:extLst>
              <a:ext uri="{FF2B5EF4-FFF2-40B4-BE49-F238E27FC236}">
                <a16:creationId xmlns:a16="http://schemas.microsoft.com/office/drawing/2014/main" id="{B7E5657B-90D3-4832-81CC-EBB64E3B0AA3}"/>
              </a:ext>
            </a:extLst>
          </p:cNvPr>
          <p:cNvSpPr txBox="1"/>
          <p:nvPr/>
        </p:nvSpPr>
        <p:spPr>
          <a:xfrm>
            <a:off x="1082040" y="3710906"/>
            <a:ext cx="7795775" cy="646331"/>
          </a:xfrm>
          <a:prstGeom prst="rect">
            <a:avLst/>
          </a:prstGeom>
          <a:noFill/>
        </p:spPr>
        <p:txBody>
          <a:bodyPr wrap="square" rtlCol="0">
            <a:spAutoFit/>
          </a:bodyPr>
          <a:lstStyle/>
          <a:p>
            <a:r>
              <a:rPr lang="zh-TW" altLang="en-US" sz="1800" dirty="0"/>
              <a:t>代表你使用錯的</a:t>
            </a:r>
            <a:r>
              <a:rPr lang="en-US" altLang="zh-TW" sz="1800" dirty="0"/>
              <a:t>fpga</a:t>
            </a:r>
            <a:r>
              <a:rPr lang="zh-TW" altLang="en-US" sz="1800" dirty="0"/>
              <a:t>，可以去看</a:t>
            </a:r>
            <a:r>
              <a:rPr lang="en-US" altLang="zh-TW" sz="1800" dirty="0"/>
              <a:t>.qsf</a:t>
            </a:r>
            <a:r>
              <a:rPr lang="zh-TW" altLang="en-US" sz="1800" dirty="0"/>
              <a:t>檔案，裡面有設定你在使用的</a:t>
            </a:r>
            <a:r>
              <a:rPr lang="en-US" altLang="zh-TW" sz="1800" dirty="0"/>
              <a:t>fpga</a:t>
            </a:r>
            <a:r>
              <a:rPr lang="zh-TW" altLang="en-US" sz="1800" dirty="0"/>
              <a:t>型號</a:t>
            </a:r>
            <a:br>
              <a:rPr lang="en-US" altLang="zh-TW" sz="1800" dirty="0"/>
            </a:br>
            <a:r>
              <a:rPr lang="zh-TW" altLang="en-US" sz="1800" dirty="0"/>
              <a:t>記得去跟</a:t>
            </a:r>
            <a:r>
              <a:rPr lang="en-US" altLang="zh-TW" sz="1800" dirty="0"/>
              <a:t>server</a:t>
            </a:r>
            <a:r>
              <a:rPr lang="zh-TW" altLang="en-US" sz="1800" dirty="0"/>
              <a:t>上有的對照，看你是不是用錯</a:t>
            </a:r>
            <a:r>
              <a:rPr lang="en-US" altLang="zh-TW" sz="1800" dirty="0"/>
              <a:t>server</a:t>
            </a:r>
            <a:r>
              <a:rPr lang="zh-TW" altLang="en-US" sz="1800" dirty="0"/>
              <a:t>的</a:t>
            </a:r>
            <a:r>
              <a:rPr lang="en-US" altLang="zh-TW" sz="1800" dirty="0"/>
              <a:t>fpga</a:t>
            </a:r>
            <a:endParaRPr lang="zh-TW" altLang="en-US" sz="1800" dirty="0"/>
          </a:p>
        </p:txBody>
      </p:sp>
      <p:pic>
        <p:nvPicPr>
          <p:cNvPr id="6" name="圖片 5">
            <a:extLst>
              <a:ext uri="{FF2B5EF4-FFF2-40B4-BE49-F238E27FC236}">
                <a16:creationId xmlns:a16="http://schemas.microsoft.com/office/drawing/2014/main" id="{CCD937F1-CE5D-46E9-A78C-5B929E021B8C}"/>
              </a:ext>
            </a:extLst>
          </p:cNvPr>
          <p:cNvPicPr>
            <a:picLocks noChangeAspect="1"/>
          </p:cNvPicPr>
          <p:nvPr/>
        </p:nvPicPr>
        <p:blipFill>
          <a:blip r:embed="rId4"/>
          <a:stretch>
            <a:fillRect/>
          </a:stretch>
        </p:blipFill>
        <p:spPr>
          <a:xfrm>
            <a:off x="561024" y="4526971"/>
            <a:ext cx="8087854" cy="1667108"/>
          </a:xfrm>
          <a:prstGeom prst="rect">
            <a:avLst/>
          </a:prstGeom>
        </p:spPr>
      </p:pic>
    </p:spTree>
    <p:extLst>
      <p:ext uri="{BB962C8B-B14F-4D97-AF65-F5344CB8AC3E}">
        <p14:creationId xmlns:p14="http://schemas.microsoft.com/office/powerpoint/2010/main" val="275989453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FAEA67-25E8-DE09-0E8A-DE78CBFA45EF}"/>
              </a:ext>
            </a:extLst>
          </p:cNvPr>
          <p:cNvSpPr>
            <a:spLocks noGrp="1"/>
          </p:cNvSpPr>
          <p:nvPr>
            <p:ph type="title"/>
          </p:nvPr>
        </p:nvSpPr>
        <p:spPr/>
        <p:txBody>
          <a:bodyPr/>
          <a:lstStyle/>
          <a:p>
            <a:r>
              <a:rPr lang="en-US" altLang="zh-TW" dirty="0"/>
              <a:t>Example Code Reproduce</a:t>
            </a:r>
            <a:endParaRPr lang="zh-TW" altLang="en-US" dirty="0"/>
          </a:p>
        </p:txBody>
      </p:sp>
      <p:sp>
        <p:nvSpPr>
          <p:cNvPr id="3" name="投影片編號版面配置區 2">
            <a:extLst>
              <a:ext uri="{FF2B5EF4-FFF2-40B4-BE49-F238E27FC236}">
                <a16:creationId xmlns:a16="http://schemas.microsoft.com/office/drawing/2014/main" id="{F7115673-7D87-0691-9E41-77443071D1C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79</a:t>
            </a:fld>
            <a:endParaRPr lang="en-US"/>
          </a:p>
        </p:txBody>
      </p:sp>
      <p:sp>
        <p:nvSpPr>
          <p:cNvPr id="4" name="Google Shape;446;p30">
            <a:extLst>
              <a:ext uri="{FF2B5EF4-FFF2-40B4-BE49-F238E27FC236}">
                <a16:creationId xmlns:a16="http://schemas.microsoft.com/office/drawing/2014/main" id="{4FC0E626-E91D-FE07-51BB-9EEF33140F31}"/>
              </a:ext>
            </a:extLst>
          </p:cNvPr>
          <p:cNvSpPr txBox="1">
            <a:spLocks/>
          </p:cNvSpPr>
          <p:nvPr/>
        </p:nvSpPr>
        <p:spPr>
          <a:xfrm>
            <a:off x="-266700" y="1104107"/>
            <a:ext cx="7585598" cy="212824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2000"/>
            </a:pPr>
            <a:r>
              <a:rPr lang="en-US" sz="1800" dirty="0">
                <a:latin typeface="Times New Roman"/>
                <a:ea typeface="Times New Roman"/>
                <a:cs typeface="Times New Roman"/>
                <a:sym typeface="Times New Roman"/>
              </a:rPr>
              <a:t> </a:t>
            </a:r>
            <a:endParaRPr lang="en-US" sz="1800" dirty="0"/>
          </a:p>
          <a:p>
            <a:pPr marL="1143000" lvl="2" indent="-228600">
              <a:lnSpc>
                <a:spcPct val="90000"/>
              </a:lnSpc>
              <a:spcBef>
                <a:spcPts val="500"/>
              </a:spcBef>
              <a:buClr>
                <a:srgbClr val="FF0000"/>
              </a:buClr>
              <a:buSzPts val="1600"/>
              <a:buFont typeface="Arial"/>
              <a:buChar char="˗"/>
            </a:pPr>
            <a:r>
              <a:rPr lang="en-US" sz="1800" dirty="0">
                <a:solidFill>
                  <a:srgbClr val="FF0000"/>
                </a:solidFill>
                <a:latin typeface="Times New Roman"/>
                <a:ea typeface="Times New Roman"/>
                <a:cs typeface="Times New Roman"/>
                <a:sym typeface="Times New Roman"/>
              </a:rPr>
              <a:t>cd &lt;your path&gt;/riffa_2.2.2/source/c_c++/linux/x64/</a:t>
            </a:r>
            <a:r>
              <a:rPr lang="en-US" sz="1800" dirty="0" err="1">
                <a:solidFill>
                  <a:srgbClr val="FF0000"/>
                </a:solidFill>
                <a:latin typeface="Times New Roman"/>
                <a:ea typeface="Times New Roman"/>
                <a:cs typeface="Times New Roman"/>
                <a:sym typeface="Times New Roman"/>
              </a:rPr>
              <a:t>sample_app</a:t>
            </a:r>
            <a:endParaRPr lang="en-US" sz="1800" dirty="0">
              <a:solidFill>
                <a:srgbClr val="FF0000"/>
              </a:solidFill>
              <a:latin typeface="Times New Roman"/>
              <a:ea typeface="Times New Roman"/>
              <a:cs typeface="Times New Roman"/>
              <a:sym typeface="Times New Roman"/>
            </a:endParaRPr>
          </a:p>
          <a:p>
            <a:pPr marL="1143000" lvl="2" indent="-228600">
              <a:lnSpc>
                <a:spcPct val="90000"/>
              </a:lnSpc>
              <a:spcBef>
                <a:spcPts val="500"/>
              </a:spcBef>
              <a:buClr>
                <a:srgbClr val="FF0000"/>
              </a:buClr>
              <a:buSzPts val="1600"/>
              <a:buFont typeface="Arial"/>
              <a:buChar char="˗"/>
            </a:pPr>
            <a:r>
              <a:rPr lang="en-US" sz="1800" dirty="0">
                <a:solidFill>
                  <a:srgbClr val="FF0000"/>
                </a:solidFill>
                <a:latin typeface="Times New Roman"/>
                <a:ea typeface="Times New Roman"/>
                <a:cs typeface="Times New Roman"/>
                <a:sym typeface="Times New Roman"/>
              </a:rPr>
              <a:t>make</a:t>
            </a:r>
            <a:endParaRPr lang="en-US" sz="1800" dirty="0"/>
          </a:p>
          <a:p>
            <a:pPr marL="1143000" lvl="2" indent="-228600">
              <a:lnSpc>
                <a:spcPct val="90000"/>
              </a:lnSpc>
              <a:spcBef>
                <a:spcPts val="500"/>
              </a:spcBef>
              <a:buClr>
                <a:srgbClr val="FF0000"/>
              </a:buClr>
              <a:buSzPts val="1600"/>
              <a:buFont typeface="Arial"/>
              <a:buChar char="˗"/>
            </a:pPr>
            <a:r>
              <a:rPr lang="en-US" sz="1800" dirty="0">
                <a:solidFill>
                  <a:srgbClr val="FF0000"/>
                </a:solidFill>
                <a:latin typeface="Times New Roman"/>
                <a:ea typeface="Times New Roman"/>
                <a:cs typeface="Times New Roman"/>
                <a:sym typeface="Times New Roman"/>
              </a:rPr>
              <a:t>./testutil 0 		//List FPGA info</a:t>
            </a:r>
            <a:endParaRPr lang="en-US" sz="1800" dirty="0"/>
          </a:p>
          <a:p>
            <a:pPr marL="1143000" lvl="2" indent="-228600">
              <a:lnSpc>
                <a:spcPct val="90000"/>
              </a:lnSpc>
              <a:spcBef>
                <a:spcPts val="500"/>
              </a:spcBef>
              <a:buClr>
                <a:srgbClr val="FF0000"/>
              </a:buClr>
              <a:buSzPts val="1600"/>
              <a:buFont typeface="Arial"/>
              <a:buChar char="˗"/>
            </a:pPr>
            <a:r>
              <a:rPr lang="en-US" sz="1800" dirty="0">
                <a:solidFill>
                  <a:srgbClr val="FF0000"/>
                </a:solidFill>
                <a:latin typeface="Times New Roman"/>
                <a:ea typeface="Times New Roman"/>
                <a:cs typeface="Times New Roman"/>
                <a:sym typeface="Times New Roman"/>
              </a:rPr>
              <a:t>./testutil 1 0		//Reset FPGA 0</a:t>
            </a:r>
            <a:endParaRPr lang="en-US" sz="1800" dirty="0"/>
          </a:p>
          <a:p>
            <a:pPr marL="1143000" lvl="2" indent="-228600">
              <a:lnSpc>
                <a:spcPct val="90000"/>
              </a:lnSpc>
              <a:spcBef>
                <a:spcPts val="500"/>
              </a:spcBef>
              <a:buClr>
                <a:srgbClr val="FF0000"/>
              </a:buClr>
              <a:buSzPts val="1600"/>
              <a:buFont typeface="Arial"/>
              <a:buChar char="˗"/>
            </a:pPr>
            <a:r>
              <a:rPr lang="en-US" sz="1800" dirty="0">
                <a:solidFill>
                  <a:srgbClr val="FF0000"/>
                </a:solidFill>
                <a:latin typeface="Times New Roman"/>
                <a:ea typeface="Times New Roman"/>
                <a:cs typeface="Times New Roman"/>
                <a:sym typeface="Times New Roman"/>
              </a:rPr>
              <a:t>./testutil 2 numofdata</a:t>
            </a:r>
            <a:endParaRPr lang="en-US" altLang="zh-TW" sz="1800" b="1" dirty="0">
              <a:solidFill>
                <a:srgbClr val="FF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912805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D6E051-2786-488E-BC60-A3BBE8916E6D}"/>
              </a:ext>
            </a:extLst>
          </p:cNvPr>
          <p:cNvSpPr>
            <a:spLocks noGrp="1"/>
          </p:cNvSpPr>
          <p:nvPr>
            <p:ph type="title"/>
          </p:nvPr>
        </p:nvSpPr>
        <p:spPr/>
        <p:txBody>
          <a:bodyPr/>
          <a:lstStyle/>
          <a:p>
            <a:r>
              <a:rPr lang="en-US" altLang="zh-TW" dirty="0"/>
              <a:t>DRAM tutorial</a:t>
            </a:r>
            <a:endParaRPr lang="zh-TW" altLang="en-US" dirty="0"/>
          </a:p>
        </p:txBody>
      </p:sp>
      <p:sp>
        <p:nvSpPr>
          <p:cNvPr id="3" name="投影片編號版面配置區 2">
            <a:extLst>
              <a:ext uri="{FF2B5EF4-FFF2-40B4-BE49-F238E27FC236}">
                <a16:creationId xmlns:a16="http://schemas.microsoft.com/office/drawing/2014/main" id="{300BB0C0-F982-4D5B-9D53-84C957F8B8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80</a:t>
            </a:fld>
            <a:endParaRPr lang="en-US"/>
          </a:p>
        </p:txBody>
      </p:sp>
      <p:sp>
        <p:nvSpPr>
          <p:cNvPr id="4" name="內容版面配置區 2">
            <a:extLst>
              <a:ext uri="{FF2B5EF4-FFF2-40B4-BE49-F238E27FC236}">
                <a16:creationId xmlns:a16="http://schemas.microsoft.com/office/drawing/2014/main" id="{4CB9BFA9-D1F8-43AB-8772-A676F13ADAD1}"/>
              </a:ext>
            </a:extLst>
          </p:cNvPr>
          <p:cNvSpPr>
            <a:spLocks noGrp="1"/>
          </p:cNvSpPr>
          <p:nvPr/>
        </p:nvSpPr>
        <p:spPr>
          <a:xfrm>
            <a:off x="628650" y="1590301"/>
            <a:ext cx="7742266" cy="4575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dirty="0">
                <a:solidFill>
                  <a:schemeClr val="bg1">
                    <a:lumMod val="95000"/>
                  </a:schemeClr>
                </a:solidFill>
              </a:rPr>
              <a:t>External Memory Interface IP</a:t>
            </a:r>
          </a:p>
          <a:p>
            <a:r>
              <a:rPr lang="en-US" altLang="zh-TW" sz="2400" dirty="0">
                <a:solidFill>
                  <a:schemeClr val="bg1">
                    <a:lumMod val="95000"/>
                  </a:schemeClr>
                </a:solidFill>
              </a:rPr>
              <a:t>Avalon Memory-Mapped Protocol</a:t>
            </a:r>
          </a:p>
          <a:p>
            <a:r>
              <a:rPr lang="en-US" altLang="zh-TW" sz="2400" dirty="0">
                <a:solidFill>
                  <a:schemeClr val="bg1">
                    <a:lumMod val="95000"/>
                  </a:schemeClr>
                </a:solidFill>
              </a:rPr>
              <a:t>Example Code</a:t>
            </a:r>
          </a:p>
          <a:p>
            <a:r>
              <a:rPr lang="en-US" altLang="zh-TW" sz="2400" dirty="0"/>
              <a:t>Quartus Project Settings</a:t>
            </a:r>
          </a:p>
          <a:p>
            <a:r>
              <a:rPr lang="en-US" altLang="zh-TW" sz="2400" dirty="0">
                <a:solidFill>
                  <a:schemeClr val="bg1">
                    <a:lumMod val="95000"/>
                  </a:schemeClr>
                </a:solidFill>
              </a:rPr>
              <a:t>RTL Simulation with Qsys IP</a:t>
            </a:r>
          </a:p>
        </p:txBody>
      </p:sp>
    </p:spTree>
    <p:extLst>
      <p:ext uri="{BB962C8B-B14F-4D97-AF65-F5344CB8AC3E}">
        <p14:creationId xmlns:p14="http://schemas.microsoft.com/office/powerpoint/2010/main" val="35731727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0" y="543449"/>
            <a:ext cx="7886700" cy="994172"/>
          </a:xfrm>
        </p:spPr>
        <p:txBody>
          <a:bodyPr/>
          <a:lstStyle/>
          <a:p>
            <a:r>
              <a:rPr lang="en-US" altLang="zh-TW" dirty="0"/>
              <a:t>Quartus Project Settings</a:t>
            </a:r>
            <a:endParaRPr lang="zh-TW" altLang="en-US" dirty="0"/>
          </a:p>
        </p:txBody>
      </p:sp>
      <p:sp>
        <p:nvSpPr>
          <p:cNvPr id="4" name="內容版面配置區 2">
            <a:extLst>
              <a:ext uri="{FF2B5EF4-FFF2-40B4-BE49-F238E27FC236}">
                <a16:creationId xmlns:a16="http://schemas.microsoft.com/office/drawing/2014/main" id="{4CB9BFA9-D1F8-43AB-8772-A676F13ADAD1}"/>
              </a:ext>
            </a:extLst>
          </p:cNvPr>
          <p:cNvSpPr>
            <a:spLocks noGrp="1"/>
          </p:cNvSpPr>
          <p:nvPr>
            <p:ph idx="1"/>
          </p:nvPr>
        </p:nvSpPr>
        <p:spPr>
          <a:xfrm>
            <a:off x="628650" y="1324261"/>
            <a:ext cx="7886700" cy="3431381"/>
          </a:xfrm>
        </p:spPr>
        <p:txBody>
          <a:bodyPr>
            <a:normAutofit lnSpcReduction="10000"/>
          </a:bodyPr>
          <a:lstStyle/>
          <a:p>
            <a:r>
              <a:rPr lang="en-US" altLang="zh-TW" dirty="0"/>
              <a:t>Check the user manual and example projects in the CD-ROM for more information</a:t>
            </a:r>
          </a:p>
          <a:p>
            <a:pPr lvl="1"/>
            <a:r>
              <a:rPr lang="en-US" altLang="zh-TW" dirty="0"/>
              <a:t>DE5: </a:t>
            </a:r>
            <a:r>
              <a:rPr lang="en-US" altLang="zh-TW" sz="1050" dirty="0">
                <a:hlinkClick r:id="rId3"/>
              </a:rPr>
              <a:t>https://www.terasic.com.tw/cgi-bin/page/archive.pl?Language=Taiwan&amp;CategoryNo=159&amp;No=726&amp;PartNo=4</a:t>
            </a:r>
            <a:endParaRPr lang="en-US" altLang="zh-TW" sz="1050" dirty="0"/>
          </a:p>
          <a:p>
            <a:pPr lvl="1"/>
            <a:r>
              <a:rPr lang="en-US" altLang="zh-TW" dirty="0"/>
              <a:t>DE5a: </a:t>
            </a:r>
            <a:r>
              <a:rPr lang="en-US" altLang="zh-TW" sz="1050" dirty="0">
                <a:hlinkClick r:id="rId4"/>
              </a:rPr>
              <a:t>https://www.terasic.com.tw/cgi-bin/page/archive.pl?Language=Taiwan&amp;CategoryNo=2&amp;No=1138&amp;PartNo=4</a:t>
            </a:r>
            <a:endParaRPr lang="en-US" altLang="zh-TW" sz="1050" dirty="0"/>
          </a:p>
          <a:p>
            <a:pPr lvl="1"/>
            <a:r>
              <a:rPr lang="zh-TW" altLang="en-US" sz="1600" dirty="0">
                <a:latin typeface="標楷體" panose="03000509000000000000" pitchFamily="65" charset="-120"/>
                <a:ea typeface="標楷體" panose="03000509000000000000" pitchFamily="65" charset="-120"/>
              </a:rPr>
              <a:t>一般來說，需要你根據</a:t>
            </a:r>
            <a:r>
              <a:rPr lang="en-US" altLang="zh-TW" sz="1600" dirty="0">
                <a:latin typeface="標楷體" panose="03000509000000000000" pitchFamily="65" charset="-120"/>
                <a:ea typeface="標楷體" panose="03000509000000000000" pitchFamily="65" charset="-120"/>
              </a:rPr>
              <a:t>user manual</a:t>
            </a:r>
            <a:r>
              <a:rPr lang="zh-TW" altLang="en-US" sz="1600" dirty="0">
                <a:latin typeface="標楷體" panose="03000509000000000000" pitchFamily="65" charset="-120"/>
                <a:ea typeface="標楷體" panose="03000509000000000000" pitchFamily="65" charset="-120"/>
              </a:rPr>
              <a:t>建立起每個</a:t>
            </a:r>
            <a:r>
              <a:rPr lang="en-US" altLang="zh-TW" sz="1600" dirty="0">
                <a:latin typeface="標楷體" panose="03000509000000000000" pitchFamily="65" charset="-120"/>
                <a:ea typeface="標楷體" panose="03000509000000000000" pitchFamily="65" charset="-120"/>
              </a:rPr>
              <a:t>pin</a:t>
            </a:r>
            <a:r>
              <a:rPr lang="zh-TW" altLang="en-US" sz="1600" dirty="0">
                <a:latin typeface="標楷體" panose="03000509000000000000" pitchFamily="65" charset="-120"/>
                <a:ea typeface="標楷體" panose="03000509000000000000" pitchFamily="65" charset="-120"/>
              </a:rPr>
              <a:t>怎麼接起來的</a:t>
            </a:r>
            <a:r>
              <a:rPr lang="en-US" altLang="zh-TW" sz="1600" dirty="0">
                <a:latin typeface="標楷體" panose="03000509000000000000" pitchFamily="65" charset="-120"/>
                <a:ea typeface="標楷體" panose="03000509000000000000" pitchFamily="65" charset="-120"/>
              </a:rPr>
              <a:t>qsf file</a:t>
            </a:r>
            <a:r>
              <a:rPr lang="zh-TW" altLang="en-US" sz="1600" dirty="0">
                <a:latin typeface="標楷體" panose="03000509000000000000" pitchFamily="65" charset="-120"/>
                <a:ea typeface="標楷體" panose="03000509000000000000" pitchFamily="65" charset="-120"/>
              </a:rPr>
              <a:t>，幸好我們幫你做好了</a:t>
            </a:r>
            <a:r>
              <a:rPr lang="en-US" altLang="zh-TW" sz="1600" dirty="0">
                <a:latin typeface="標楷體" panose="03000509000000000000" pitchFamily="65" charset="-120"/>
                <a:ea typeface="標楷體" panose="03000509000000000000" pitchFamily="65" charset="-120"/>
              </a:rPr>
              <a:t>!</a:t>
            </a:r>
          </a:p>
          <a:p>
            <a:r>
              <a:rPr lang="en-US" altLang="zh-TW" dirty="0"/>
              <a:t>DRAM Assignment Settings</a:t>
            </a:r>
          </a:p>
          <a:p>
            <a:pPr lvl="1"/>
            <a:r>
              <a:rPr lang="en-US" altLang="zh-TW" dirty="0"/>
              <a:t>Add </a:t>
            </a:r>
            <a:r>
              <a:rPr lang="en-US" altLang="zh-TW" dirty="0">
                <a:solidFill>
                  <a:srgbClr val="FF0000"/>
                </a:solidFill>
              </a:rPr>
              <a:t>DDR4</a:t>
            </a:r>
            <a:r>
              <a:rPr lang="en-US" altLang="zh-TW" dirty="0"/>
              <a:t> and </a:t>
            </a:r>
            <a:r>
              <a:rPr lang="en-US" altLang="zh-TW" dirty="0">
                <a:solidFill>
                  <a:srgbClr val="FF0000"/>
                </a:solidFill>
              </a:rPr>
              <a:t>RZQ</a:t>
            </a:r>
            <a:r>
              <a:rPr lang="zh-TW" altLang="en-US" dirty="0"/>
              <a:t> </a:t>
            </a:r>
            <a:r>
              <a:rPr lang="en-US" altLang="zh-TW" dirty="0"/>
              <a:t>pin assignments to the </a:t>
            </a:r>
            <a:r>
              <a:rPr lang="en-US" altLang="zh-TW" dirty="0">
                <a:solidFill>
                  <a:srgbClr val="FF0000"/>
                </a:solidFill>
              </a:rPr>
              <a:t>*.qsf</a:t>
            </a:r>
            <a:r>
              <a:rPr lang="en-US" altLang="zh-TW" dirty="0"/>
              <a:t> file </a:t>
            </a:r>
          </a:p>
          <a:p>
            <a:pPr lvl="1"/>
            <a:r>
              <a:rPr lang="zh-TW" altLang="en-US" dirty="0">
                <a:latin typeface="標楷體" panose="03000509000000000000" pitchFamily="65" charset="-120"/>
                <a:ea typeface="標楷體" panose="03000509000000000000" pitchFamily="65" charset="-120"/>
              </a:rPr>
              <a:t>不同</a:t>
            </a:r>
            <a:r>
              <a:rPr lang="en-US" altLang="zh-TW" dirty="0">
                <a:latin typeface="標楷體" panose="03000509000000000000" pitchFamily="65" charset="-120"/>
                <a:ea typeface="標楷體" panose="03000509000000000000" pitchFamily="65" charset="-120"/>
              </a:rPr>
              <a:t>fpga</a:t>
            </a:r>
            <a:r>
              <a:rPr lang="zh-TW" altLang="en-US" dirty="0">
                <a:latin typeface="標楷體" panose="03000509000000000000" pitchFamily="65" charset="-120"/>
                <a:ea typeface="標楷體" panose="03000509000000000000" pitchFamily="65" charset="-120"/>
              </a:rPr>
              <a:t>有不同</a:t>
            </a:r>
            <a:r>
              <a:rPr lang="en-US" altLang="zh-TW" dirty="0">
                <a:latin typeface="標楷體" panose="03000509000000000000" pitchFamily="65" charset="-120"/>
                <a:ea typeface="標楷體" panose="03000509000000000000" pitchFamily="65" charset="-120"/>
              </a:rPr>
              <a:t>pin</a:t>
            </a:r>
            <a:r>
              <a:rPr lang="zh-TW" altLang="en-US" dirty="0">
                <a:latin typeface="標楷體" panose="03000509000000000000" pitchFamily="65" charset="-120"/>
                <a:ea typeface="標楷體" panose="03000509000000000000" pitchFamily="65" charset="-120"/>
              </a:rPr>
              <a:t>，需要自己設定如何和</a:t>
            </a:r>
            <a:r>
              <a:rPr lang="en-US" altLang="zh-TW" dirty="0">
                <a:latin typeface="標楷體" panose="03000509000000000000" pitchFamily="65" charset="-120"/>
                <a:ea typeface="標楷體" panose="03000509000000000000" pitchFamily="65" charset="-120"/>
              </a:rPr>
              <a:t>dram pins</a:t>
            </a:r>
            <a:r>
              <a:rPr lang="zh-TW" altLang="en-US" dirty="0">
                <a:latin typeface="標楷體" panose="03000509000000000000" pitchFamily="65" charset="-120"/>
                <a:ea typeface="標楷體" panose="03000509000000000000" pitchFamily="65" charset="-120"/>
              </a:rPr>
              <a:t>連接</a:t>
            </a:r>
            <a:endParaRPr lang="en-US" altLang="zh-TW" dirty="0">
              <a:latin typeface="標楷體" panose="03000509000000000000" pitchFamily="65" charset="-120"/>
              <a:ea typeface="標楷體" panose="03000509000000000000" pitchFamily="65" charset="-120"/>
            </a:endParaRPr>
          </a:p>
          <a:p>
            <a:pPr lvl="1"/>
            <a:r>
              <a:rPr lang="zh-TW" altLang="en-US" dirty="0">
                <a:latin typeface="標楷體" panose="03000509000000000000" pitchFamily="65" charset="-120"/>
                <a:ea typeface="標楷體" panose="03000509000000000000" pitchFamily="65" charset="-120"/>
              </a:rPr>
              <a:t>可以開啟</a:t>
            </a:r>
            <a:r>
              <a:rPr lang="en-US" altLang="zh-TW" dirty="0">
                <a:latin typeface="標楷體" panose="03000509000000000000" pitchFamily="65" charset="-120"/>
                <a:ea typeface="標楷體" panose="03000509000000000000" pitchFamily="65" charset="-120"/>
              </a:rPr>
              <a:t>Quartus -&gt; Setting -&gt; </a:t>
            </a:r>
            <a:r>
              <a:rPr lang="zh-TW" altLang="en-US" dirty="0">
                <a:latin typeface="標楷體" panose="03000509000000000000" pitchFamily="65" charset="-120"/>
                <a:ea typeface="標楷體" panose="03000509000000000000" pitchFamily="65" charset="-120"/>
              </a:rPr>
              <a:t>去設定</a:t>
            </a:r>
            <a:r>
              <a:rPr lang="en-US" altLang="zh-TW" dirty="0">
                <a:latin typeface="標楷體" panose="03000509000000000000" pitchFamily="65" charset="-120"/>
                <a:ea typeface="標楷體" panose="03000509000000000000" pitchFamily="65" charset="-120"/>
              </a:rPr>
              <a:t>pin</a:t>
            </a:r>
            <a:br>
              <a:rPr lang="en-US" altLang="zh-TW" dirty="0"/>
            </a:br>
            <a:endParaRPr lang="en-US" altLang="zh-TW" dirty="0"/>
          </a:p>
          <a:p>
            <a:pPr lvl="1"/>
            <a:endParaRPr lang="en-US" altLang="zh-TW" dirty="0"/>
          </a:p>
          <a:p>
            <a:pPr lvl="1"/>
            <a:endParaRPr lang="en-US" altLang="zh-TW" dirty="0"/>
          </a:p>
        </p:txBody>
      </p:sp>
      <p:sp>
        <p:nvSpPr>
          <p:cNvPr id="3" name="投影片編號版面配置區 2">
            <a:extLst>
              <a:ext uri="{FF2B5EF4-FFF2-40B4-BE49-F238E27FC236}">
                <a16:creationId xmlns:a16="http://schemas.microsoft.com/office/drawing/2014/main" id="{4400CC38-2F2D-48BB-87E1-92DA852A88A2}"/>
              </a:ext>
            </a:extLst>
          </p:cNvPr>
          <p:cNvSpPr>
            <a:spLocks noGrp="1"/>
          </p:cNvSpPr>
          <p:nvPr>
            <p:ph type="sldNum" sz="quarter" idx="12"/>
          </p:nvPr>
        </p:nvSpPr>
        <p:spPr/>
        <p:txBody>
          <a:bodyPr/>
          <a:lstStyle/>
          <a:p>
            <a:fld id="{AE4B70F8-4499-4EB5-A47F-9F74713612AE}" type="slidenum">
              <a:rPr lang="zh-TW" altLang="en-US" smtClean="0"/>
              <a:t>81</a:t>
            </a:fld>
            <a:endParaRPr lang="zh-TW" altLang="en-US" dirty="0"/>
          </a:p>
        </p:txBody>
      </p:sp>
      <p:pic>
        <p:nvPicPr>
          <p:cNvPr id="5" name="圖片 4">
            <a:extLst>
              <a:ext uri="{FF2B5EF4-FFF2-40B4-BE49-F238E27FC236}">
                <a16:creationId xmlns:a16="http://schemas.microsoft.com/office/drawing/2014/main" id="{52E80920-E3DA-4291-B71E-2F22DE1047B9}"/>
              </a:ext>
            </a:extLst>
          </p:cNvPr>
          <p:cNvPicPr>
            <a:picLocks noChangeAspect="1"/>
          </p:cNvPicPr>
          <p:nvPr/>
        </p:nvPicPr>
        <p:blipFill>
          <a:blip r:embed="rId5"/>
          <a:stretch>
            <a:fillRect/>
          </a:stretch>
        </p:blipFill>
        <p:spPr>
          <a:xfrm>
            <a:off x="1688951" y="4463421"/>
            <a:ext cx="5766098" cy="2065839"/>
          </a:xfrm>
          <a:prstGeom prst="rect">
            <a:avLst/>
          </a:prstGeom>
        </p:spPr>
      </p:pic>
    </p:spTree>
    <p:extLst>
      <p:ext uri="{BB962C8B-B14F-4D97-AF65-F5344CB8AC3E}">
        <p14:creationId xmlns:p14="http://schemas.microsoft.com/office/powerpoint/2010/main" val="34449091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589766" y="445632"/>
            <a:ext cx="7886700" cy="994172"/>
          </a:xfrm>
        </p:spPr>
        <p:txBody>
          <a:bodyPr/>
          <a:lstStyle/>
          <a:p>
            <a:r>
              <a:rPr lang="en-US" altLang="zh-TW" dirty="0"/>
              <a:t>DDR4 Qsys IP Design</a:t>
            </a:r>
            <a:endParaRPr lang="zh-TW" altLang="en-US" dirty="0"/>
          </a:p>
        </p:txBody>
      </p:sp>
      <p:sp>
        <p:nvSpPr>
          <p:cNvPr id="3" name="投影片編號版面配置區 2">
            <a:extLst>
              <a:ext uri="{FF2B5EF4-FFF2-40B4-BE49-F238E27FC236}">
                <a16:creationId xmlns:a16="http://schemas.microsoft.com/office/drawing/2014/main" id="{4400CC38-2F2D-48BB-87E1-92DA852A88A2}"/>
              </a:ext>
            </a:extLst>
          </p:cNvPr>
          <p:cNvSpPr>
            <a:spLocks noGrp="1"/>
          </p:cNvSpPr>
          <p:nvPr>
            <p:ph type="sldNum" sz="quarter" idx="12"/>
          </p:nvPr>
        </p:nvSpPr>
        <p:spPr/>
        <p:txBody>
          <a:bodyPr/>
          <a:lstStyle/>
          <a:p>
            <a:fld id="{AE4B70F8-4499-4EB5-A47F-9F74713612AE}" type="slidenum">
              <a:rPr lang="zh-TW" altLang="en-US" smtClean="0"/>
              <a:t>82</a:t>
            </a:fld>
            <a:endParaRPr lang="zh-TW" altLang="en-US" dirty="0"/>
          </a:p>
        </p:txBody>
      </p:sp>
      <p:sp>
        <p:nvSpPr>
          <p:cNvPr id="7" name="矩形 6">
            <a:extLst>
              <a:ext uri="{FF2B5EF4-FFF2-40B4-BE49-F238E27FC236}">
                <a16:creationId xmlns:a16="http://schemas.microsoft.com/office/drawing/2014/main" id="{61642E7A-A6EA-48B7-A77C-189B9F1F09B8}"/>
              </a:ext>
            </a:extLst>
          </p:cNvPr>
          <p:cNvSpPr/>
          <p:nvPr/>
        </p:nvSpPr>
        <p:spPr>
          <a:xfrm>
            <a:off x="2031064" y="3564142"/>
            <a:ext cx="1049111" cy="1401680"/>
          </a:xfrm>
          <a:prstGeom prst="rect">
            <a:avLst/>
          </a:prstGeom>
          <a:solidFill>
            <a:schemeClr val="accent1">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100" dirty="0">
                <a:solidFill>
                  <a:schemeClr val="tx1"/>
                </a:solidFill>
              </a:rPr>
              <a:t>Arria</a:t>
            </a:r>
            <a:r>
              <a:rPr lang="zh-TW" altLang="en-US" sz="2100" dirty="0">
                <a:solidFill>
                  <a:schemeClr val="tx1"/>
                </a:solidFill>
              </a:rPr>
              <a:t> </a:t>
            </a:r>
            <a:r>
              <a:rPr lang="en-US" altLang="zh-TW" sz="2100" dirty="0">
                <a:solidFill>
                  <a:schemeClr val="tx1"/>
                </a:solidFill>
              </a:rPr>
              <a:t>10 EMIF</a:t>
            </a:r>
            <a:endParaRPr lang="zh-TW" altLang="en-US" sz="2100" dirty="0">
              <a:solidFill>
                <a:schemeClr val="tx1"/>
              </a:solidFill>
            </a:endParaRPr>
          </a:p>
        </p:txBody>
      </p:sp>
      <p:sp>
        <p:nvSpPr>
          <p:cNvPr id="8" name="箭號: 左-右雙向 7">
            <a:extLst>
              <a:ext uri="{FF2B5EF4-FFF2-40B4-BE49-F238E27FC236}">
                <a16:creationId xmlns:a16="http://schemas.microsoft.com/office/drawing/2014/main" id="{4FD94E05-15DE-4FB9-8602-3FC1527D201A}"/>
              </a:ext>
            </a:extLst>
          </p:cNvPr>
          <p:cNvSpPr/>
          <p:nvPr/>
        </p:nvSpPr>
        <p:spPr>
          <a:xfrm>
            <a:off x="589766" y="4128969"/>
            <a:ext cx="1159631" cy="368584"/>
          </a:xfrm>
          <a:prstGeom prst="lef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50"/>
          </a:p>
        </p:txBody>
      </p:sp>
      <p:sp>
        <p:nvSpPr>
          <p:cNvPr id="9" name="矩形 8">
            <a:extLst>
              <a:ext uri="{FF2B5EF4-FFF2-40B4-BE49-F238E27FC236}">
                <a16:creationId xmlns:a16="http://schemas.microsoft.com/office/drawing/2014/main" id="{A4583F90-D323-4BA4-B5DC-5951749D0346}"/>
              </a:ext>
            </a:extLst>
          </p:cNvPr>
          <p:cNvSpPr/>
          <p:nvPr/>
        </p:nvSpPr>
        <p:spPr>
          <a:xfrm>
            <a:off x="6021163" y="3553740"/>
            <a:ext cx="1232265" cy="1401680"/>
          </a:xfrm>
          <a:prstGeom prst="rect">
            <a:avLst/>
          </a:prstGeom>
          <a:solidFill>
            <a:schemeClr val="accent1">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100" dirty="0">
                <a:solidFill>
                  <a:schemeClr val="tx1"/>
                </a:solidFill>
              </a:rPr>
              <a:t>Clock-Crossing Bridge</a:t>
            </a:r>
            <a:endParaRPr lang="zh-TW" altLang="en-US" sz="2100" dirty="0">
              <a:solidFill>
                <a:schemeClr val="tx1"/>
              </a:solidFill>
            </a:endParaRPr>
          </a:p>
        </p:txBody>
      </p:sp>
      <p:sp>
        <p:nvSpPr>
          <p:cNvPr id="10" name="箭號: 左-右雙向 9">
            <a:extLst>
              <a:ext uri="{FF2B5EF4-FFF2-40B4-BE49-F238E27FC236}">
                <a16:creationId xmlns:a16="http://schemas.microsoft.com/office/drawing/2014/main" id="{83EE31D3-1A5B-4F61-B772-1F36BE88261A}"/>
              </a:ext>
            </a:extLst>
          </p:cNvPr>
          <p:cNvSpPr/>
          <p:nvPr/>
        </p:nvSpPr>
        <p:spPr>
          <a:xfrm>
            <a:off x="7390486" y="4124796"/>
            <a:ext cx="1159631" cy="368584"/>
          </a:xfrm>
          <a:prstGeom prst="leftRightArrow">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50"/>
          </a:p>
        </p:txBody>
      </p:sp>
      <p:sp>
        <p:nvSpPr>
          <p:cNvPr id="11" name="文字方塊 10">
            <a:extLst>
              <a:ext uri="{FF2B5EF4-FFF2-40B4-BE49-F238E27FC236}">
                <a16:creationId xmlns:a16="http://schemas.microsoft.com/office/drawing/2014/main" id="{D86E9A0E-E144-4157-8935-D8E17FFC98BB}"/>
              </a:ext>
            </a:extLst>
          </p:cNvPr>
          <p:cNvSpPr txBox="1"/>
          <p:nvPr/>
        </p:nvSpPr>
        <p:spPr>
          <a:xfrm>
            <a:off x="290033" y="3728435"/>
            <a:ext cx="1741032" cy="369332"/>
          </a:xfrm>
          <a:prstGeom prst="rect">
            <a:avLst/>
          </a:prstGeom>
          <a:noFill/>
        </p:spPr>
        <p:txBody>
          <a:bodyPr wrap="square" rtlCol="0">
            <a:spAutoFit/>
          </a:bodyPr>
          <a:lstStyle/>
          <a:p>
            <a:pPr algn="ctr"/>
            <a:r>
              <a:rPr lang="en-US" altLang="zh-TW" sz="1800" dirty="0"/>
              <a:t>DDR4 Protocol</a:t>
            </a:r>
            <a:endParaRPr lang="zh-TW" altLang="en-US" sz="1800" dirty="0"/>
          </a:p>
        </p:txBody>
      </p:sp>
      <p:sp>
        <p:nvSpPr>
          <p:cNvPr id="13" name="矩形 12">
            <a:extLst>
              <a:ext uri="{FF2B5EF4-FFF2-40B4-BE49-F238E27FC236}">
                <a16:creationId xmlns:a16="http://schemas.microsoft.com/office/drawing/2014/main" id="{4778E063-7FEE-4D0B-82F5-4748D3002338}"/>
              </a:ext>
            </a:extLst>
          </p:cNvPr>
          <p:cNvSpPr/>
          <p:nvPr/>
        </p:nvSpPr>
        <p:spPr>
          <a:xfrm>
            <a:off x="4030059" y="3564142"/>
            <a:ext cx="1160302" cy="1401680"/>
          </a:xfrm>
          <a:prstGeom prst="rect">
            <a:avLst/>
          </a:prstGeom>
          <a:solidFill>
            <a:schemeClr val="accent1">
              <a:lumMod val="40000"/>
              <a:lumOff val="6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100" dirty="0">
                <a:solidFill>
                  <a:schemeClr val="tx1"/>
                </a:solidFill>
              </a:rPr>
              <a:t>Pipeline Bridge</a:t>
            </a:r>
            <a:endParaRPr lang="zh-TW" altLang="en-US" sz="2100" dirty="0">
              <a:solidFill>
                <a:schemeClr val="tx1"/>
              </a:solidFill>
            </a:endParaRPr>
          </a:p>
        </p:txBody>
      </p:sp>
      <p:sp>
        <p:nvSpPr>
          <p:cNvPr id="14" name="箭號: 左-右雙向 13">
            <a:extLst>
              <a:ext uri="{FF2B5EF4-FFF2-40B4-BE49-F238E27FC236}">
                <a16:creationId xmlns:a16="http://schemas.microsoft.com/office/drawing/2014/main" id="{C8FCFB22-CAC1-467E-B81D-FE63FC823F99}"/>
              </a:ext>
            </a:extLst>
          </p:cNvPr>
          <p:cNvSpPr/>
          <p:nvPr/>
        </p:nvSpPr>
        <p:spPr>
          <a:xfrm>
            <a:off x="5218264" y="4124796"/>
            <a:ext cx="665841" cy="368584"/>
          </a:xfrm>
          <a:prstGeom prst="lef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50"/>
          </a:p>
        </p:txBody>
      </p:sp>
      <p:sp>
        <p:nvSpPr>
          <p:cNvPr id="15" name="箭號: 左-右雙向 14">
            <a:extLst>
              <a:ext uri="{FF2B5EF4-FFF2-40B4-BE49-F238E27FC236}">
                <a16:creationId xmlns:a16="http://schemas.microsoft.com/office/drawing/2014/main" id="{14559BD3-1D84-4FAB-A633-2DC77EB08173}"/>
              </a:ext>
            </a:extLst>
          </p:cNvPr>
          <p:cNvSpPr/>
          <p:nvPr/>
        </p:nvSpPr>
        <p:spPr>
          <a:xfrm>
            <a:off x="3225125" y="4124796"/>
            <a:ext cx="665841" cy="368584"/>
          </a:xfrm>
          <a:prstGeom prst="leftRightArrow">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1050"/>
          </a:p>
        </p:txBody>
      </p:sp>
      <p:sp>
        <p:nvSpPr>
          <p:cNvPr id="16" name="文字方塊 15">
            <a:extLst>
              <a:ext uri="{FF2B5EF4-FFF2-40B4-BE49-F238E27FC236}">
                <a16:creationId xmlns:a16="http://schemas.microsoft.com/office/drawing/2014/main" id="{9E073402-54EF-46C1-8F1A-3EA7452A00D5}"/>
              </a:ext>
            </a:extLst>
          </p:cNvPr>
          <p:cNvSpPr txBox="1"/>
          <p:nvPr/>
        </p:nvSpPr>
        <p:spPr>
          <a:xfrm>
            <a:off x="5147699" y="3728435"/>
            <a:ext cx="804935" cy="369332"/>
          </a:xfrm>
          <a:prstGeom prst="rect">
            <a:avLst/>
          </a:prstGeom>
          <a:noFill/>
        </p:spPr>
        <p:txBody>
          <a:bodyPr wrap="square" rtlCol="0">
            <a:spAutoFit/>
          </a:bodyPr>
          <a:lstStyle/>
          <a:p>
            <a:pPr algn="ctr"/>
            <a:r>
              <a:rPr lang="en-US" altLang="zh-TW" sz="1800" dirty="0"/>
              <a:t>AMM</a:t>
            </a:r>
            <a:endParaRPr lang="zh-TW" altLang="en-US" sz="1800" dirty="0"/>
          </a:p>
        </p:txBody>
      </p:sp>
      <p:sp>
        <p:nvSpPr>
          <p:cNvPr id="17" name="文字方塊 16">
            <a:extLst>
              <a:ext uri="{FF2B5EF4-FFF2-40B4-BE49-F238E27FC236}">
                <a16:creationId xmlns:a16="http://schemas.microsoft.com/office/drawing/2014/main" id="{33E0B2CA-B562-4144-B430-069949DFDA9E}"/>
              </a:ext>
            </a:extLst>
          </p:cNvPr>
          <p:cNvSpPr txBox="1"/>
          <p:nvPr/>
        </p:nvSpPr>
        <p:spPr>
          <a:xfrm>
            <a:off x="3148705" y="3728435"/>
            <a:ext cx="804935" cy="369332"/>
          </a:xfrm>
          <a:prstGeom prst="rect">
            <a:avLst/>
          </a:prstGeom>
          <a:noFill/>
        </p:spPr>
        <p:txBody>
          <a:bodyPr wrap="square" rtlCol="0">
            <a:spAutoFit/>
          </a:bodyPr>
          <a:lstStyle/>
          <a:p>
            <a:pPr algn="ctr"/>
            <a:r>
              <a:rPr lang="en-US" altLang="zh-TW" sz="1800" dirty="0"/>
              <a:t>AMM</a:t>
            </a:r>
            <a:endParaRPr lang="zh-TW" altLang="en-US" sz="1800" dirty="0"/>
          </a:p>
        </p:txBody>
      </p:sp>
      <p:sp>
        <p:nvSpPr>
          <p:cNvPr id="18" name="文字方塊 17">
            <a:extLst>
              <a:ext uri="{FF2B5EF4-FFF2-40B4-BE49-F238E27FC236}">
                <a16:creationId xmlns:a16="http://schemas.microsoft.com/office/drawing/2014/main" id="{33BA88E5-6B82-4D43-B27D-0D7C1C474BD6}"/>
              </a:ext>
            </a:extLst>
          </p:cNvPr>
          <p:cNvSpPr txBox="1"/>
          <p:nvPr/>
        </p:nvSpPr>
        <p:spPr>
          <a:xfrm>
            <a:off x="7431768" y="4596490"/>
            <a:ext cx="1553063" cy="369332"/>
          </a:xfrm>
          <a:prstGeom prst="rect">
            <a:avLst/>
          </a:prstGeom>
          <a:noFill/>
        </p:spPr>
        <p:txBody>
          <a:bodyPr wrap="square" rtlCol="0">
            <a:spAutoFit/>
          </a:bodyPr>
          <a:lstStyle/>
          <a:p>
            <a:pPr algn="ctr"/>
            <a:r>
              <a:rPr lang="en-US" altLang="zh-TW" sz="1800" dirty="0"/>
              <a:t>To user logic</a:t>
            </a:r>
            <a:endParaRPr lang="zh-TW" altLang="en-US" sz="1800" dirty="0"/>
          </a:p>
        </p:txBody>
      </p:sp>
      <p:sp>
        <p:nvSpPr>
          <p:cNvPr id="22" name="文字方塊 21">
            <a:extLst>
              <a:ext uri="{FF2B5EF4-FFF2-40B4-BE49-F238E27FC236}">
                <a16:creationId xmlns:a16="http://schemas.microsoft.com/office/drawing/2014/main" id="{49346AFF-189E-47DF-B61B-AE67A293472C}"/>
              </a:ext>
            </a:extLst>
          </p:cNvPr>
          <p:cNvSpPr txBox="1"/>
          <p:nvPr/>
        </p:nvSpPr>
        <p:spPr>
          <a:xfrm>
            <a:off x="7467754" y="3728435"/>
            <a:ext cx="804935" cy="369332"/>
          </a:xfrm>
          <a:prstGeom prst="rect">
            <a:avLst/>
          </a:prstGeom>
          <a:noFill/>
        </p:spPr>
        <p:txBody>
          <a:bodyPr wrap="square" rtlCol="0">
            <a:spAutoFit/>
          </a:bodyPr>
          <a:lstStyle/>
          <a:p>
            <a:pPr algn="ctr"/>
            <a:r>
              <a:rPr lang="en-US" altLang="zh-TW" sz="1800" dirty="0"/>
              <a:t>AMM</a:t>
            </a:r>
            <a:endParaRPr lang="zh-TW" altLang="en-US" sz="1800" dirty="0"/>
          </a:p>
        </p:txBody>
      </p:sp>
      <p:sp>
        <p:nvSpPr>
          <p:cNvPr id="23" name="文字方塊 22">
            <a:extLst>
              <a:ext uri="{FF2B5EF4-FFF2-40B4-BE49-F238E27FC236}">
                <a16:creationId xmlns:a16="http://schemas.microsoft.com/office/drawing/2014/main" id="{1B5D1E96-CEE9-4DBB-81A0-51B8F80A70D3}"/>
              </a:ext>
            </a:extLst>
          </p:cNvPr>
          <p:cNvSpPr txBox="1"/>
          <p:nvPr/>
        </p:nvSpPr>
        <p:spPr>
          <a:xfrm>
            <a:off x="-75282" y="4671585"/>
            <a:ext cx="1330096" cy="369332"/>
          </a:xfrm>
          <a:prstGeom prst="rect">
            <a:avLst/>
          </a:prstGeom>
          <a:noFill/>
        </p:spPr>
        <p:txBody>
          <a:bodyPr wrap="square" rtlCol="0">
            <a:spAutoFit/>
          </a:bodyPr>
          <a:lstStyle/>
          <a:p>
            <a:pPr algn="ctr"/>
            <a:r>
              <a:rPr lang="en-US" altLang="zh-TW" sz="1800" dirty="0"/>
              <a:t>To DDR</a:t>
            </a:r>
            <a:endParaRPr lang="zh-TW" altLang="en-US" sz="1800" dirty="0"/>
          </a:p>
        </p:txBody>
      </p:sp>
      <p:sp>
        <p:nvSpPr>
          <p:cNvPr id="24" name="文字方塊 23">
            <a:extLst>
              <a:ext uri="{FF2B5EF4-FFF2-40B4-BE49-F238E27FC236}">
                <a16:creationId xmlns:a16="http://schemas.microsoft.com/office/drawing/2014/main" id="{3784FF56-EBBA-41B3-AED6-D46A799A96AE}"/>
              </a:ext>
            </a:extLst>
          </p:cNvPr>
          <p:cNvSpPr txBox="1"/>
          <p:nvPr/>
        </p:nvSpPr>
        <p:spPr>
          <a:xfrm>
            <a:off x="1890572" y="5028913"/>
            <a:ext cx="1330096" cy="323165"/>
          </a:xfrm>
          <a:prstGeom prst="rect">
            <a:avLst/>
          </a:prstGeom>
          <a:noFill/>
        </p:spPr>
        <p:txBody>
          <a:bodyPr wrap="square" rtlCol="0">
            <a:spAutoFit/>
          </a:bodyPr>
          <a:lstStyle/>
          <a:p>
            <a:pPr algn="ctr"/>
            <a:r>
              <a:rPr lang="en-US" altLang="zh-TW" sz="1500" i="1" dirty="0"/>
              <a:t>(300 MHz)</a:t>
            </a:r>
            <a:endParaRPr lang="zh-TW" altLang="en-US" sz="1500" i="1" dirty="0"/>
          </a:p>
        </p:txBody>
      </p:sp>
      <p:sp>
        <p:nvSpPr>
          <p:cNvPr id="25" name="文字方塊 24">
            <a:extLst>
              <a:ext uri="{FF2B5EF4-FFF2-40B4-BE49-F238E27FC236}">
                <a16:creationId xmlns:a16="http://schemas.microsoft.com/office/drawing/2014/main" id="{C058D0C4-8CA6-4506-9CAF-1712E9FCFA8F}"/>
              </a:ext>
            </a:extLst>
          </p:cNvPr>
          <p:cNvSpPr txBox="1"/>
          <p:nvPr/>
        </p:nvSpPr>
        <p:spPr>
          <a:xfrm>
            <a:off x="3890967" y="5015933"/>
            <a:ext cx="1330096" cy="323165"/>
          </a:xfrm>
          <a:prstGeom prst="rect">
            <a:avLst/>
          </a:prstGeom>
          <a:noFill/>
        </p:spPr>
        <p:txBody>
          <a:bodyPr wrap="square" rtlCol="0">
            <a:spAutoFit/>
          </a:bodyPr>
          <a:lstStyle/>
          <a:p>
            <a:pPr algn="ctr"/>
            <a:r>
              <a:rPr lang="en-US" altLang="zh-TW" sz="1500" i="1" dirty="0"/>
              <a:t>(300 MHz)</a:t>
            </a:r>
            <a:endParaRPr lang="zh-TW" altLang="en-US" sz="1500" i="1" dirty="0"/>
          </a:p>
        </p:txBody>
      </p:sp>
      <p:sp>
        <p:nvSpPr>
          <p:cNvPr id="26" name="文字方塊 25">
            <a:extLst>
              <a:ext uri="{FF2B5EF4-FFF2-40B4-BE49-F238E27FC236}">
                <a16:creationId xmlns:a16="http://schemas.microsoft.com/office/drawing/2014/main" id="{EC147EE6-1736-4F1E-B51C-165CB8F0D364}"/>
              </a:ext>
            </a:extLst>
          </p:cNvPr>
          <p:cNvSpPr txBox="1"/>
          <p:nvPr/>
        </p:nvSpPr>
        <p:spPr>
          <a:xfrm>
            <a:off x="5450076" y="5026374"/>
            <a:ext cx="2191282" cy="323165"/>
          </a:xfrm>
          <a:prstGeom prst="rect">
            <a:avLst/>
          </a:prstGeom>
          <a:noFill/>
        </p:spPr>
        <p:txBody>
          <a:bodyPr wrap="square" rtlCol="0">
            <a:spAutoFit/>
          </a:bodyPr>
          <a:lstStyle/>
          <a:p>
            <a:pPr algn="ctr"/>
            <a:r>
              <a:rPr lang="en-US" altLang="zh-TW" sz="1500" i="1" dirty="0"/>
              <a:t>(300 MHz) (user clk)</a:t>
            </a:r>
            <a:endParaRPr lang="zh-TW" altLang="en-US" sz="1500" i="1" dirty="0"/>
          </a:p>
        </p:txBody>
      </p:sp>
      <p:sp>
        <p:nvSpPr>
          <p:cNvPr id="27" name="文字方塊 26">
            <a:extLst>
              <a:ext uri="{FF2B5EF4-FFF2-40B4-BE49-F238E27FC236}">
                <a16:creationId xmlns:a16="http://schemas.microsoft.com/office/drawing/2014/main" id="{5521F0F1-F00A-4B07-BDFA-C0AF30398F0D}"/>
              </a:ext>
            </a:extLst>
          </p:cNvPr>
          <p:cNvSpPr txBox="1"/>
          <p:nvPr/>
        </p:nvSpPr>
        <p:spPr>
          <a:xfrm>
            <a:off x="7825305" y="5024010"/>
            <a:ext cx="1052510" cy="323165"/>
          </a:xfrm>
          <a:prstGeom prst="rect">
            <a:avLst/>
          </a:prstGeom>
          <a:noFill/>
        </p:spPr>
        <p:txBody>
          <a:bodyPr wrap="square" rtlCol="0">
            <a:spAutoFit/>
          </a:bodyPr>
          <a:lstStyle/>
          <a:p>
            <a:pPr algn="ctr"/>
            <a:r>
              <a:rPr lang="en-US" altLang="zh-TW" sz="1500" i="1" dirty="0"/>
              <a:t>(user clk)</a:t>
            </a:r>
            <a:endParaRPr lang="zh-TW" altLang="en-US" sz="1500" i="1" dirty="0"/>
          </a:p>
        </p:txBody>
      </p:sp>
      <p:cxnSp>
        <p:nvCxnSpPr>
          <p:cNvPr id="29" name="直線單箭頭接點 28">
            <a:extLst>
              <a:ext uri="{FF2B5EF4-FFF2-40B4-BE49-F238E27FC236}">
                <a16:creationId xmlns:a16="http://schemas.microsoft.com/office/drawing/2014/main" id="{EEFA0980-4E8A-4F59-AAFF-2E5CB59EF86B}"/>
              </a:ext>
            </a:extLst>
          </p:cNvPr>
          <p:cNvCxnSpPr>
            <a:cxnSpLocks/>
          </p:cNvCxnSpPr>
          <p:nvPr/>
        </p:nvCxnSpPr>
        <p:spPr>
          <a:xfrm>
            <a:off x="1890572" y="2645593"/>
            <a:ext cx="665047" cy="7507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文字方塊 29">
            <a:extLst>
              <a:ext uri="{FF2B5EF4-FFF2-40B4-BE49-F238E27FC236}">
                <a16:creationId xmlns:a16="http://schemas.microsoft.com/office/drawing/2014/main" id="{4D1DC49A-9F7C-45ED-A9D1-93C929C75835}"/>
              </a:ext>
            </a:extLst>
          </p:cNvPr>
          <p:cNvSpPr txBox="1"/>
          <p:nvPr/>
        </p:nvSpPr>
        <p:spPr>
          <a:xfrm>
            <a:off x="711645" y="2085249"/>
            <a:ext cx="2127298" cy="323165"/>
          </a:xfrm>
          <a:prstGeom prst="rect">
            <a:avLst/>
          </a:prstGeom>
          <a:noFill/>
        </p:spPr>
        <p:txBody>
          <a:bodyPr wrap="square" rtlCol="0">
            <a:spAutoFit/>
          </a:bodyPr>
          <a:lstStyle/>
          <a:p>
            <a:pPr algn="ctr"/>
            <a:r>
              <a:rPr lang="zh-TW" altLang="en-US" sz="1500" dirty="0"/>
              <a:t>外部記憶體控制</a:t>
            </a:r>
            <a:r>
              <a:rPr lang="en-US" altLang="zh-TW" sz="1500" dirty="0"/>
              <a:t>IP</a:t>
            </a:r>
            <a:endParaRPr lang="zh-TW" altLang="en-US" sz="1500" dirty="0"/>
          </a:p>
        </p:txBody>
      </p:sp>
      <p:cxnSp>
        <p:nvCxnSpPr>
          <p:cNvPr id="34" name="直線單箭頭接點 33">
            <a:extLst>
              <a:ext uri="{FF2B5EF4-FFF2-40B4-BE49-F238E27FC236}">
                <a16:creationId xmlns:a16="http://schemas.microsoft.com/office/drawing/2014/main" id="{E47C4D97-C822-481F-A02F-D6186DFF41D5}"/>
              </a:ext>
            </a:extLst>
          </p:cNvPr>
          <p:cNvCxnSpPr>
            <a:cxnSpLocks/>
          </p:cNvCxnSpPr>
          <p:nvPr/>
        </p:nvCxnSpPr>
        <p:spPr>
          <a:xfrm>
            <a:off x="4574386" y="2550968"/>
            <a:ext cx="0" cy="8251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文字方塊 34">
            <a:extLst>
              <a:ext uri="{FF2B5EF4-FFF2-40B4-BE49-F238E27FC236}">
                <a16:creationId xmlns:a16="http://schemas.microsoft.com/office/drawing/2014/main" id="{EFE6E36D-F35C-493C-A2D7-2B1510A2AC50}"/>
              </a:ext>
            </a:extLst>
          </p:cNvPr>
          <p:cNvSpPr txBox="1"/>
          <p:nvPr/>
        </p:nvSpPr>
        <p:spPr>
          <a:xfrm>
            <a:off x="3293177" y="1670386"/>
            <a:ext cx="2557645" cy="784830"/>
          </a:xfrm>
          <a:prstGeom prst="rect">
            <a:avLst/>
          </a:prstGeom>
          <a:noFill/>
        </p:spPr>
        <p:txBody>
          <a:bodyPr wrap="square" rtlCol="0">
            <a:spAutoFit/>
          </a:bodyPr>
          <a:lstStyle/>
          <a:p>
            <a:pPr algn="ctr"/>
            <a:r>
              <a:rPr lang="zh-TW" altLang="en-US" sz="1500" dirty="0"/>
              <a:t>避免</a:t>
            </a:r>
            <a:r>
              <a:rPr lang="en-US" altLang="zh-TW" sz="1500" dirty="0"/>
              <a:t>EMIF</a:t>
            </a:r>
            <a:r>
              <a:rPr lang="zh-TW" altLang="en-US" sz="1500" dirty="0"/>
              <a:t>和</a:t>
            </a:r>
            <a:r>
              <a:rPr lang="en-US" altLang="zh-TW" sz="1500" dirty="0"/>
              <a:t>clock-crossing bridge</a:t>
            </a:r>
            <a:r>
              <a:rPr lang="zh-TW" altLang="en-US" sz="1500" dirty="0"/>
              <a:t>中間有</a:t>
            </a:r>
            <a:r>
              <a:rPr lang="en-US" altLang="zh-TW" sz="1500" dirty="0"/>
              <a:t>timing violation</a:t>
            </a:r>
            <a:r>
              <a:rPr lang="zh-TW" altLang="en-US" sz="1500" dirty="0"/>
              <a:t>。但會使</a:t>
            </a:r>
            <a:r>
              <a:rPr lang="en-US" altLang="zh-TW" sz="1500" dirty="0"/>
              <a:t>latency</a:t>
            </a:r>
            <a:r>
              <a:rPr lang="zh-TW" altLang="en-US" sz="1500" dirty="0"/>
              <a:t>增加。可省略。</a:t>
            </a:r>
          </a:p>
        </p:txBody>
      </p:sp>
      <p:cxnSp>
        <p:nvCxnSpPr>
          <p:cNvPr id="38" name="直線單箭頭接點 37">
            <a:extLst>
              <a:ext uri="{FF2B5EF4-FFF2-40B4-BE49-F238E27FC236}">
                <a16:creationId xmlns:a16="http://schemas.microsoft.com/office/drawing/2014/main" id="{AEE3CE63-375A-488A-BB07-94959185F9A6}"/>
              </a:ext>
            </a:extLst>
          </p:cNvPr>
          <p:cNvCxnSpPr>
            <a:cxnSpLocks/>
          </p:cNvCxnSpPr>
          <p:nvPr/>
        </p:nvCxnSpPr>
        <p:spPr>
          <a:xfrm flipH="1">
            <a:off x="6549946" y="2455216"/>
            <a:ext cx="703482" cy="9371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文字方塊 38">
            <a:extLst>
              <a:ext uri="{FF2B5EF4-FFF2-40B4-BE49-F238E27FC236}">
                <a16:creationId xmlns:a16="http://schemas.microsoft.com/office/drawing/2014/main" id="{450E1F38-7D42-4C4B-960F-6BE0AEC06506}"/>
              </a:ext>
            </a:extLst>
          </p:cNvPr>
          <p:cNvSpPr txBox="1"/>
          <p:nvPr/>
        </p:nvSpPr>
        <p:spPr>
          <a:xfrm>
            <a:off x="6064703" y="1840666"/>
            <a:ext cx="2191282" cy="553998"/>
          </a:xfrm>
          <a:prstGeom prst="rect">
            <a:avLst/>
          </a:prstGeom>
          <a:noFill/>
        </p:spPr>
        <p:txBody>
          <a:bodyPr wrap="square" rtlCol="0">
            <a:spAutoFit/>
          </a:bodyPr>
          <a:lstStyle/>
          <a:p>
            <a:pPr algn="ctr"/>
            <a:r>
              <a:rPr lang="zh-TW" altLang="en-US" sz="1500" dirty="0"/>
              <a:t>處理跨越不同</a:t>
            </a:r>
            <a:r>
              <a:rPr lang="en-US" altLang="zh-TW" sz="1500" dirty="0"/>
              <a:t>clock domain</a:t>
            </a:r>
            <a:r>
              <a:rPr lang="zh-TW" altLang="en-US" sz="1500" dirty="0"/>
              <a:t>的</a:t>
            </a:r>
            <a:r>
              <a:rPr lang="en-US" altLang="zh-TW" sz="1500" dirty="0"/>
              <a:t>AMM</a:t>
            </a:r>
            <a:r>
              <a:rPr lang="zh-TW" altLang="en-US" sz="1500" dirty="0"/>
              <a:t>訊號</a:t>
            </a:r>
          </a:p>
        </p:txBody>
      </p:sp>
      <p:sp>
        <p:nvSpPr>
          <p:cNvPr id="31" name="文字方塊 30">
            <a:extLst>
              <a:ext uri="{FF2B5EF4-FFF2-40B4-BE49-F238E27FC236}">
                <a16:creationId xmlns:a16="http://schemas.microsoft.com/office/drawing/2014/main" id="{7F7497FA-C2C1-49AD-92AE-778CBBB104AD}"/>
              </a:ext>
            </a:extLst>
          </p:cNvPr>
          <p:cNvSpPr txBox="1"/>
          <p:nvPr/>
        </p:nvSpPr>
        <p:spPr>
          <a:xfrm>
            <a:off x="1562623" y="5632819"/>
            <a:ext cx="6592490" cy="523220"/>
          </a:xfrm>
          <a:prstGeom prst="rect">
            <a:avLst/>
          </a:prstGeom>
          <a:noFill/>
        </p:spPr>
        <p:txBody>
          <a:bodyPr wrap="square">
            <a:spAutoFit/>
          </a:bodyPr>
          <a:lstStyle/>
          <a:p>
            <a:r>
              <a:rPr lang="en-US" altLang="zh-TW" dirty="0"/>
              <a:t>EMIF </a:t>
            </a:r>
            <a:r>
              <a:rPr lang="zh-TW" altLang="en-US" dirty="0"/>
              <a:t>通常工作在 </a:t>
            </a:r>
            <a:r>
              <a:rPr lang="en-US" altLang="zh-TW" dirty="0"/>
              <a:t>DDR clock domain</a:t>
            </a:r>
            <a:r>
              <a:rPr lang="zh-TW" altLang="en-US" dirty="0"/>
              <a:t>，而 </a:t>
            </a:r>
            <a:r>
              <a:rPr lang="en-US" altLang="zh-TW" dirty="0"/>
              <a:t>Avalon-MM/PCIe </a:t>
            </a:r>
            <a:r>
              <a:rPr lang="zh-TW" altLang="en-US" dirty="0"/>
              <a:t>是另一個 </a:t>
            </a:r>
            <a:r>
              <a:rPr lang="en-US" altLang="zh-TW" dirty="0"/>
              <a:t>clock</a:t>
            </a:r>
            <a:r>
              <a:rPr lang="zh-TW" altLang="en-US" dirty="0"/>
              <a:t>。</a:t>
            </a:r>
            <a:endParaRPr lang="en-US" altLang="zh-TW" dirty="0"/>
          </a:p>
          <a:p>
            <a:r>
              <a:rPr lang="zh-TW" altLang="en-US" dirty="0"/>
              <a:t>你必須放一個 </a:t>
            </a:r>
            <a:r>
              <a:rPr lang="en-US" altLang="zh-TW" dirty="0"/>
              <a:t>clock crossing bridge </a:t>
            </a:r>
            <a:r>
              <a:rPr lang="zh-TW" altLang="en-US" dirty="0"/>
              <a:t>來對應不同 </a:t>
            </a:r>
            <a:r>
              <a:rPr lang="en-US" altLang="zh-TW" dirty="0"/>
              <a:t>domain </a:t>
            </a:r>
            <a:r>
              <a:rPr lang="zh-TW" altLang="en-US" dirty="0"/>
              <a:t>的 </a:t>
            </a:r>
            <a:r>
              <a:rPr lang="en-US" altLang="zh-TW" dirty="0"/>
              <a:t>master/slave </a:t>
            </a:r>
            <a:r>
              <a:rPr lang="zh-TW" altLang="en-US" dirty="0"/>
              <a:t>通訊</a:t>
            </a:r>
          </a:p>
        </p:txBody>
      </p:sp>
    </p:spTree>
    <p:extLst>
      <p:ext uri="{BB962C8B-B14F-4D97-AF65-F5344CB8AC3E}">
        <p14:creationId xmlns:p14="http://schemas.microsoft.com/office/powerpoint/2010/main" val="7891483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1" y="446616"/>
            <a:ext cx="7886700" cy="994172"/>
          </a:xfrm>
        </p:spPr>
        <p:txBody>
          <a:bodyPr/>
          <a:lstStyle/>
          <a:p>
            <a:r>
              <a:rPr lang="en-US" altLang="zh-TW" dirty="0"/>
              <a:t>DDR4 Qsys IP Design</a:t>
            </a:r>
            <a:endParaRPr lang="zh-TW" altLang="en-US" dirty="0"/>
          </a:p>
        </p:txBody>
      </p:sp>
      <p:sp>
        <p:nvSpPr>
          <p:cNvPr id="4" name="內容版面配置區 2">
            <a:extLst>
              <a:ext uri="{FF2B5EF4-FFF2-40B4-BE49-F238E27FC236}">
                <a16:creationId xmlns:a16="http://schemas.microsoft.com/office/drawing/2014/main" id="{4CB9BFA9-D1F8-43AB-8772-A676F13ADAD1}"/>
              </a:ext>
            </a:extLst>
          </p:cNvPr>
          <p:cNvSpPr>
            <a:spLocks noGrp="1"/>
          </p:cNvSpPr>
          <p:nvPr>
            <p:ph idx="1"/>
          </p:nvPr>
        </p:nvSpPr>
        <p:spPr>
          <a:xfrm>
            <a:off x="366947" y="1514193"/>
            <a:ext cx="3144339" cy="4326567"/>
          </a:xfrm>
        </p:spPr>
        <p:txBody>
          <a:bodyPr>
            <a:normAutofit lnSpcReduction="10000"/>
          </a:bodyPr>
          <a:lstStyle/>
          <a:p>
            <a:r>
              <a:rPr lang="zh-TW" altLang="en-US" sz="1800" dirty="0"/>
              <a:t>如右圖設定</a:t>
            </a:r>
            <a:r>
              <a:rPr lang="en-US" altLang="zh-TW" sz="1800" dirty="0"/>
              <a:t>IP</a:t>
            </a:r>
            <a:r>
              <a:rPr lang="zh-TW" altLang="en-US" sz="1800" dirty="0"/>
              <a:t>連線與對外接腳</a:t>
            </a:r>
            <a:r>
              <a:rPr lang="en-US" altLang="zh-TW" sz="1800" dirty="0"/>
              <a:t>(</a:t>
            </a:r>
            <a:r>
              <a:rPr lang="zh-TW" altLang="en-US" sz="1800" dirty="0"/>
              <a:t>無須更改</a:t>
            </a:r>
            <a:r>
              <a:rPr lang="en-US" altLang="zh-TW" sz="1800" dirty="0"/>
              <a:t>)</a:t>
            </a:r>
          </a:p>
          <a:p>
            <a:r>
              <a:rPr lang="zh-TW" altLang="en-US" sz="1800" dirty="0"/>
              <a:t>個別</a:t>
            </a:r>
            <a:r>
              <a:rPr lang="en-US" altLang="zh-TW" sz="1800" dirty="0"/>
              <a:t>IP</a:t>
            </a:r>
            <a:r>
              <a:rPr lang="zh-TW" altLang="en-US" sz="1800" dirty="0"/>
              <a:t>參數設定請參考</a:t>
            </a:r>
            <a:r>
              <a:rPr lang="en-US" altLang="zh-TW" sz="1800" dirty="0"/>
              <a:t>IP_Settings</a:t>
            </a:r>
            <a:r>
              <a:rPr lang="zh-TW" altLang="en-US" sz="1800" dirty="0"/>
              <a:t>資料夾</a:t>
            </a:r>
            <a:br>
              <a:rPr lang="en-US" altLang="zh-TW" sz="1800" dirty="0"/>
            </a:br>
            <a:r>
              <a:rPr lang="en-US" altLang="zh-TW" sz="1800" dirty="0"/>
              <a:t>(clk</a:t>
            </a:r>
            <a:r>
              <a:rPr lang="zh-TW" altLang="en-US" sz="1800" dirty="0"/>
              <a:t>、</a:t>
            </a:r>
            <a:r>
              <a:rPr lang="en-US" altLang="zh-TW" sz="1800" dirty="0"/>
              <a:t>pipelining</a:t>
            </a:r>
            <a:r>
              <a:rPr lang="zh-TW" altLang="en-US" sz="1800" dirty="0"/>
              <a:t>、</a:t>
            </a:r>
            <a:r>
              <a:rPr lang="en-US" altLang="zh-TW" sz="1800" dirty="0"/>
              <a:t>burst</a:t>
            </a:r>
            <a:r>
              <a:rPr lang="zh-TW" altLang="en-US" sz="1800" dirty="0"/>
              <a:t>、</a:t>
            </a:r>
            <a:r>
              <a:rPr lang="en-US" altLang="zh-TW" sz="1800" dirty="0"/>
              <a:t>FIFO</a:t>
            </a:r>
            <a:r>
              <a:rPr lang="zh-TW" altLang="en-US" sz="1800" dirty="0"/>
              <a:t>可視需求更改</a:t>
            </a:r>
            <a:r>
              <a:rPr lang="en-US" altLang="zh-TW" sz="1800" dirty="0"/>
              <a:t>)</a:t>
            </a:r>
          </a:p>
          <a:p>
            <a:r>
              <a:rPr lang="en-US" altLang="zh-TW" sz="1800" dirty="0">
                <a:solidFill>
                  <a:srgbClr val="FF0000"/>
                </a:solidFill>
              </a:rPr>
              <a:t>Example code</a:t>
            </a:r>
            <a:r>
              <a:rPr lang="zh-TW" altLang="en-US" sz="1800" dirty="0">
                <a:solidFill>
                  <a:srgbClr val="FF0000"/>
                </a:solidFill>
              </a:rPr>
              <a:t>的</a:t>
            </a:r>
            <a:r>
              <a:rPr lang="en-US" altLang="zh-TW" sz="1800" dirty="0">
                <a:solidFill>
                  <a:srgbClr val="FF0000"/>
                </a:solidFill>
              </a:rPr>
              <a:t>EMIF</a:t>
            </a:r>
            <a:r>
              <a:rPr lang="zh-TW" altLang="en-US" sz="1800" dirty="0">
                <a:solidFill>
                  <a:srgbClr val="FF0000"/>
                </a:solidFill>
              </a:rPr>
              <a:t>參數設定是直接照著</a:t>
            </a:r>
            <a:r>
              <a:rPr lang="en-US" altLang="zh-TW" sz="1800" dirty="0">
                <a:solidFill>
                  <a:srgbClr val="FF0000"/>
                </a:solidFill>
              </a:rPr>
              <a:t>DE5</a:t>
            </a:r>
            <a:r>
              <a:rPr lang="zh-TW" altLang="en-US" sz="1800" dirty="0">
                <a:solidFill>
                  <a:srgbClr val="FF0000"/>
                </a:solidFill>
              </a:rPr>
              <a:t>上裝置之</a:t>
            </a:r>
            <a:r>
              <a:rPr lang="en-US" altLang="zh-TW" sz="1800" dirty="0">
                <a:solidFill>
                  <a:srgbClr val="FF0000"/>
                </a:solidFill>
              </a:rPr>
              <a:t>DDR</a:t>
            </a:r>
            <a:r>
              <a:rPr lang="zh-TW" altLang="en-US" sz="1800" dirty="0">
                <a:solidFill>
                  <a:srgbClr val="FF0000"/>
                </a:solidFill>
              </a:rPr>
              <a:t>設的，請勿任意更改</a:t>
            </a:r>
            <a:endParaRPr lang="en-US" altLang="zh-TW" sz="1800" dirty="0">
              <a:solidFill>
                <a:srgbClr val="FF0000"/>
              </a:solidFill>
            </a:endParaRPr>
          </a:p>
          <a:p>
            <a:r>
              <a:rPr lang="zh-TW" altLang="en-US" sz="1800" dirty="0">
                <a:solidFill>
                  <a:srgbClr val="FF0000"/>
                </a:solidFill>
              </a:rPr>
              <a:t>如果想換不同</a:t>
            </a:r>
            <a:r>
              <a:rPr lang="en-US" altLang="zh-TW" sz="1800" dirty="0">
                <a:solidFill>
                  <a:srgbClr val="FF0000"/>
                </a:solidFill>
              </a:rPr>
              <a:t>fpga</a:t>
            </a:r>
            <a:r>
              <a:rPr lang="zh-TW" altLang="en-US" sz="1800" dirty="0">
                <a:solidFill>
                  <a:srgbClr val="FF0000"/>
                </a:solidFill>
              </a:rPr>
              <a:t>使用，或是換了新的</a:t>
            </a:r>
            <a:r>
              <a:rPr lang="en-US" altLang="zh-TW" sz="1800" dirty="0">
                <a:solidFill>
                  <a:srgbClr val="FF0000"/>
                </a:solidFill>
              </a:rPr>
              <a:t>DRAM</a:t>
            </a:r>
            <a:r>
              <a:rPr lang="zh-TW" altLang="en-US" sz="1800" dirty="0">
                <a:solidFill>
                  <a:srgbClr val="FF0000"/>
                </a:solidFill>
              </a:rPr>
              <a:t>，那需要去看他的</a:t>
            </a:r>
            <a:r>
              <a:rPr lang="en-US" altLang="zh-TW" sz="1800" dirty="0">
                <a:solidFill>
                  <a:srgbClr val="FF0000"/>
                </a:solidFill>
              </a:rPr>
              <a:t>DRAM</a:t>
            </a:r>
            <a:r>
              <a:rPr lang="zh-TW" altLang="en-US" sz="1800" dirty="0">
                <a:solidFill>
                  <a:srgbClr val="FF0000"/>
                </a:solidFill>
              </a:rPr>
              <a:t>設定去設置你的</a:t>
            </a:r>
            <a:r>
              <a:rPr lang="en-US" altLang="zh-TW" sz="1800" dirty="0">
                <a:solidFill>
                  <a:srgbClr val="FF0000"/>
                </a:solidFill>
              </a:rPr>
              <a:t>emif IP</a:t>
            </a:r>
            <a:r>
              <a:rPr lang="zh-TW" altLang="en-US" sz="1800" dirty="0">
                <a:solidFill>
                  <a:srgbClr val="FF0000"/>
                </a:solidFill>
              </a:rPr>
              <a:t>參數</a:t>
            </a:r>
            <a:endParaRPr lang="en-US" altLang="zh-TW" sz="1800" dirty="0">
              <a:solidFill>
                <a:srgbClr val="FF0000"/>
              </a:solidFill>
            </a:endParaRPr>
          </a:p>
          <a:p>
            <a:r>
              <a:rPr lang="zh-TW" altLang="en-US" sz="1800" dirty="0"/>
              <a:t>完成後點選</a:t>
            </a:r>
            <a:r>
              <a:rPr lang="en-US" altLang="zh-TW" sz="1800" dirty="0">
                <a:solidFill>
                  <a:srgbClr val="FF0000"/>
                </a:solidFill>
              </a:rPr>
              <a:t>generate HDL</a:t>
            </a:r>
            <a:br>
              <a:rPr lang="en-US" altLang="zh-TW" dirty="0"/>
            </a:br>
            <a:endParaRPr lang="en-US" altLang="zh-TW" dirty="0"/>
          </a:p>
          <a:p>
            <a:pPr lvl="1"/>
            <a:endParaRPr lang="en-US" altLang="zh-TW" dirty="0"/>
          </a:p>
          <a:p>
            <a:pPr lvl="1"/>
            <a:endParaRPr lang="en-US" altLang="zh-TW" dirty="0"/>
          </a:p>
        </p:txBody>
      </p:sp>
      <p:sp>
        <p:nvSpPr>
          <p:cNvPr id="3" name="投影片編號版面配置區 2">
            <a:extLst>
              <a:ext uri="{FF2B5EF4-FFF2-40B4-BE49-F238E27FC236}">
                <a16:creationId xmlns:a16="http://schemas.microsoft.com/office/drawing/2014/main" id="{4400CC38-2F2D-48BB-87E1-92DA852A88A2}"/>
              </a:ext>
            </a:extLst>
          </p:cNvPr>
          <p:cNvSpPr>
            <a:spLocks noGrp="1"/>
          </p:cNvSpPr>
          <p:nvPr>
            <p:ph type="sldNum" sz="quarter" idx="12"/>
          </p:nvPr>
        </p:nvSpPr>
        <p:spPr/>
        <p:txBody>
          <a:bodyPr/>
          <a:lstStyle/>
          <a:p>
            <a:fld id="{AE4B70F8-4499-4EB5-A47F-9F74713612AE}" type="slidenum">
              <a:rPr lang="zh-TW" altLang="en-US" smtClean="0"/>
              <a:t>83</a:t>
            </a:fld>
            <a:endParaRPr lang="zh-TW" altLang="en-US" dirty="0"/>
          </a:p>
        </p:txBody>
      </p:sp>
      <p:pic>
        <p:nvPicPr>
          <p:cNvPr id="31" name="圖片 30">
            <a:extLst>
              <a:ext uri="{FF2B5EF4-FFF2-40B4-BE49-F238E27FC236}">
                <a16:creationId xmlns:a16="http://schemas.microsoft.com/office/drawing/2014/main" id="{EC7536AB-8C61-4AB6-AB0C-7281C4AF2AD9}"/>
              </a:ext>
            </a:extLst>
          </p:cNvPr>
          <p:cNvPicPr>
            <a:picLocks noChangeAspect="1"/>
          </p:cNvPicPr>
          <p:nvPr/>
        </p:nvPicPr>
        <p:blipFill>
          <a:blip r:embed="rId3"/>
          <a:stretch>
            <a:fillRect/>
          </a:stretch>
        </p:blipFill>
        <p:spPr>
          <a:xfrm>
            <a:off x="3512108" y="1587731"/>
            <a:ext cx="5264945" cy="4326567"/>
          </a:xfrm>
          <a:prstGeom prst="rect">
            <a:avLst/>
          </a:prstGeom>
        </p:spPr>
      </p:pic>
      <p:sp>
        <p:nvSpPr>
          <p:cNvPr id="5" name="橢圓 4">
            <a:extLst>
              <a:ext uri="{FF2B5EF4-FFF2-40B4-BE49-F238E27FC236}">
                <a16:creationId xmlns:a16="http://schemas.microsoft.com/office/drawing/2014/main" id="{979603EE-BE34-4D29-9A64-015DB69478E5}"/>
              </a:ext>
            </a:extLst>
          </p:cNvPr>
          <p:cNvSpPr/>
          <p:nvPr/>
        </p:nvSpPr>
        <p:spPr>
          <a:xfrm>
            <a:off x="4320540" y="1514193"/>
            <a:ext cx="4316731" cy="184126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6668544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0" y="436721"/>
            <a:ext cx="7886700" cy="994172"/>
          </a:xfrm>
        </p:spPr>
        <p:txBody>
          <a:bodyPr/>
          <a:lstStyle/>
          <a:p>
            <a:r>
              <a:rPr lang="en-US" altLang="zh-TW" dirty="0"/>
              <a:t>Quartus Top Module</a:t>
            </a:r>
            <a:endParaRPr lang="zh-TW" altLang="en-US" dirty="0"/>
          </a:p>
        </p:txBody>
      </p:sp>
      <p:sp>
        <p:nvSpPr>
          <p:cNvPr id="4" name="內容版面配置區 2">
            <a:extLst>
              <a:ext uri="{FF2B5EF4-FFF2-40B4-BE49-F238E27FC236}">
                <a16:creationId xmlns:a16="http://schemas.microsoft.com/office/drawing/2014/main" id="{4CB9BFA9-D1F8-43AB-8772-A676F13ADAD1}"/>
              </a:ext>
            </a:extLst>
          </p:cNvPr>
          <p:cNvSpPr>
            <a:spLocks noGrp="1"/>
          </p:cNvSpPr>
          <p:nvPr>
            <p:ph idx="1"/>
          </p:nvPr>
        </p:nvSpPr>
        <p:spPr>
          <a:xfrm>
            <a:off x="582540" y="1605305"/>
            <a:ext cx="3943350" cy="3431381"/>
          </a:xfrm>
        </p:spPr>
        <p:txBody>
          <a:bodyPr>
            <a:normAutofit/>
          </a:bodyPr>
          <a:lstStyle/>
          <a:p>
            <a:r>
              <a:rPr lang="zh-TW" altLang="en-US" sz="1800" dirty="0"/>
              <a:t>對外</a:t>
            </a:r>
            <a:r>
              <a:rPr lang="en-US" altLang="zh-TW" sz="1800" dirty="0"/>
              <a:t>DDR pin</a:t>
            </a:r>
            <a:r>
              <a:rPr lang="zh-TW" altLang="en-US" sz="1800" dirty="0"/>
              <a:t>。</a:t>
            </a:r>
            <a:endParaRPr lang="en-US" altLang="zh-TW" sz="1800" dirty="0"/>
          </a:p>
          <a:p>
            <a:r>
              <a:rPr lang="en-US" altLang="zh-TW" sz="1800" dirty="0"/>
              <a:t>DDR4 IP</a:t>
            </a:r>
            <a:r>
              <a:rPr lang="zh-TW" altLang="en-US" sz="1800" dirty="0"/>
              <a:t> </a:t>
            </a:r>
            <a:r>
              <a:rPr lang="en-US" altLang="zh-TW" sz="1800" dirty="0"/>
              <a:t>instance</a:t>
            </a:r>
            <a:r>
              <a:rPr lang="zh-TW" altLang="en-US" sz="1800" dirty="0"/>
              <a:t>與對應接腳。</a:t>
            </a:r>
            <a:endParaRPr lang="en-US" altLang="zh-TW" sz="1800" dirty="0"/>
          </a:p>
          <a:p>
            <a:r>
              <a:rPr lang="en-US" altLang="zh-TW" sz="1800" dirty="0">
                <a:solidFill>
                  <a:srgbClr val="FF0000"/>
                </a:solidFill>
              </a:rPr>
              <a:t>Reset</a:t>
            </a:r>
            <a:r>
              <a:rPr lang="zh-TW" altLang="en-US" sz="1800" dirty="0">
                <a:solidFill>
                  <a:srgbClr val="FF0000"/>
                </a:solidFill>
              </a:rPr>
              <a:t>訊號是</a:t>
            </a:r>
            <a:r>
              <a:rPr lang="en-US" altLang="zh-TW" sz="1800" dirty="0">
                <a:solidFill>
                  <a:srgbClr val="FF0000"/>
                </a:solidFill>
              </a:rPr>
              <a:t>active low</a:t>
            </a:r>
            <a:r>
              <a:rPr lang="zh-TW" altLang="en-US" sz="1800" dirty="0">
                <a:solidFill>
                  <a:srgbClr val="FF0000"/>
                </a:solidFill>
              </a:rPr>
              <a:t>，與</a:t>
            </a:r>
            <a:r>
              <a:rPr lang="en-US" altLang="zh-TW" sz="1800" dirty="0">
                <a:solidFill>
                  <a:srgbClr val="FF0000"/>
                </a:solidFill>
              </a:rPr>
              <a:t>riffa reset</a:t>
            </a:r>
            <a:r>
              <a:rPr lang="zh-TW" altLang="en-US" sz="1800" dirty="0">
                <a:solidFill>
                  <a:srgbClr val="FF0000"/>
                </a:solidFill>
              </a:rPr>
              <a:t>反相。</a:t>
            </a:r>
            <a:endParaRPr lang="en-US" altLang="zh-TW" sz="1800" dirty="0">
              <a:solidFill>
                <a:srgbClr val="FF0000"/>
              </a:solidFill>
            </a:endParaRPr>
          </a:p>
          <a:p>
            <a:endParaRPr lang="en-US" altLang="zh-TW" sz="1800" dirty="0">
              <a:solidFill>
                <a:srgbClr val="FF0000"/>
              </a:solidFill>
            </a:endParaRPr>
          </a:p>
          <a:p>
            <a:endParaRPr lang="en-US" altLang="zh-TW" sz="1800" dirty="0">
              <a:solidFill>
                <a:srgbClr val="FF0000"/>
              </a:solidFill>
            </a:endParaRPr>
          </a:p>
          <a:p>
            <a:endParaRPr lang="en-US" altLang="zh-TW" sz="1800" dirty="0">
              <a:solidFill>
                <a:srgbClr val="FF0000"/>
              </a:solidFill>
            </a:endParaRPr>
          </a:p>
          <a:p>
            <a:r>
              <a:rPr lang="en-US" altLang="zh-TW" sz="1800" dirty="0"/>
              <a:t>chnl_tester</a:t>
            </a:r>
            <a:r>
              <a:rPr lang="zh-TW" altLang="en-US" sz="1800" dirty="0"/>
              <a:t>與</a:t>
            </a:r>
            <a:r>
              <a:rPr lang="en-US" altLang="zh-TW" sz="1800" dirty="0"/>
              <a:t>DDR4 IP</a:t>
            </a:r>
            <a:r>
              <a:rPr lang="zh-TW" altLang="en-US" sz="1800" dirty="0"/>
              <a:t>的接口</a:t>
            </a:r>
            <a:br>
              <a:rPr lang="en-US" altLang="zh-TW" dirty="0"/>
            </a:br>
            <a:endParaRPr lang="en-US" altLang="zh-TW" dirty="0"/>
          </a:p>
          <a:p>
            <a:pPr lvl="1"/>
            <a:endParaRPr lang="en-US" altLang="zh-TW" dirty="0"/>
          </a:p>
          <a:p>
            <a:pPr lvl="1"/>
            <a:endParaRPr lang="en-US" altLang="zh-TW" dirty="0"/>
          </a:p>
        </p:txBody>
      </p:sp>
      <p:sp>
        <p:nvSpPr>
          <p:cNvPr id="3" name="投影片編號版面配置區 2">
            <a:extLst>
              <a:ext uri="{FF2B5EF4-FFF2-40B4-BE49-F238E27FC236}">
                <a16:creationId xmlns:a16="http://schemas.microsoft.com/office/drawing/2014/main" id="{4400CC38-2F2D-48BB-87E1-92DA852A88A2}"/>
              </a:ext>
            </a:extLst>
          </p:cNvPr>
          <p:cNvSpPr>
            <a:spLocks noGrp="1"/>
          </p:cNvSpPr>
          <p:nvPr>
            <p:ph type="sldNum" sz="quarter" idx="12"/>
          </p:nvPr>
        </p:nvSpPr>
        <p:spPr/>
        <p:txBody>
          <a:bodyPr/>
          <a:lstStyle/>
          <a:p>
            <a:fld id="{AE4B70F8-4499-4EB5-A47F-9F74713612AE}" type="slidenum">
              <a:rPr lang="zh-TW" altLang="en-US" smtClean="0"/>
              <a:t>84</a:t>
            </a:fld>
            <a:endParaRPr lang="zh-TW" altLang="en-US" dirty="0"/>
          </a:p>
        </p:txBody>
      </p:sp>
      <p:pic>
        <p:nvPicPr>
          <p:cNvPr id="6" name="圖片 5">
            <a:extLst>
              <a:ext uri="{FF2B5EF4-FFF2-40B4-BE49-F238E27FC236}">
                <a16:creationId xmlns:a16="http://schemas.microsoft.com/office/drawing/2014/main" id="{DD13CF90-5895-4878-ACC6-2610219D57A0}"/>
              </a:ext>
            </a:extLst>
          </p:cNvPr>
          <p:cNvPicPr>
            <a:picLocks noChangeAspect="1"/>
          </p:cNvPicPr>
          <p:nvPr/>
        </p:nvPicPr>
        <p:blipFill rotWithShape="1">
          <a:blip r:embed="rId3"/>
          <a:srcRect r="34346"/>
          <a:stretch/>
        </p:blipFill>
        <p:spPr>
          <a:xfrm>
            <a:off x="4711660" y="944216"/>
            <a:ext cx="4416613" cy="5143500"/>
          </a:xfrm>
          <a:prstGeom prst="rect">
            <a:avLst/>
          </a:prstGeom>
        </p:spPr>
      </p:pic>
      <p:cxnSp>
        <p:nvCxnSpPr>
          <p:cNvPr id="7" name="直線單箭頭接點 6">
            <a:extLst>
              <a:ext uri="{FF2B5EF4-FFF2-40B4-BE49-F238E27FC236}">
                <a16:creationId xmlns:a16="http://schemas.microsoft.com/office/drawing/2014/main" id="{B698E151-B822-443C-8465-EB1A8E00E879}"/>
              </a:ext>
            </a:extLst>
          </p:cNvPr>
          <p:cNvCxnSpPr>
            <a:cxnSpLocks/>
          </p:cNvCxnSpPr>
          <p:nvPr/>
        </p:nvCxnSpPr>
        <p:spPr>
          <a:xfrm>
            <a:off x="4335780" y="3657600"/>
            <a:ext cx="374511" cy="594665"/>
          </a:xfrm>
          <a:prstGeom prst="straightConnector1">
            <a:avLst/>
          </a:prstGeom>
          <a:ln w="571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9" name="文字方塊 8">
            <a:extLst>
              <a:ext uri="{FF2B5EF4-FFF2-40B4-BE49-F238E27FC236}">
                <a16:creationId xmlns:a16="http://schemas.microsoft.com/office/drawing/2014/main" id="{A6F7FCEC-FFF9-45F8-A53E-8A58D8EE0CD0}"/>
              </a:ext>
            </a:extLst>
          </p:cNvPr>
          <p:cNvSpPr txBox="1"/>
          <p:nvPr/>
        </p:nvSpPr>
        <p:spPr>
          <a:xfrm>
            <a:off x="2181066" y="2980359"/>
            <a:ext cx="2253773" cy="1015663"/>
          </a:xfrm>
          <a:prstGeom prst="rect">
            <a:avLst/>
          </a:prstGeom>
          <a:noFill/>
        </p:spPr>
        <p:txBody>
          <a:bodyPr wrap="square" rtlCol="0">
            <a:spAutoFit/>
          </a:bodyPr>
          <a:lstStyle/>
          <a:p>
            <a:pPr algn="ctr"/>
            <a:r>
              <a:rPr lang="en-US" altLang="zh-TW" sz="1500" dirty="0"/>
              <a:t>EMIF</a:t>
            </a:r>
            <a:r>
              <a:rPr lang="zh-TW" altLang="en-US" sz="1500" dirty="0"/>
              <a:t>校正狀態訊號</a:t>
            </a:r>
            <a:br>
              <a:rPr lang="en-US" altLang="zh-TW" sz="1500" dirty="0"/>
            </a:br>
            <a:r>
              <a:rPr lang="zh-TW" altLang="en-US" sz="1500" dirty="0"/>
              <a:t>只有剛啟動時會出現</a:t>
            </a:r>
            <a:br>
              <a:rPr lang="en-US" altLang="zh-TW" sz="1500" dirty="0"/>
            </a:br>
            <a:r>
              <a:rPr lang="zh-TW" altLang="en-US" sz="1500" dirty="0"/>
              <a:t>當</a:t>
            </a:r>
            <a:r>
              <a:rPr lang="en-US" altLang="zh-TW" sz="1500" dirty="0"/>
              <a:t>success</a:t>
            </a:r>
            <a:r>
              <a:rPr lang="zh-TW" altLang="en-US" sz="1500" dirty="0"/>
              <a:t>非</a:t>
            </a:r>
            <a:r>
              <a:rPr lang="en-US" altLang="zh-TW" sz="1500" dirty="0"/>
              <a:t>1</a:t>
            </a:r>
            <a:r>
              <a:rPr lang="zh-TW" altLang="en-US" sz="1500" dirty="0"/>
              <a:t>時</a:t>
            </a:r>
            <a:br>
              <a:rPr lang="en-US" altLang="zh-TW" sz="1500" dirty="0"/>
            </a:br>
            <a:r>
              <a:rPr lang="zh-TW" altLang="en-US" sz="1500" dirty="0"/>
              <a:t>不能以</a:t>
            </a:r>
            <a:r>
              <a:rPr lang="en-US" altLang="zh-TW" sz="1500" dirty="0"/>
              <a:t>AMM</a:t>
            </a:r>
            <a:r>
              <a:rPr lang="zh-TW" altLang="en-US" sz="1500" dirty="0"/>
              <a:t>與</a:t>
            </a:r>
            <a:r>
              <a:rPr lang="en-US" altLang="zh-TW" sz="1500" dirty="0"/>
              <a:t>EMIF</a:t>
            </a:r>
            <a:r>
              <a:rPr lang="zh-TW" altLang="en-US" sz="1500" dirty="0"/>
              <a:t>溝通</a:t>
            </a:r>
          </a:p>
        </p:txBody>
      </p:sp>
      <p:sp>
        <p:nvSpPr>
          <p:cNvPr id="10" name="左大括弧 9">
            <a:extLst>
              <a:ext uri="{FF2B5EF4-FFF2-40B4-BE49-F238E27FC236}">
                <a16:creationId xmlns:a16="http://schemas.microsoft.com/office/drawing/2014/main" id="{AB9F211E-3855-48CF-A681-27314CF0CA1D}"/>
              </a:ext>
            </a:extLst>
          </p:cNvPr>
          <p:cNvSpPr/>
          <p:nvPr/>
        </p:nvSpPr>
        <p:spPr>
          <a:xfrm>
            <a:off x="4519331" y="4286306"/>
            <a:ext cx="285750" cy="1629170"/>
          </a:xfrm>
          <a:prstGeom prst="leftBrace">
            <a:avLst>
              <a:gd name="adj1" fmla="val 148333"/>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050"/>
          </a:p>
        </p:txBody>
      </p:sp>
      <p:cxnSp>
        <p:nvCxnSpPr>
          <p:cNvPr id="11" name="直線單箭頭接點 10">
            <a:extLst>
              <a:ext uri="{FF2B5EF4-FFF2-40B4-BE49-F238E27FC236}">
                <a16:creationId xmlns:a16="http://schemas.microsoft.com/office/drawing/2014/main" id="{70327E9B-42F3-4719-A63B-EFFDF884528E}"/>
              </a:ext>
            </a:extLst>
          </p:cNvPr>
          <p:cNvCxnSpPr>
            <a:cxnSpLocks/>
          </p:cNvCxnSpPr>
          <p:nvPr/>
        </p:nvCxnSpPr>
        <p:spPr>
          <a:xfrm>
            <a:off x="3980432" y="4653445"/>
            <a:ext cx="438821" cy="557653"/>
          </a:xfrm>
          <a:prstGeom prst="straightConnector1">
            <a:avLst/>
          </a:prstGeom>
          <a:ln w="571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左大括弧 11">
            <a:extLst>
              <a:ext uri="{FF2B5EF4-FFF2-40B4-BE49-F238E27FC236}">
                <a16:creationId xmlns:a16="http://schemas.microsoft.com/office/drawing/2014/main" id="{E4EAE23A-CD01-4FE3-B032-601018406D97}"/>
              </a:ext>
            </a:extLst>
          </p:cNvPr>
          <p:cNvSpPr/>
          <p:nvPr/>
        </p:nvSpPr>
        <p:spPr>
          <a:xfrm>
            <a:off x="4519331" y="1859280"/>
            <a:ext cx="285750" cy="2339820"/>
          </a:xfrm>
          <a:prstGeom prst="leftBrace">
            <a:avLst>
              <a:gd name="adj1" fmla="val 148333"/>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050"/>
          </a:p>
        </p:txBody>
      </p:sp>
      <p:cxnSp>
        <p:nvCxnSpPr>
          <p:cNvPr id="14" name="直線單箭頭接點 13">
            <a:extLst>
              <a:ext uri="{FF2B5EF4-FFF2-40B4-BE49-F238E27FC236}">
                <a16:creationId xmlns:a16="http://schemas.microsoft.com/office/drawing/2014/main" id="{23B87246-C679-4C3C-A8A8-FF1C9D32443C}"/>
              </a:ext>
            </a:extLst>
          </p:cNvPr>
          <p:cNvCxnSpPr>
            <a:cxnSpLocks/>
          </p:cNvCxnSpPr>
          <p:nvPr/>
        </p:nvCxnSpPr>
        <p:spPr>
          <a:xfrm>
            <a:off x="4133179" y="2384279"/>
            <a:ext cx="438821" cy="557653"/>
          </a:xfrm>
          <a:prstGeom prst="straightConnector1">
            <a:avLst/>
          </a:prstGeom>
          <a:ln w="571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8" name="矩形: 圓角 7">
            <a:extLst>
              <a:ext uri="{FF2B5EF4-FFF2-40B4-BE49-F238E27FC236}">
                <a16:creationId xmlns:a16="http://schemas.microsoft.com/office/drawing/2014/main" id="{55E41537-4A9D-4351-9FAF-51971B5E4211}"/>
              </a:ext>
            </a:extLst>
          </p:cNvPr>
          <p:cNvSpPr/>
          <p:nvPr/>
        </p:nvSpPr>
        <p:spPr>
          <a:xfrm>
            <a:off x="4919322" y="4236928"/>
            <a:ext cx="4185501" cy="98755"/>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2FD7D542-0965-4C29-B91C-12D55A03FE0B}"/>
              </a:ext>
            </a:extLst>
          </p:cNvPr>
          <p:cNvSpPr txBox="1"/>
          <p:nvPr/>
        </p:nvSpPr>
        <p:spPr>
          <a:xfrm>
            <a:off x="628650" y="1405250"/>
            <a:ext cx="739140" cy="400110"/>
          </a:xfrm>
          <a:prstGeom prst="rect">
            <a:avLst/>
          </a:prstGeom>
          <a:noFill/>
        </p:spPr>
        <p:txBody>
          <a:bodyPr wrap="square" rtlCol="0">
            <a:spAutoFit/>
          </a:bodyPr>
          <a:lstStyle/>
          <a:p>
            <a:r>
              <a:rPr lang="zh-TW" altLang="en-US" sz="2000" b="1" dirty="0"/>
              <a:t>包含</a:t>
            </a:r>
            <a:r>
              <a:rPr lang="en-US" altLang="zh-TW" sz="2000" b="1" dirty="0"/>
              <a:t>:</a:t>
            </a:r>
            <a:endParaRPr lang="zh-TW" altLang="en-US" sz="2000" b="1" dirty="0"/>
          </a:p>
        </p:txBody>
      </p:sp>
    </p:spTree>
    <p:extLst>
      <p:ext uri="{BB962C8B-B14F-4D97-AF65-F5344CB8AC3E}">
        <p14:creationId xmlns:p14="http://schemas.microsoft.com/office/powerpoint/2010/main" val="22570454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49" y="550485"/>
            <a:ext cx="7886700" cy="994172"/>
          </a:xfrm>
        </p:spPr>
        <p:txBody>
          <a:bodyPr/>
          <a:lstStyle/>
          <a:p>
            <a:r>
              <a:rPr lang="en-US" altLang="zh-TW" dirty="0"/>
              <a:t>SDC</a:t>
            </a:r>
            <a:r>
              <a:rPr lang="zh-TW" altLang="en-US" dirty="0"/>
              <a:t> </a:t>
            </a:r>
            <a:r>
              <a:rPr lang="en-US" altLang="zh-TW" dirty="0"/>
              <a:t>File</a:t>
            </a:r>
            <a:endParaRPr lang="zh-TW" altLang="en-US" dirty="0"/>
          </a:p>
        </p:txBody>
      </p:sp>
      <p:sp>
        <p:nvSpPr>
          <p:cNvPr id="3" name="投影片編號版面配置區 2">
            <a:extLst>
              <a:ext uri="{FF2B5EF4-FFF2-40B4-BE49-F238E27FC236}">
                <a16:creationId xmlns:a16="http://schemas.microsoft.com/office/drawing/2014/main" id="{4400CC38-2F2D-48BB-87E1-92DA852A88A2}"/>
              </a:ext>
            </a:extLst>
          </p:cNvPr>
          <p:cNvSpPr>
            <a:spLocks noGrp="1"/>
          </p:cNvSpPr>
          <p:nvPr>
            <p:ph type="sldNum" sz="quarter" idx="12"/>
          </p:nvPr>
        </p:nvSpPr>
        <p:spPr/>
        <p:txBody>
          <a:bodyPr/>
          <a:lstStyle/>
          <a:p>
            <a:fld id="{AE4B70F8-4499-4EB5-A47F-9F74713612AE}" type="slidenum">
              <a:rPr lang="zh-TW" altLang="en-US" smtClean="0"/>
              <a:t>85</a:t>
            </a:fld>
            <a:endParaRPr lang="zh-TW" altLang="en-US" dirty="0"/>
          </a:p>
        </p:txBody>
      </p:sp>
      <p:sp>
        <p:nvSpPr>
          <p:cNvPr id="15" name="內容版面配置區 2">
            <a:extLst>
              <a:ext uri="{FF2B5EF4-FFF2-40B4-BE49-F238E27FC236}">
                <a16:creationId xmlns:a16="http://schemas.microsoft.com/office/drawing/2014/main" id="{5EC05966-58D6-4C28-BA02-66F2933637C7}"/>
              </a:ext>
            </a:extLst>
          </p:cNvPr>
          <p:cNvSpPr>
            <a:spLocks noGrp="1"/>
          </p:cNvSpPr>
          <p:nvPr>
            <p:ph idx="1"/>
          </p:nvPr>
        </p:nvSpPr>
        <p:spPr>
          <a:xfrm>
            <a:off x="628649" y="1386170"/>
            <a:ext cx="7633608" cy="3769039"/>
          </a:xfrm>
        </p:spPr>
        <p:txBody>
          <a:bodyPr>
            <a:normAutofit/>
          </a:bodyPr>
          <a:lstStyle/>
          <a:p>
            <a:r>
              <a:rPr lang="en-US" altLang="zh-TW" dirty="0"/>
              <a:t>EMIF IP status signals to user logic and clock-crossing bridge</a:t>
            </a:r>
            <a:br>
              <a:rPr lang="en-US" altLang="zh-TW" dirty="0"/>
            </a:br>
            <a:r>
              <a:rPr lang="en-US" altLang="zh-TW" sz="1500" dirty="0"/>
              <a:t>(EMIF</a:t>
            </a:r>
            <a:r>
              <a:rPr lang="zh-TW" altLang="en-US" sz="1500" dirty="0"/>
              <a:t>校正狀態訊號並未經過</a:t>
            </a:r>
            <a:r>
              <a:rPr lang="en-US" altLang="zh-TW" sz="1500" dirty="0"/>
              <a:t>clock-crossing</a:t>
            </a:r>
            <a:r>
              <a:rPr lang="zh-TW" altLang="en-US" sz="1500" dirty="0"/>
              <a:t>處理，且僅初始化時變動，故設</a:t>
            </a:r>
            <a:r>
              <a:rPr lang="en-US" altLang="zh-TW" sz="1500" dirty="0"/>
              <a:t>false path)</a:t>
            </a:r>
          </a:p>
          <a:p>
            <a:endParaRPr lang="en-US" altLang="zh-TW" dirty="0"/>
          </a:p>
          <a:p>
            <a:endParaRPr lang="en-US" altLang="zh-TW" dirty="0"/>
          </a:p>
          <a:p>
            <a:r>
              <a:rPr lang="en-US" altLang="zh-TW" dirty="0"/>
              <a:t>RIFFA reset signal to Altera EMIF IP (recover time violation)</a:t>
            </a:r>
            <a:br>
              <a:rPr lang="en-US" altLang="zh-TW" dirty="0"/>
            </a:br>
            <a:r>
              <a:rPr lang="en-US" altLang="zh-TW" sz="1500" dirty="0"/>
              <a:t>(EMIF</a:t>
            </a:r>
            <a:r>
              <a:rPr lang="zh-TW" altLang="en-US" sz="1500" dirty="0"/>
              <a:t>內部有</a:t>
            </a:r>
            <a:r>
              <a:rPr lang="en-US" altLang="zh-TW" sz="1500" dirty="0"/>
              <a:t>reset synchronizer</a:t>
            </a:r>
            <a:r>
              <a:rPr lang="zh-TW" altLang="en-US" sz="1500" dirty="0"/>
              <a:t>，故可忽略</a:t>
            </a:r>
            <a:r>
              <a:rPr lang="en-US" altLang="zh-TW" sz="1500" dirty="0"/>
              <a:t>input async reset</a:t>
            </a:r>
            <a:r>
              <a:rPr lang="zh-TW" altLang="en-US" sz="1500" dirty="0"/>
              <a:t>的</a:t>
            </a:r>
            <a:r>
              <a:rPr lang="en-US" altLang="zh-TW" sz="1500" dirty="0"/>
              <a:t>recover time violation)</a:t>
            </a:r>
            <a:endParaRPr lang="en-US" altLang="zh-TW" dirty="0"/>
          </a:p>
        </p:txBody>
      </p:sp>
      <p:pic>
        <p:nvPicPr>
          <p:cNvPr id="16" name="圖片 15">
            <a:extLst>
              <a:ext uri="{FF2B5EF4-FFF2-40B4-BE49-F238E27FC236}">
                <a16:creationId xmlns:a16="http://schemas.microsoft.com/office/drawing/2014/main" id="{A137E448-BADF-46E6-9E1A-9DB111F844A5}"/>
              </a:ext>
            </a:extLst>
          </p:cNvPr>
          <p:cNvPicPr>
            <a:picLocks noChangeAspect="1"/>
          </p:cNvPicPr>
          <p:nvPr/>
        </p:nvPicPr>
        <p:blipFill>
          <a:blip r:embed="rId3"/>
          <a:stretch>
            <a:fillRect/>
          </a:stretch>
        </p:blipFill>
        <p:spPr>
          <a:xfrm>
            <a:off x="453968" y="2193573"/>
            <a:ext cx="8236060" cy="626939"/>
          </a:xfrm>
          <a:prstGeom prst="rect">
            <a:avLst/>
          </a:prstGeom>
        </p:spPr>
      </p:pic>
      <p:pic>
        <p:nvPicPr>
          <p:cNvPr id="17" name="圖片 16">
            <a:extLst>
              <a:ext uri="{FF2B5EF4-FFF2-40B4-BE49-F238E27FC236}">
                <a16:creationId xmlns:a16="http://schemas.microsoft.com/office/drawing/2014/main" id="{E3D20CC1-49AC-4E6B-B08B-BAC1FC7DE3A4}"/>
              </a:ext>
            </a:extLst>
          </p:cNvPr>
          <p:cNvPicPr>
            <a:picLocks noChangeAspect="1"/>
          </p:cNvPicPr>
          <p:nvPr/>
        </p:nvPicPr>
        <p:blipFill>
          <a:blip r:embed="rId4"/>
          <a:stretch>
            <a:fillRect/>
          </a:stretch>
        </p:blipFill>
        <p:spPr>
          <a:xfrm>
            <a:off x="2000653" y="3656197"/>
            <a:ext cx="5142689" cy="471853"/>
          </a:xfrm>
          <a:prstGeom prst="rect">
            <a:avLst/>
          </a:prstGeom>
        </p:spPr>
      </p:pic>
      <p:pic>
        <p:nvPicPr>
          <p:cNvPr id="5" name="圖片 4">
            <a:extLst>
              <a:ext uri="{FF2B5EF4-FFF2-40B4-BE49-F238E27FC236}">
                <a16:creationId xmlns:a16="http://schemas.microsoft.com/office/drawing/2014/main" id="{AE69685D-C6DB-4B5A-9874-4B648388B895}"/>
              </a:ext>
            </a:extLst>
          </p:cNvPr>
          <p:cNvPicPr>
            <a:picLocks noChangeAspect="1"/>
          </p:cNvPicPr>
          <p:nvPr/>
        </p:nvPicPr>
        <p:blipFill>
          <a:blip r:embed="rId5"/>
          <a:stretch>
            <a:fillRect/>
          </a:stretch>
        </p:blipFill>
        <p:spPr>
          <a:xfrm>
            <a:off x="1941483" y="4620665"/>
            <a:ext cx="5261030" cy="1908595"/>
          </a:xfrm>
          <a:prstGeom prst="rect">
            <a:avLst/>
          </a:prstGeom>
        </p:spPr>
      </p:pic>
    </p:spTree>
    <p:extLst>
      <p:ext uri="{BB962C8B-B14F-4D97-AF65-F5344CB8AC3E}">
        <p14:creationId xmlns:p14="http://schemas.microsoft.com/office/powerpoint/2010/main" val="249803966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0" y="543449"/>
            <a:ext cx="7886700" cy="994172"/>
          </a:xfrm>
        </p:spPr>
        <p:txBody>
          <a:bodyPr/>
          <a:lstStyle/>
          <a:p>
            <a:r>
              <a:rPr lang="en-US" altLang="zh-TW" dirty="0"/>
              <a:t>Timing</a:t>
            </a:r>
            <a:endParaRPr lang="zh-TW" altLang="en-US" dirty="0"/>
          </a:p>
        </p:txBody>
      </p:sp>
      <p:sp>
        <p:nvSpPr>
          <p:cNvPr id="35" name="內容版面配置區 2">
            <a:extLst>
              <a:ext uri="{FF2B5EF4-FFF2-40B4-BE49-F238E27FC236}">
                <a16:creationId xmlns:a16="http://schemas.microsoft.com/office/drawing/2014/main" id="{32A50F1A-0C61-4024-97CA-A71D85E51BE4}"/>
              </a:ext>
            </a:extLst>
          </p:cNvPr>
          <p:cNvSpPr>
            <a:spLocks noGrp="1"/>
          </p:cNvSpPr>
          <p:nvPr>
            <p:ph idx="1"/>
          </p:nvPr>
        </p:nvSpPr>
        <p:spPr>
          <a:xfrm>
            <a:off x="628650" y="1395442"/>
            <a:ext cx="7633608" cy="3431381"/>
          </a:xfrm>
        </p:spPr>
        <p:txBody>
          <a:bodyPr>
            <a:normAutofit/>
          </a:bodyPr>
          <a:lstStyle/>
          <a:p>
            <a:r>
              <a:rPr lang="en-US" altLang="zh-TW" sz="1800" dirty="0"/>
              <a:t>Compile</a:t>
            </a:r>
            <a:r>
              <a:rPr lang="zh-TW" altLang="en-US" sz="1800" dirty="0"/>
              <a:t>完在</a:t>
            </a:r>
            <a:r>
              <a:rPr lang="en-US" altLang="zh-TW" sz="1800" dirty="0"/>
              <a:t>EMIF</a:t>
            </a:r>
            <a:r>
              <a:rPr lang="zh-TW" altLang="en-US" sz="1800" dirty="0"/>
              <a:t>內部仍有</a:t>
            </a:r>
            <a:r>
              <a:rPr lang="en-US" altLang="zh-TW" sz="1800" dirty="0"/>
              <a:t>timing violation</a:t>
            </a:r>
            <a:r>
              <a:rPr lang="zh-TW" altLang="en-US" sz="1800" dirty="0"/>
              <a:t>。</a:t>
            </a:r>
            <a:endParaRPr lang="en-US" altLang="zh-TW" sz="1800" dirty="0"/>
          </a:p>
          <a:p>
            <a:r>
              <a:rPr lang="zh-TW" altLang="en-US" sz="1800" dirty="0"/>
              <a:t>但這結果與</a:t>
            </a:r>
            <a:r>
              <a:rPr lang="en-US" altLang="zh-TW" sz="1800" dirty="0"/>
              <a:t>terasic</a:t>
            </a:r>
            <a:r>
              <a:rPr lang="zh-TW" altLang="en-US" sz="1800" dirty="0"/>
              <a:t>提供之範例程式結果相似，故暫時忽略。</a:t>
            </a:r>
            <a:endParaRPr lang="en-US" altLang="zh-TW" sz="1800" dirty="0"/>
          </a:p>
          <a:p>
            <a:r>
              <a:rPr lang="zh-TW" altLang="en-US" sz="1800" dirty="0"/>
              <a:t>推測為</a:t>
            </a:r>
            <a:r>
              <a:rPr lang="en-US" altLang="zh-TW" sz="1800" dirty="0"/>
              <a:t>dram</a:t>
            </a:r>
            <a:r>
              <a:rPr lang="zh-TW" altLang="en-US" sz="1800" dirty="0"/>
              <a:t>的</a:t>
            </a:r>
            <a:r>
              <a:rPr lang="en-US" altLang="zh-TW" sz="1800" dirty="0"/>
              <a:t>clock crossing</a:t>
            </a:r>
            <a:r>
              <a:rPr lang="zh-TW" altLang="en-US" sz="1800" dirty="0"/>
              <a:t>有</a:t>
            </a:r>
            <a:r>
              <a:rPr lang="en-US" altLang="zh-TW" sz="1800" dirty="0"/>
              <a:t>false path</a:t>
            </a:r>
            <a:r>
              <a:rPr lang="zh-TW" altLang="en-US" sz="1800" dirty="0"/>
              <a:t>沒下，但他的</a:t>
            </a:r>
            <a:r>
              <a:rPr lang="en-US" altLang="zh-TW" sz="1800" dirty="0"/>
              <a:t>IP</a:t>
            </a:r>
            <a:r>
              <a:rPr lang="zh-TW" altLang="en-US" sz="1800" dirty="0"/>
              <a:t>有處理好</a:t>
            </a:r>
            <a:r>
              <a:rPr lang="en-US" altLang="zh-TW" sz="1800" dirty="0"/>
              <a:t>clock domain crossing</a:t>
            </a:r>
            <a:r>
              <a:rPr lang="zh-TW" altLang="en-US" sz="1800" dirty="0"/>
              <a:t>的問題了，可以忽略來自</a:t>
            </a:r>
            <a:r>
              <a:rPr lang="en-US" altLang="zh-TW" sz="1800" dirty="0"/>
              <a:t>ddr4 interface</a:t>
            </a:r>
            <a:r>
              <a:rPr lang="zh-TW" altLang="en-US" sz="1800" dirty="0"/>
              <a:t>的</a:t>
            </a:r>
            <a:r>
              <a:rPr lang="en-US" altLang="zh-TW" sz="1800" dirty="0"/>
              <a:t>neg slack</a:t>
            </a:r>
          </a:p>
        </p:txBody>
      </p:sp>
      <p:pic>
        <p:nvPicPr>
          <p:cNvPr id="4" name="圖片 3">
            <a:extLst>
              <a:ext uri="{FF2B5EF4-FFF2-40B4-BE49-F238E27FC236}">
                <a16:creationId xmlns:a16="http://schemas.microsoft.com/office/drawing/2014/main" id="{FE9F0184-07C6-42CC-A57F-C338CD125D9C}"/>
              </a:ext>
            </a:extLst>
          </p:cNvPr>
          <p:cNvPicPr>
            <a:picLocks noChangeAspect="1"/>
          </p:cNvPicPr>
          <p:nvPr/>
        </p:nvPicPr>
        <p:blipFill>
          <a:blip r:embed="rId3"/>
          <a:stretch>
            <a:fillRect/>
          </a:stretch>
        </p:blipFill>
        <p:spPr>
          <a:xfrm>
            <a:off x="1256551" y="3136407"/>
            <a:ext cx="6923322" cy="1593463"/>
          </a:xfrm>
          <a:prstGeom prst="rect">
            <a:avLst/>
          </a:prstGeom>
        </p:spPr>
      </p:pic>
      <p:pic>
        <p:nvPicPr>
          <p:cNvPr id="6" name="圖片 5">
            <a:extLst>
              <a:ext uri="{FF2B5EF4-FFF2-40B4-BE49-F238E27FC236}">
                <a16:creationId xmlns:a16="http://schemas.microsoft.com/office/drawing/2014/main" id="{F02A2A25-8644-481A-8735-990777EBAE37}"/>
              </a:ext>
            </a:extLst>
          </p:cNvPr>
          <p:cNvPicPr>
            <a:picLocks noChangeAspect="1"/>
          </p:cNvPicPr>
          <p:nvPr/>
        </p:nvPicPr>
        <p:blipFill>
          <a:blip r:embed="rId4"/>
          <a:stretch>
            <a:fillRect/>
          </a:stretch>
        </p:blipFill>
        <p:spPr>
          <a:xfrm>
            <a:off x="1256551" y="4939016"/>
            <a:ext cx="6931962" cy="1525447"/>
          </a:xfrm>
          <a:prstGeom prst="rect">
            <a:avLst/>
          </a:prstGeom>
        </p:spPr>
      </p:pic>
      <p:sp>
        <p:nvSpPr>
          <p:cNvPr id="3" name="投影片編號版面配置區 2">
            <a:extLst>
              <a:ext uri="{FF2B5EF4-FFF2-40B4-BE49-F238E27FC236}">
                <a16:creationId xmlns:a16="http://schemas.microsoft.com/office/drawing/2014/main" id="{C64A8AC1-7215-4E4C-81E7-C91025D9FB4F}"/>
              </a:ext>
            </a:extLst>
          </p:cNvPr>
          <p:cNvSpPr>
            <a:spLocks noGrp="1"/>
          </p:cNvSpPr>
          <p:nvPr>
            <p:ph type="sldNum" sz="quarter" idx="12"/>
          </p:nvPr>
        </p:nvSpPr>
        <p:spPr/>
        <p:txBody>
          <a:bodyPr/>
          <a:lstStyle/>
          <a:p>
            <a:fld id="{AE4B70F8-4499-4EB5-A47F-9F74713612AE}" type="slidenum">
              <a:rPr lang="zh-TW" altLang="en-US" smtClean="0"/>
              <a:t>86</a:t>
            </a:fld>
            <a:endParaRPr lang="zh-TW" altLang="en-US" dirty="0"/>
          </a:p>
        </p:txBody>
      </p:sp>
    </p:spTree>
    <p:extLst>
      <p:ext uri="{BB962C8B-B14F-4D97-AF65-F5344CB8AC3E}">
        <p14:creationId xmlns:p14="http://schemas.microsoft.com/office/powerpoint/2010/main" val="21703116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D6E051-2786-488E-BC60-A3BBE8916E6D}"/>
              </a:ext>
            </a:extLst>
          </p:cNvPr>
          <p:cNvSpPr>
            <a:spLocks noGrp="1"/>
          </p:cNvSpPr>
          <p:nvPr>
            <p:ph type="title"/>
          </p:nvPr>
        </p:nvSpPr>
        <p:spPr/>
        <p:txBody>
          <a:bodyPr/>
          <a:lstStyle/>
          <a:p>
            <a:r>
              <a:rPr lang="en-US" altLang="zh-TW" dirty="0"/>
              <a:t>DRAM tutorial</a:t>
            </a:r>
            <a:endParaRPr lang="zh-TW" altLang="en-US" dirty="0"/>
          </a:p>
        </p:txBody>
      </p:sp>
      <p:sp>
        <p:nvSpPr>
          <p:cNvPr id="3" name="投影片編號版面配置區 2">
            <a:extLst>
              <a:ext uri="{FF2B5EF4-FFF2-40B4-BE49-F238E27FC236}">
                <a16:creationId xmlns:a16="http://schemas.microsoft.com/office/drawing/2014/main" id="{300BB0C0-F982-4D5B-9D53-84C957F8B8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87</a:t>
            </a:fld>
            <a:endParaRPr lang="en-US"/>
          </a:p>
        </p:txBody>
      </p:sp>
      <p:sp>
        <p:nvSpPr>
          <p:cNvPr id="4" name="內容版面配置區 2">
            <a:extLst>
              <a:ext uri="{FF2B5EF4-FFF2-40B4-BE49-F238E27FC236}">
                <a16:creationId xmlns:a16="http://schemas.microsoft.com/office/drawing/2014/main" id="{4CB9BFA9-D1F8-43AB-8772-A676F13ADAD1}"/>
              </a:ext>
            </a:extLst>
          </p:cNvPr>
          <p:cNvSpPr>
            <a:spLocks noGrp="1"/>
          </p:cNvSpPr>
          <p:nvPr/>
        </p:nvSpPr>
        <p:spPr>
          <a:xfrm>
            <a:off x="628650" y="1590301"/>
            <a:ext cx="7742266" cy="4575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dirty="0">
                <a:solidFill>
                  <a:schemeClr val="bg1">
                    <a:lumMod val="95000"/>
                  </a:schemeClr>
                </a:solidFill>
              </a:rPr>
              <a:t>External Memory Interface IP</a:t>
            </a:r>
          </a:p>
          <a:p>
            <a:r>
              <a:rPr lang="en-US" altLang="zh-TW" sz="2400" dirty="0">
                <a:solidFill>
                  <a:schemeClr val="bg1">
                    <a:lumMod val="95000"/>
                  </a:schemeClr>
                </a:solidFill>
              </a:rPr>
              <a:t>Avalon Memory-Mapped Protocol</a:t>
            </a:r>
          </a:p>
          <a:p>
            <a:r>
              <a:rPr lang="en-US" altLang="zh-TW" sz="2400" dirty="0">
                <a:solidFill>
                  <a:schemeClr val="bg1">
                    <a:lumMod val="95000"/>
                  </a:schemeClr>
                </a:solidFill>
              </a:rPr>
              <a:t>Example Code</a:t>
            </a:r>
          </a:p>
          <a:p>
            <a:r>
              <a:rPr lang="en-US" altLang="zh-TW" sz="2400" dirty="0">
                <a:solidFill>
                  <a:schemeClr val="bg1">
                    <a:lumMod val="95000"/>
                  </a:schemeClr>
                </a:solidFill>
              </a:rPr>
              <a:t>Quartus Project Settings</a:t>
            </a:r>
          </a:p>
          <a:p>
            <a:r>
              <a:rPr lang="en-US" altLang="zh-TW" sz="2400" dirty="0"/>
              <a:t>RTL Simulation with Qsys IP</a:t>
            </a:r>
          </a:p>
        </p:txBody>
      </p:sp>
    </p:spTree>
    <p:extLst>
      <p:ext uri="{BB962C8B-B14F-4D97-AF65-F5344CB8AC3E}">
        <p14:creationId xmlns:p14="http://schemas.microsoft.com/office/powerpoint/2010/main" val="364916813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字方塊 8">
            <a:extLst>
              <a:ext uri="{FF2B5EF4-FFF2-40B4-BE49-F238E27FC236}">
                <a16:creationId xmlns:a16="http://schemas.microsoft.com/office/drawing/2014/main" id="{9A1E80C4-F982-49FC-AE6F-D2CA13349BE2}"/>
              </a:ext>
            </a:extLst>
          </p:cNvPr>
          <p:cNvSpPr txBox="1"/>
          <p:nvPr/>
        </p:nvSpPr>
        <p:spPr>
          <a:xfrm>
            <a:off x="2977243" y="4808722"/>
            <a:ext cx="1404257" cy="738664"/>
          </a:xfrm>
          <a:prstGeom prst="rect">
            <a:avLst/>
          </a:prstGeom>
          <a:noFill/>
        </p:spPr>
        <p:txBody>
          <a:bodyPr wrap="square" rtlCol="0">
            <a:spAutoFit/>
          </a:bodyPr>
          <a:lstStyle/>
          <a:p>
            <a:pPr algn="ctr"/>
            <a:r>
              <a:rPr lang="en-US" altLang="zh-TW" dirty="0">
                <a:solidFill>
                  <a:srgbClr val="FF0000"/>
                </a:solidFill>
              </a:rPr>
              <a:t>External Memory Pins</a:t>
            </a:r>
          </a:p>
          <a:p>
            <a:pPr algn="ctr"/>
            <a:r>
              <a:rPr lang="en-US" altLang="zh-TW" dirty="0">
                <a:solidFill>
                  <a:srgbClr val="FF0000"/>
                </a:solidFill>
              </a:rPr>
              <a:t>For DRAM</a:t>
            </a:r>
            <a:endParaRPr lang="zh-TW" altLang="en-US" dirty="0">
              <a:solidFill>
                <a:srgbClr val="FF0000"/>
              </a:solidFill>
            </a:endParaRPr>
          </a:p>
        </p:txBody>
      </p:sp>
      <p:pic>
        <p:nvPicPr>
          <p:cNvPr id="2" name="圖片 1">
            <a:extLst>
              <a:ext uri="{FF2B5EF4-FFF2-40B4-BE49-F238E27FC236}">
                <a16:creationId xmlns:a16="http://schemas.microsoft.com/office/drawing/2014/main" id="{F406D016-DC2B-463E-BB05-D9B84712B198}"/>
              </a:ext>
            </a:extLst>
          </p:cNvPr>
          <p:cNvPicPr>
            <a:picLocks noChangeAspect="1"/>
          </p:cNvPicPr>
          <p:nvPr/>
        </p:nvPicPr>
        <p:blipFill rotWithShape="1">
          <a:blip r:embed="rId3"/>
          <a:srcRect r="34346"/>
          <a:stretch/>
        </p:blipFill>
        <p:spPr>
          <a:xfrm>
            <a:off x="4727387" y="1268479"/>
            <a:ext cx="4416613" cy="5143500"/>
          </a:xfrm>
          <a:prstGeom prst="rect">
            <a:avLst/>
          </a:prstGeom>
        </p:spPr>
      </p:pic>
      <p:sp>
        <p:nvSpPr>
          <p:cNvPr id="15" name="內容版面配置區 2">
            <a:extLst>
              <a:ext uri="{FF2B5EF4-FFF2-40B4-BE49-F238E27FC236}">
                <a16:creationId xmlns:a16="http://schemas.microsoft.com/office/drawing/2014/main" id="{2665D3CE-2823-489E-94C3-658EDB6153C6}"/>
              </a:ext>
            </a:extLst>
          </p:cNvPr>
          <p:cNvSpPr txBox="1">
            <a:spLocks/>
          </p:cNvSpPr>
          <p:nvPr/>
        </p:nvSpPr>
        <p:spPr>
          <a:xfrm>
            <a:off x="483309" y="1390399"/>
            <a:ext cx="4158221" cy="3431381"/>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100" dirty="0"/>
              <a:t>In Altera EMIF IP…..</a:t>
            </a:r>
            <a:endParaRPr lang="en-US" altLang="zh-TW" sz="1800" dirty="0"/>
          </a:p>
          <a:p>
            <a:pPr lvl="1"/>
            <a:r>
              <a:rPr lang="en-US" altLang="zh-TW" sz="1800" dirty="0"/>
              <a:t>DE5a-Net uses </a:t>
            </a:r>
            <a:r>
              <a:rPr lang="en-US" altLang="zh-TW" sz="1800" u="sng" dirty="0"/>
              <a:t>Micron DDR4 SODIMM 64x 4GB </a:t>
            </a:r>
            <a:r>
              <a:rPr lang="en-US" altLang="zh-TW" sz="1800" dirty="0"/>
              <a:t>Memory.</a:t>
            </a:r>
          </a:p>
          <a:p>
            <a:pPr marL="457200" lvl="1" indent="0">
              <a:buNone/>
            </a:pPr>
            <a:endParaRPr lang="en-US" altLang="zh-TW" sz="1800" dirty="0"/>
          </a:p>
          <a:p>
            <a:pPr lvl="1"/>
            <a:r>
              <a:rPr lang="en-US" altLang="zh-TW" sz="1800" dirty="0"/>
              <a:t>However, Micron does not provide verilog simulation model for SODIMM.</a:t>
            </a:r>
          </a:p>
          <a:p>
            <a:pPr lvl="1"/>
            <a:endParaRPr lang="en-US" altLang="zh-TW" sz="1800" dirty="0"/>
          </a:p>
          <a:p>
            <a:pPr lvl="1"/>
            <a:r>
              <a:rPr lang="en-US" altLang="zh-TW" sz="1800" b="1" dirty="0"/>
              <a:t>So, How do we do Verilog simulation with Memory IP ?</a:t>
            </a:r>
          </a:p>
        </p:txBody>
      </p:sp>
      <p:sp>
        <p:nvSpPr>
          <p:cNvPr id="7" name="左大括弧 6">
            <a:extLst>
              <a:ext uri="{FF2B5EF4-FFF2-40B4-BE49-F238E27FC236}">
                <a16:creationId xmlns:a16="http://schemas.microsoft.com/office/drawing/2014/main" id="{A4F37313-1CD6-46E9-8A7E-1C5F84651FBE}"/>
              </a:ext>
            </a:extLst>
          </p:cNvPr>
          <p:cNvSpPr/>
          <p:nvPr/>
        </p:nvSpPr>
        <p:spPr>
          <a:xfrm>
            <a:off x="4555673" y="2146014"/>
            <a:ext cx="285750" cy="2333226"/>
          </a:xfrm>
          <a:prstGeom prst="leftBrace">
            <a:avLst>
              <a:gd name="adj1" fmla="val 148333"/>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050"/>
          </a:p>
        </p:txBody>
      </p:sp>
      <p:sp>
        <p:nvSpPr>
          <p:cNvPr id="3" name="投影片編號版面配置區 2">
            <a:extLst>
              <a:ext uri="{FF2B5EF4-FFF2-40B4-BE49-F238E27FC236}">
                <a16:creationId xmlns:a16="http://schemas.microsoft.com/office/drawing/2014/main" id="{659C3EEF-A238-448C-AF2E-9656F14DD45F}"/>
              </a:ext>
            </a:extLst>
          </p:cNvPr>
          <p:cNvSpPr>
            <a:spLocks noGrp="1"/>
          </p:cNvSpPr>
          <p:nvPr>
            <p:ph type="sldNum" sz="quarter" idx="12"/>
          </p:nvPr>
        </p:nvSpPr>
        <p:spPr/>
        <p:txBody>
          <a:bodyPr/>
          <a:lstStyle/>
          <a:p>
            <a:fld id="{AE4B70F8-4499-4EB5-A47F-9F74713612AE}" type="slidenum">
              <a:rPr lang="zh-TW" altLang="en-US" smtClean="0"/>
              <a:t>88</a:t>
            </a:fld>
            <a:endParaRPr lang="zh-TW" altLang="en-US" dirty="0"/>
          </a:p>
        </p:txBody>
      </p:sp>
      <p:sp>
        <p:nvSpPr>
          <p:cNvPr id="8" name="標題 1">
            <a:extLst>
              <a:ext uri="{FF2B5EF4-FFF2-40B4-BE49-F238E27FC236}">
                <a16:creationId xmlns:a16="http://schemas.microsoft.com/office/drawing/2014/main" id="{11DDAA5D-6BAA-44C8-9F3E-A5263E4F3B35}"/>
              </a:ext>
            </a:extLst>
          </p:cNvPr>
          <p:cNvSpPr txBox="1">
            <a:spLocks/>
          </p:cNvSpPr>
          <p:nvPr/>
        </p:nvSpPr>
        <p:spPr>
          <a:xfrm>
            <a:off x="742951" y="409285"/>
            <a:ext cx="7577205"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300" dirty="0"/>
              <a:t>Simulation</a:t>
            </a:r>
            <a:r>
              <a:rPr lang="zh-TW" altLang="en-US" sz="3300" dirty="0"/>
              <a:t> </a:t>
            </a:r>
            <a:r>
              <a:rPr lang="en-US" altLang="zh-TW" sz="3300" dirty="0"/>
              <a:t>Memory IP Selection</a:t>
            </a:r>
            <a:endParaRPr lang="zh-TW" altLang="en-US" sz="3300" dirty="0"/>
          </a:p>
        </p:txBody>
      </p:sp>
      <p:cxnSp>
        <p:nvCxnSpPr>
          <p:cNvPr id="5" name="直線單箭頭接點 4">
            <a:extLst>
              <a:ext uri="{FF2B5EF4-FFF2-40B4-BE49-F238E27FC236}">
                <a16:creationId xmlns:a16="http://schemas.microsoft.com/office/drawing/2014/main" id="{D41D90E0-3C7B-4C94-BF37-0F0D82FF775B}"/>
              </a:ext>
            </a:extLst>
          </p:cNvPr>
          <p:cNvCxnSpPr/>
          <p:nvPr/>
        </p:nvCxnSpPr>
        <p:spPr>
          <a:xfrm flipH="1">
            <a:off x="4084320" y="3931920"/>
            <a:ext cx="557210" cy="87680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6878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標題 1">
            <a:extLst>
              <a:ext uri="{FF2B5EF4-FFF2-40B4-BE49-F238E27FC236}">
                <a16:creationId xmlns:a16="http://schemas.microsoft.com/office/drawing/2014/main" id="{91319A35-7B2A-4AC8-9E63-1BD5FE0DA933}"/>
              </a:ext>
            </a:extLst>
          </p:cNvPr>
          <p:cNvSpPr txBox="1">
            <a:spLocks/>
          </p:cNvSpPr>
          <p:nvPr/>
        </p:nvSpPr>
        <p:spPr>
          <a:xfrm>
            <a:off x="742951" y="409285"/>
            <a:ext cx="7577205"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300" dirty="0"/>
              <a:t>Simulation</a:t>
            </a:r>
            <a:r>
              <a:rPr lang="zh-TW" altLang="en-US" sz="3300" dirty="0"/>
              <a:t> </a:t>
            </a:r>
            <a:r>
              <a:rPr lang="en-US" altLang="zh-TW" sz="3300" dirty="0"/>
              <a:t>Memory IP Selection</a:t>
            </a:r>
            <a:endParaRPr lang="zh-TW" altLang="en-US" sz="3300" dirty="0"/>
          </a:p>
        </p:txBody>
      </p:sp>
      <p:sp>
        <p:nvSpPr>
          <p:cNvPr id="15" name="內容版面配置區 2">
            <a:extLst>
              <a:ext uri="{FF2B5EF4-FFF2-40B4-BE49-F238E27FC236}">
                <a16:creationId xmlns:a16="http://schemas.microsoft.com/office/drawing/2014/main" id="{2665D3CE-2823-489E-94C3-658EDB6153C6}"/>
              </a:ext>
            </a:extLst>
          </p:cNvPr>
          <p:cNvSpPr txBox="1">
            <a:spLocks/>
          </p:cNvSpPr>
          <p:nvPr/>
        </p:nvSpPr>
        <p:spPr>
          <a:xfrm>
            <a:off x="823844" y="1403457"/>
            <a:ext cx="6346576" cy="3431381"/>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100" dirty="0"/>
              <a:t>Altera On-Chip (ex: SRAM) Memory IP</a:t>
            </a:r>
          </a:p>
          <a:p>
            <a:pPr lvl="1"/>
            <a:r>
              <a:rPr lang="en-US" altLang="zh-TW" sz="1800" dirty="0"/>
              <a:t>No external pin connection.</a:t>
            </a:r>
          </a:p>
          <a:p>
            <a:pPr lvl="1"/>
            <a:r>
              <a:rPr lang="en-US" altLang="zh-TW" sz="1800" dirty="0"/>
              <a:t>Limited memory size (&lt;64Mbit)</a:t>
            </a:r>
          </a:p>
        </p:txBody>
      </p:sp>
      <p:pic>
        <p:nvPicPr>
          <p:cNvPr id="8" name="圖片 7">
            <a:extLst>
              <a:ext uri="{FF2B5EF4-FFF2-40B4-BE49-F238E27FC236}">
                <a16:creationId xmlns:a16="http://schemas.microsoft.com/office/drawing/2014/main" id="{952B4CA6-FC39-43A3-971B-93E1E22986CE}"/>
              </a:ext>
            </a:extLst>
          </p:cNvPr>
          <p:cNvPicPr>
            <a:picLocks noChangeAspect="1"/>
          </p:cNvPicPr>
          <p:nvPr/>
        </p:nvPicPr>
        <p:blipFill rotWithShape="1">
          <a:blip r:embed="rId3"/>
          <a:srcRect t="56508" r="37955"/>
          <a:stretch/>
        </p:blipFill>
        <p:spPr>
          <a:xfrm>
            <a:off x="5041573" y="2087880"/>
            <a:ext cx="3905204" cy="3309231"/>
          </a:xfrm>
          <a:prstGeom prst="rect">
            <a:avLst/>
          </a:prstGeom>
        </p:spPr>
      </p:pic>
      <p:pic>
        <p:nvPicPr>
          <p:cNvPr id="3" name="圖片 2">
            <a:extLst>
              <a:ext uri="{FF2B5EF4-FFF2-40B4-BE49-F238E27FC236}">
                <a16:creationId xmlns:a16="http://schemas.microsoft.com/office/drawing/2014/main" id="{BBD8C8C8-594E-4EB4-BF02-9B53171998B5}"/>
              </a:ext>
            </a:extLst>
          </p:cNvPr>
          <p:cNvPicPr>
            <a:picLocks noChangeAspect="1"/>
          </p:cNvPicPr>
          <p:nvPr/>
        </p:nvPicPr>
        <p:blipFill>
          <a:blip r:embed="rId4"/>
          <a:stretch>
            <a:fillRect/>
          </a:stretch>
        </p:blipFill>
        <p:spPr>
          <a:xfrm>
            <a:off x="294161" y="2625374"/>
            <a:ext cx="4566113" cy="2771737"/>
          </a:xfrm>
          <a:prstGeom prst="rect">
            <a:avLst/>
          </a:prstGeom>
        </p:spPr>
      </p:pic>
      <p:sp>
        <p:nvSpPr>
          <p:cNvPr id="2" name="投影片編號版面配置區 1">
            <a:extLst>
              <a:ext uri="{FF2B5EF4-FFF2-40B4-BE49-F238E27FC236}">
                <a16:creationId xmlns:a16="http://schemas.microsoft.com/office/drawing/2014/main" id="{94911305-065C-4A44-91E5-E1A934FEA742}"/>
              </a:ext>
            </a:extLst>
          </p:cNvPr>
          <p:cNvSpPr>
            <a:spLocks noGrp="1"/>
          </p:cNvSpPr>
          <p:nvPr>
            <p:ph type="sldNum" sz="quarter" idx="12"/>
          </p:nvPr>
        </p:nvSpPr>
        <p:spPr/>
        <p:txBody>
          <a:bodyPr/>
          <a:lstStyle/>
          <a:p>
            <a:fld id="{AE4B70F8-4499-4EB5-A47F-9F74713612AE}" type="slidenum">
              <a:rPr lang="zh-TW" altLang="en-US" smtClean="0"/>
              <a:t>89</a:t>
            </a:fld>
            <a:endParaRPr lang="zh-TW" altLang="en-US" dirty="0"/>
          </a:p>
        </p:txBody>
      </p:sp>
      <p:sp>
        <p:nvSpPr>
          <p:cNvPr id="4" name="文字方塊 3">
            <a:extLst>
              <a:ext uri="{FF2B5EF4-FFF2-40B4-BE49-F238E27FC236}">
                <a16:creationId xmlns:a16="http://schemas.microsoft.com/office/drawing/2014/main" id="{09FF8C8F-3464-489A-BAD2-F5D1BE9D9F3A}"/>
              </a:ext>
            </a:extLst>
          </p:cNvPr>
          <p:cNvSpPr txBox="1"/>
          <p:nvPr/>
        </p:nvSpPr>
        <p:spPr>
          <a:xfrm>
            <a:off x="4304776" y="5742980"/>
            <a:ext cx="5031277" cy="338554"/>
          </a:xfrm>
          <a:prstGeom prst="rect">
            <a:avLst/>
          </a:prstGeom>
          <a:noFill/>
        </p:spPr>
        <p:txBody>
          <a:bodyPr wrap="square" rtlCol="0">
            <a:spAutoFit/>
          </a:bodyPr>
          <a:lstStyle/>
          <a:p>
            <a:pPr algn="ctr"/>
            <a:r>
              <a:rPr lang="en-US" altLang="zh-TW" sz="1600" i="1" dirty="0"/>
              <a:t>See ./Simulation/IPtest.qsys for more information</a:t>
            </a:r>
            <a:endParaRPr lang="zh-TW" altLang="en-US" sz="1600" i="1" dirty="0"/>
          </a:p>
        </p:txBody>
      </p:sp>
      <p:sp>
        <p:nvSpPr>
          <p:cNvPr id="5" name="文字方塊 4">
            <a:extLst>
              <a:ext uri="{FF2B5EF4-FFF2-40B4-BE49-F238E27FC236}">
                <a16:creationId xmlns:a16="http://schemas.microsoft.com/office/drawing/2014/main" id="{C4C354BB-BFA8-431B-A02C-8BB2AB866D6C}"/>
              </a:ext>
            </a:extLst>
          </p:cNvPr>
          <p:cNvSpPr txBox="1"/>
          <p:nvPr/>
        </p:nvSpPr>
        <p:spPr>
          <a:xfrm>
            <a:off x="411480" y="5545619"/>
            <a:ext cx="3905204" cy="954107"/>
          </a:xfrm>
          <a:prstGeom prst="rect">
            <a:avLst/>
          </a:prstGeom>
          <a:noFill/>
        </p:spPr>
        <p:txBody>
          <a:bodyPr wrap="square" rtlCol="0">
            <a:spAutoFit/>
          </a:bodyPr>
          <a:lstStyle/>
          <a:p>
            <a:r>
              <a:rPr lang="zh-TW" altLang="en-US" dirty="0"/>
              <a:t>因為</a:t>
            </a:r>
            <a:r>
              <a:rPr lang="en-US" altLang="zh-TW" dirty="0"/>
              <a:t>on-chip &amp; off-chip</a:t>
            </a:r>
            <a:r>
              <a:rPr lang="zh-TW" altLang="en-US" dirty="0"/>
              <a:t>都是用</a:t>
            </a:r>
            <a:r>
              <a:rPr lang="en-US" altLang="zh-TW" dirty="0"/>
              <a:t>Avalon MM protocol</a:t>
            </a:r>
            <a:r>
              <a:rPr lang="zh-TW" altLang="en-US" dirty="0"/>
              <a:t>在跟</a:t>
            </a:r>
            <a:r>
              <a:rPr lang="en-US" altLang="zh-TW" dirty="0"/>
              <a:t>interconnect fabric</a:t>
            </a:r>
            <a:r>
              <a:rPr lang="zh-TW" altLang="en-US" dirty="0"/>
              <a:t>溝通，所以可以生成沒有外部</a:t>
            </a:r>
            <a:r>
              <a:rPr lang="en-US" altLang="zh-TW" dirty="0"/>
              <a:t>pin</a:t>
            </a:r>
            <a:r>
              <a:rPr lang="zh-TW" altLang="en-US" dirty="0"/>
              <a:t>的</a:t>
            </a:r>
            <a:r>
              <a:rPr lang="en-US" altLang="zh-TW" dirty="0"/>
              <a:t>IP</a:t>
            </a:r>
            <a:r>
              <a:rPr lang="zh-TW" altLang="en-US" dirty="0"/>
              <a:t>來測試你有沒有寫對</a:t>
            </a:r>
            <a:r>
              <a:rPr lang="en-US" altLang="zh-TW" dirty="0"/>
              <a:t>protocol</a:t>
            </a:r>
            <a:r>
              <a:rPr lang="zh-TW" altLang="en-US" dirty="0"/>
              <a:t>溝通模組</a:t>
            </a:r>
          </a:p>
        </p:txBody>
      </p:sp>
    </p:spTree>
    <p:extLst>
      <p:ext uri="{BB962C8B-B14F-4D97-AF65-F5344CB8AC3E}">
        <p14:creationId xmlns:p14="http://schemas.microsoft.com/office/powerpoint/2010/main" val="3557750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標題 1">
            <a:extLst>
              <a:ext uri="{FF2B5EF4-FFF2-40B4-BE49-F238E27FC236}">
                <a16:creationId xmlns:a16="http://schemas.microsoft.com/office/drawing/2014/main" id="{91319A35-7B2A-4AC8-9E63-1BD5FE0DA933}"/>
              </a:ext>
            </a:extLst>
          </p:cNvPr>
          <p:cNvSpPr txBox="1">
            <a:spLocks/>
          </p:cNvSpPr>
          <p:nvPr/>
        </p:nvSpPr>
        <p:spPr>
          <a:xfrm>
            <a:off x="742950" y="513250"/>
            <a:ext cx="7177154"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300" dirty="0"/>
              <a:t>Simulation</a:t>
            </a:r>
            <a:r>
              <a:rPr lang="zh-TW" altLang="en-US" sz="3300" dirty="0"/>
              <a:t> </a:t>
            </a:r>
            <a:r>
              <a:rPr lang="en-US" altLang="zh-TW" sz="3300" dirty="0"/>
              <a:t>Memory IP Selection</a:t>
            </a:r>
            <a:endParaRPr lang="zh-TW" altLang="en-US" sz="3300" dirty="0"/>
          </a:p>
        </p:txBody>
      </p:sp>
      <p:sp>
        <p:nvSpPr>
          <p:cNvPr id="15" name="內容版面配置區 2">
            <a:extLst>
              <a:ext uri="{FF2B5EF4-FFF2-40B4-BE49-F238E27FC236}">
                <a16:creationId xmlns:a16="http://schemas.microsoft.com/office/drawing/2014/main" id="{2665D3CE-2823-489E-94C3-658EDB6153C6}"/>
              </a:ext>
            </a:extLst>
          </p:cNvPr>
          <p:cNvSpPr txBox="1">
            <a:spLocks/>
          </p:cNvSpPr>
          <p:nvPr/>
        </p:nvSpPr>
        <p:spPr>
          <a:xfrm>
            <a:off x="742950" y="1507422"/>
            <a:ext cx="7902286" cy="3431381"/>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100" dirty="0"/>
              <a:t>Hand-crafted Avalon MM Slave Model</a:t>
            </a:r>
          </a:p>
          <a:p>
            <a:pPr lvl="1"/>
            <a:r>
              <a:rPr lang="en-US" altLang="zh-TW" sz="1800" dirty="0"/>
              <a:t>See ./Simulation/amm_slave.v for more information</a:t>
            </a:r>
            <a:br>
              <a:rPr lang="en-US" altLang="zh-TW" sz="1800" dirty="0"/>
            </a:br>
            <a:r>
              <a:rPr lang="en-US" altLang="zh-TW" sz="1800" dirty="0"/>
              <a:t>(A simple amm slave model in the variable latency transfer mode)</a:t>
            </a:r>
            <a:endParaRPr lang="zh-TW" altLang="en-US" sz="1800" dirty="0"/>
          </a:p>
          <a:p>
            <a:pPr lvl="1"/>
            <a:endParaRPr lang="en-US" altLang="zh-TW" sz="1800" dirty="0"/>
          </a:p>
        </p:txBody>
      </p:sp>
      <p:sp>
        <p:nvSpPr>
          <p:cNvPr id="2" name="投影片編號版面配置區 1">
            <a:extLst>
              <a:ext uri="{FF2B5EF4-FFF2-40B4-BE49-F238E27FC236}">
                <a16:creationId xmlns:a16="http://schemas.microsoft.com/office/drawing/2014/main" id="{94911305-065C-4A44-91E5-E1A934FEA742}"/>
              </a:ext>
            </a:extLst>
          </p:cNvPr>
          <p:cNvSpPr>
            <a:spLocks noGrp="1"/>
          </p:cNvSpPr>
          <p:nvPr>
            <p:ph type="sldNum" sz="quarter" idx="12"/>
          </p:nvPr>
        </p:nvSpPr>
        <p:spPr/>
        <p:txBody>
          <a:bodyPr/>
          <a:lstStyle/>
          <a:p>
            <a:fld id="{AE4B70F8-4499-4EB5-A47F-9F74713612AE}" type="slidenum">
              <a:rPr lang="zh-TW" altLang="en-US" smtClean="0"/>
              <a:t>90</a:t>
            </a:fld>
            <a:endParaRPr lang="zh-TW" altLang="en-US" dirty="0"/>
          </a:p>
        </p:txBody>
      </p:sp>
      <p:sp>
        <p:nvSpPr>
          <p:cNvPr id="5" name="標題 1">
            <a:extLst>
              <a:ext uri="{FF2B5EF4-FFF2-40B4-BE49-F238E27FC236}">
                <a16:creationId xmlns:a16="http://schemas.microsoft.com/office/drawing/2014/main" id="{E250785F-B56F-4D3B-AA8E-A9AC66760BC7}"/>
              </a:ext>
            </a:extLst>
          </p:cNvPr>
          <p:cNvSpPr>
            <a:spLocks noGrp="1"/>
          </p:cNvSpPr>
          <p:nvPr>
            <p:ph type="title"/>
          </p:nvPr>
        </p:nvSpPr>
        <p:spPr>
          <a:xfrm>
            <a:off x="750743" y="2413575"/>
            <a:ext cx="7886700" cy="994172"/>
          </a:xfrm>
        </p:spPr>
        <p:txBody>
          <a:bodyPr/>
          <a:lstStyle/>
          <a:p>
            <a:r>
              <a:rPr lang="en-US" altLang="zh-TW" dirty="0"/>
              <a:t>Memory IP Simulation Example Code</a:t>
            </a:r>
            <a:endParaRPr lang="zh-TW" altLang="en-US" dirty="0"/>
          </a:p>
        </p:txBody>
      </p:sp>
      <p:sp>
        <p:nvSpPr>
          <p:cNvPr id="6" name="內容版面配置區 2">
            <a:extLst>
              <a:ext uri="{FF2B5EF4-FFF2-40B4-BE49-F238E27FC236}">
                <a16:creationId xmlns:a16="http://schemas.microsoft.com/office/drawing/2014/main" id="{C2A78BDB-5E08-4401-BD7E-B753AED3B8DF}"/>
              </a:ext>
            </a:extLst>
          </p:cNvPr>
          <p:cNvSpPr txBox="1">
            <a:spLocks/>
          </p:cNvSpPr>
          <p:nvPr/>
        </p:nvSpPr>
        <p:spPr>
          <a:xfrm>
            <a:off x="642364" y="3187970"/>
            <a:ext cx="8103458" cy="343138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55600" algn="l" rtl="0">
              <a:lnSpc>
                <a:spcPct val="90000"/>
              </a:lnSpc>
              <a:spcBef>
                <a:spcPts val="10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2pPr>
            <a:lvl3pPr marL="1371600" marR="0" lvl="2" indent="-330200" algn="l" rtl="0">
              <a:lnSpc>
                <a:spcPct val="90000"/>
              </a:lnSpc>
              <a:spcBef>
                <a:spcPts val="500"/>
              </a:spcBef>
              <a:spcAft>
                <a:spcPts val="0"/>
              </a:spcAft>
              <a:buClr>
                <a:schemeClr val="dk1"/>
              </a:buClr>
              <a:buSzPts val="1600"/>
              <a:buFont typeface="Calibri"/>
              <a:buChar char="˗"/>
              <a:defRPr sz="16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500"/>
              </a:spcBef>
              <a:spcAft>
                <a:spcPts val="0"/>
              </a:spcAft>
              <a:buClr>
                <a:schemeClr val="dk1"/>
              </a:buClr>
              <a:buSzPts val="1400"/>
              <a:buFont typeface="Calibri"/>
              <a:buChar char="˗"/>
              <a:defRPr sz="14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50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5pPr>
            <a:lvl6pPr marL="2743200" marR="0" lvl="5" indent="-298450" algn="l" rtl="0">
              <a:lnSpc>
                <a:spcPct val="90000"/>
              </a:lnSpc>
              <a:spcBef>
                <a:spcPts val="500"/>
              </a:spcBef>
              <a:spcAft>
                <a:spcPts val="0"/>
              </a:spcAft>
              <a:buClr>
                <a:schemeClr val="dk1"/>
              </a:buClr>
              <a:buSzPts val="1100"/>
              <a:buFont typeface="Calibri"/>
              <a:buChar char="‐"/>
              <a:defRPr sz="1100" b="0" i="0" u="none" strike="noStrike" cap="none">
                <a:solidFill>
                  <a:schemeClr val="dk1"/>
                </a:solidFill>
                <a:latin typeface="Calibri"/>
                <a:ea typeface="Calibri"/>
                <a:cs typeface="Calibri"/>
                <a:sym typeface="Calibri"/>
              </a:defRPr>
            </a:lvl6pPr>
            <a:lvl7pPr marL="3200400" marR="0" lvl="6" indent="-298450" algn="l" rtl="0">
              <a:lnSpc>
                <a:spcPct val="90000"/>
              </a:lnSpc>
              <a:spcBef>
                <a:spcPts val="500"/>
              </a:spcBef>
              <a:spcAft>
                <a:spcPts val="0"/>
              </a:spcAft>
              <a:buClr>
                <a:schemeClr val="dk1"/>
              </a:buClr>
              <a:buSzPts val="1100"/>
              <a:buFont typeface="Calibri"/>
              <a:buChar char="‐"/>
              <a:defRPr sz="1100" b="0" i="0" u="none" strike="noStrike" cap="none">
                <a:solidFill>
                  <a:schemeClr val="dk1"/>
                </a:solidFill>
                <a:latin typeface="Calibri"/>
                <a:ea typeface="Calibri"/>
                <a:cs typeface="Calibri"/>
                <a:sym typeface="Calibri"/>
              </a:defRPr>
            </a:lvl7pPr>
            <a:lvl8pPr marL="3657600" marR="0" lvl="7" indent="-298450" algn="l" rtl="0">
              <a:lnSpc>
                <a:spcPct val="90000"/>
              </a:lnSpc>
              <a:spcBef>
                <a:spcPts val="500"/>
              </a:spcBef>
              <a:spcAft>
                <a:spcPts val="0"/>
              </a:spcAft>
              <a:buClr>
                <a:schemeClr val="dk1"/>
              </a:buClr>
              <a:buSzPts val="1100"/>
              <a:buFont typeface="Calibri"/>
              <a:buChar char="‐"/>
              <a:defRPr sz="1100" b="0" i="0" u="none" strike="noStrike" cap="none">
                <a:solidFill>
                  <a:schemeClr val="dk1"/>
                </a:solidFill>
                <a:latin typeface="Calibri"/>
                <a:ea typeface="Calibri"/>
                <a:cs typeface="Calibri"/>
                <a:sym typeface="Calibri"/>
              </a:defRPr>
            </a:lvl8pPr>
            <a:lvl9pPr marL="4114800" marR="0" lvl="8" indent="-298450" algn="l" rtl="0">
              <a:lnSpc>
                <a:spcPct val="90000"/>
              </a:lnSpc>
              <a:spcBef>
                <a:spcPts val="500"/>
              </a:spcBef>
              <a:spcAft>
                <a:spcPts val="0"/>
              </a:spcAft>
              <a:buClr>
                <a:schemeClr val="dk1"/>
              </a:buClr>
              <a:buSzPts val="1100"/>
              <a:buFont typeface="Calibri"/>
              <a:buChar char="‐"/>
              <a:defRPr sz="1100" b="0" i="0" u="none" strike="noStrike" cap="none">
                <a:solidFill>
                  <a:schemeClr val="dk1"/>
                </a:solidFill>
                <a:latin typeface="Calibri"/>
                <a:ea typeface="Calibri"/>
                <a:cs typeface="Calibri"/>
                <a:sym typeface="Calibri"/>
              </a:defRPr>
            </a:lvl9pPr>
          </a:lstStyle>
          <a:p>
            <a:r>
              <a:rPr lang="en-US" altLang="zh-TW" dirty="0"/>
              <a:t>To run the example code in ./Simulation folder:</a:t>
            </a:r>
          </a:p>
          <a:p>
            <a:pPr lvl="1"/>
            <a:r>
              <a:rPr lang="en-US" altLang="zh-TW" dirty="0"/>
              <a:t>Open IPtest.qsys in Qsys tool and </a:t>
            </a:r>
            <a:r>
              <a:rPr lang="en-US" altLang="zh-TW" dirty="0">
                <a:solidFill>
                  <a:srgbClr val="FF0000"/>
                </a:solidFill>
              </a:rPr>
              <a:t>generate HDL with simulation code</a:t>
            </a:r>
            <a:r>
              <a:rPr lang="en-US" altLang="zh-TW" dirty="0"/>
              <a:t>.</a:t>
            </a:r>
          </a:p>
          <a:p>
            <a:pPr marL="101600" indent="0">
              <a:buNone/>
            </a:pPr>
            <a:endParaRPr lang="en-US" altLang="zh-TW" dirty="0"/>
          </a:p>
          <a:p>
            <a:r>
              <a:rPr lang="en-US" altLang="zh-TW" dirty="0"/>
              <a:t>Data Flow</a:t>
            </a:r>
            <a:endParaRPr lang="zh-TW" altLang="en-US" dirty="0"/>
          </a:p>
        </p:txBody>
      </p:sp>
      <p:sp>
        <p:nvSpPr>
          <p:cNvPr id="7" name="矩形 6">
            <a:extLst>
              <a:ext uri="{FF2B5EF4-FFF2-40B4-BE49-F238E27FC236}">
                <a16:creationId xmlns:a16="http://schemas.microsoft.com/office/drawing/2014/main" id="{91AC6469-897C-47DC-B894-A8B05CE0D22F}"/>
              </a:ext>
            </a:extLst>
          </p:cNvPr>
          <p:cNvSpPr/>
          <p:nvPr/>
        </p:nvSpPr>
        <p:spPr>
          <a:xfrm>
            <a:off x="2851208" y="5461424"/>
            <a:ext cx="1045028" cy="107071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500" dirty="0">
                <a:solidFill>
                  <a:schemeClr val="tx1"/>
                </a:solidFill>
              </a:rPr>
              <a:t>On-Chip</a:t>
            </a:r>
          </a:p>
          <a:p>
            <a:pPr algn="ctr"/>
            <a:r>
              <a:rPr lang="en-US" altLang="zh-TW" sz="1500" dirty="0">
                <a:solidFill>
                  <a:schemeClr val="tx1"/>
                </a:solidFill>
              </a:rPr>
              <a:t>Block-RAM</a:t>
            </a:r>
          </a:p>
          <a:p>
            <a:pPr algn="ctr"/>
            <a:r>
              <a:rPr lang="en-US" altLang="zh-TW" sz="1500" dirty="0">
                <a:solidFill>
                  <a:schemeClr val="tx1"/>
                </a:solidFill>
              </a:rPr>
              <a:t>Model</a:t>
            </a:r>
            <a:endParaRPr lang="zh-TW" altLang="en-US" sz="1500" dirty="0">
              <a:solidFill>
                <a:schemeClr val="tx1"/>
              </a:solidFill>
            </a:endParaRPr>
          </a:p>
        </p:txBody>
      </p:sp>
      <p:sp>
        <p:nvSpPr>
          <p:cNvPr id="8" name="矩形 7">
            <a:extLst>
              <a:ext uri="{FF2B5EF4-FFF2-40B4-BE49-F238E27FC236}">
                <a16:creationId xmlns:a16="http://schemas.microsoft.com/office/drawing/2014/main" id="{529CD751-951B-4519-9E8D-C15CD0691442}"/>
              </a:ext>
            </a:extLst>
          </p:cNvPr>
          <p:cNvSpPr/>
          <p:nvPr/>
        </p:nvSpPr>
        <p:spPr>
          <a:xfrm>
            <a:off x="4247300" y="5461424"/>
            <a:ext cx="1101939" cy="107071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500" dirty="0">
                <a:solidFill>
                  <a:schemeClr val="tx1"/>
                </a:solidFill>
              </a:rPr>
              <a:t>Memory IP Simulation Model</a:t>
            </a:r>
            <a:endParaRPr lang="zh-TW" altLang="en-US" sz="1500" dirty="0">
              <a:solidFill>
                <a:schemeClr val="tx1"/>
              </a:solidFill>
            </a:endParaRPr>
          </a:p>
        </p:txBody>
      </p:sp>
      <p:sp>
        <p:nvSpPr>
          <p:cNvPr id="9" name="矩形 8">
            <a:extLst>
              <a:ext uri="{FF2B5EF4-FFF2-40B4-BE49-F238E27FC236}">
                <a16:creationId xmlns:a16="http://schemas.microsoft.com/office/drawing/2014/main" id="{6A853C42-AB77-4BA4-9FB3-370EFB563616}"/>
              </a:ext>
            </a:extLst>
          </p:cNvPr>
          <p:cNvSpPr/>
          <p:nvPr/>
        </p:nvSpPr>
        <p:spPr>
          <a:xfrm>
            <a:off x="5643394" y="5461423"/>
            <a:ext cx="1045028" cy="107071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500" dirty="0">
                <a:solidFill>
                  <a:schemeClr val="tx1"/>
                </a:solidFill>
              </a:rPr>
              <a:t>On-Chip</a:t>
            </a:r>
          </a:p>
          <a:p>
            <a:pPr algn="ctr"/>
            <a:r>
              <a:rPr lang="en-US" altLang="zh-TW" sz="1500" dirty="0">
                <a:solidFill>
                  <a:schemeClr val="tx1"/>
                </a:solidFill>
              </a:rPr>
              <a:t>Block-RAM</a:t>
            </a:r>
          </a:p>
          <a:p>
            <a:pPr algn="ctr"/>
            <a:r>
              <a:rPr lang="en-US" altLang="zh-TW" sz="1500" dirty="0">
                <a:solidFill>
                  <a:schemeClr val="tx1"/>
                </a:solidFill>
              </a:rPr>
              <a:t>Model</a:t>
            </a:r>
            <a:endParaRPr lang="zh-TW" altLang="en-US" sz="1500" dirty="0">
              <a:solidFill>
                <a:schemeClr val="tx1"/>
              </a:solidFill>
            </a:endParaRPr>
          </a:p>
        </p:txBody>
      </p:sp>
      <p:sp>
        <p:nvSpPr>
          <p:cNvPr id="10" name="矩形 9">
            <a:extLst>
              <a:ext uri="{FF2B5EF4-FFF2-40B4-BE49-F238E27FC236}">
                <a16:creationId xmlns:a16="http://schemas.microsoft.com/office/drawing/2014/main" id="{70EC3A08-28D2-4649-ADF1-630DEF248912}"/>
              </a:ext>
            </a:extLst>
          </p:cNvPr>
          <p:cNvSpPr/>
          <p:nvPr/>
        </p:nvSpPr>
        <p:spPr>
          <a:xfrm>
            <a:off x="2851207" y="4621695"/>
            <a:ext cx="3837215" cy="433898"/>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800" dirty="0">
                <a:solidFill>
                  <a:schemeClr val="tx1"/>
                </a:solidFill>
              </a:rPr>
              <a:t>Testbench</a:t>
            </a:r>
            <a:endParaRPr lang="zh-TW" altLang="en-US" sz="1800" dirty="0">
              <a:solidFill>
                <a:schemeClr val="tx1"/>
              </a:solidFill>
            </a:endParaRPr>
          </a:p>
        </p:txBody>
      </p:sp>
      <p:cxnSp>
        <p:nvCxnSpPr>
          <p:cNvPr id="11" name="直線單箭頭接點 10">
            <a:extLst>
              <a:ext uri="{FF2B5EF4-FFF2-40B4-BE49-F238E27FC236}">
                <a16:creationId xmlns:a16="http://schemas.microsoft.com/office/drawing/2014/main" id="{F0577E51-93A1-4917-8A2C-3727C6397DE9}"/>
              </a:ext>
            </a:extLst>
          </p:cNvPr>
          <p:cNvCxnSpPr>
            <a:endCxn id="7" idx="0"/>
          </p:cNvCxnSpPr>
          <p:nvPr/>
        </p:nvCxnSpPr>
        <p:spPr>
          <a:xfrm>
            <a:off x="3373722" y="5055593"/>
            <a:ext cx="1" cy="40583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2" name="直線單箭頭接點 11">
            <a:extLst>
              <a:ext uri="{FF2B5EF4-FFF2-40B4-BE49-F238E27FC236}">
                <a16:creationId xmlns:a16="http://schemas.microsoft.com/office/drawing/2014/main" id="{83B13421-36AB-4873-B77D-ADC91CC01C50}"/>
              </a:ext>
            </a:extLst>
          </p:cNvPr>
          <p:cNvCxnSpPr>
            <a:cxnSpLocks/>
            <a:stCxn id="7" idx="3"/>
            <a:endCxn id="8" idx="1"/>
          </p:cNvCxnSpPr>
          <p:nvPr/>
        </p:nvCxnSpPr>
        <p:spPr>
          <a:xfrm>
            <a:off x="3896236" y="5996781"/>
            <a:ext cx="351064"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3" name="直線單箭頭接點 12">
            <a:extLst>
              <a:ext uri="{FF2B5EF4-FFF2-40B4-BE49-F238E27FC236}">
                <a16:creationId xmlns:a16="http://schemas.microsoft.com/office/drawing/2014/main" id="{BB5CFA97-4245-4DAD-8979-BD66022143C2}"/>
              </a:ext>
            </a:extLst>
          </p:cNvPr>
          <p:cNvCxnSpPr>
            <a:cxnSpLocks/>
            <a:stCxn id="8" idx="3"/>
            <a:endCxn id="9" idx="1"/>
          </p:cNvCxnSpPr>
          <p:nvPr/>
        </p:nvCxnSpPr>
        <p:spPr>
          <a:xfrm flipV="1">
            <a:off x="5349239" y="5996780"/>
            <a:ext cx="294155" cy="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6" name="直線單箭頭接點 15">
            <a:extLst>
              <a:ext uri="{FF2B5EF4-FFF2-40B4-BE49-F238E27FC236}">
                <a16:creationId xmlns:a16="http://schemas.microsoft.com/office/drawing/2014/main" id="{AF43DAD7-9C0E-4706-9C19-622DFE661226}"/>
              </a:ext>
            </a:extLst>
          </p:cNvPr>
          <p:cNvCxnSpPr>
            <a:cxnSpLocks/>
            <a:stCxn id="9" idx="0"/>
          </p:cNvCxnSpPr>
          <p:nvPr/>
        </p:nvCxnSpPr>
        <p:spPr>
          <a:xfrm flipH="1" flipV="1">
            <a:off x="6165907" y="5055593"/>
            <a:ext cx="1" cy="40583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5938626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2C0AC168-BDE4-4BF5-95FC-CA0B0652C59E}"/>
              </a:ext>
            </a:extLst>
          </p:cNvPr>
          <p:cNvSpPr txBox="1">
            <a:spLocks/>
          </p:cNvSpPr>
          <p:nvPr/>
        </p:nvSpPr>
        <p:spPr>
          <a:xfrm>
            <a:off x="742950" y="1426997"/>
            <a:ext cx="7886700" cy="3431381"/>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100" dirty="0"/>
              <a:t>Simulation using NCVerilog</a:t>
            </a:r>
          </a:p>
          <a:p>
            <a:pPr lvl="1"/>
            <a:r>
              <a:rPr lang="en-US" altLang="zh-TW" sz="1800" i="1" dirty="0"/>
              <a:t>cd (Qsys Path)/(IP Name)/sim/cadence/</a:t>
            </a:r>
          </a:p>
          <a:p>
            <a:pPr lvl="1"/>
            <a:r>
              <a:rPr lang="en-US" altLang="zh-TW" sz="1800" i="1" dirty="0"/>
              <a:t>setenv CDS_ROOT “/cad/cadence/INCISIV/cur/”</a:t>
            </a:r>
          </a:p>
          <a:p>
            <a:pPr lvl="1"/>
            <a:r>
              <a:rPr lang="en-US" altLang="zh-TW" sz="1800" i="1" dirty="0"/>
              <a:t>bash ncsim_setup.sh SKIP_ELAB=1 SKIP_SIM=1</a:t>
            </a:r>
          </a:p>
          <a:p>
            <a:pPr lvl="1"/>
            <a:r>
              <a:rPr lang="en-US" altLang="zh-TW" sz="1800" i="1" dirty="0"/>
              <a:t>cp &lt;design and testbench files&gt; ./</a:t>
            </a:r>
          </a:p>
          <a:p>
            <a:pPr lvl="1"/>
            <a:r>
              <a:rPr lang="en-US" altLang="zh-TW" sz="1800" i="1" dirty="0"/>
              <a:t>ncverilog &lt;testbench_files&gt; &lt;</a:t>
            </a:r>
            <a:r>
              <a:rPr lang="en-US" altLang="zh-TW" sz="1800" i="1" dirty="0" err="1"/>
              <a:t>design_files</a:t>
            </a:r>
            <a:r>
              <a:rPr lang="en-US" altLang="zh-TW" sz="1800" i="1" dirty="0"/>
              <a:t>&gt; +access+r</a:t>
            </a:r>
          </a:p>
        </p:txBody>
      </p:sp>
      <p:sp>
        <p:nvSpPr>
          <p:cNvPr id="2" name="標題 1">
            <a:extLst>
              <a:ext uri="{FF2B5EF4-FFF2-40B4-BE49-F238E27FC236}">
                <a16:creationId xmlns:a16="http://schemas.microsoft.com/office/drawing/2014/main" id="{49519FB3-7E60-4020-A743-67C506FCCB8B}"/>
              </a:ext>
            </a:extLst>
          </p:cNvPr>
          <p:cNvSpPr>
            <a:spLocks noGrp="1"/>
          </p:cNvSpPr>
          <p:nvPr>
            <p:ph type="title"/>
          </p:nvPr>
        </p:nvSpPr>
        <p:spPr>
          <a:xfrm>
            <a:off x="628650" y="432825"/>
            <a:ext cx="7886700" cy="994172"/>
          </a:xfrm>
        </p:spPr>
        <p:txBody>
          <a:bodyPr/>
          <a:lstStyle/>
          <a:p>
            <a:r>
              <a:rPr lang="en-US" altLang="zh-TW" dirty="0"/>
              <a:t>RTL</a:t>
            </a:r>
            <a:r>
              <a:rPr lang="zh-TW" altLang="en-US" dirty="0"/>
              <a:t> </a:t>
            </a:r>
            <a:r>
              <a:rPr lang="en-US" altLang="zh-TW" dirty="0"/>
              <a:t>simulation with Qsys IP</a:t>
            </a:r>
            <a:endParaRPr lang="zh-TW" altLang="en-US" dirty="0"/>
          </a:p>
        </p:txBody>
      </p:sp>
      <p:pic>
        <p:nvPicPr>
          <p:cNvPr id="3" name="圖片 2">
            <a:extLst>
              <a:ext uri="{FF2B5EF4-FFF2-40B4-BE49-F238E27FC236}">
                <a16:creationId xmlns:a16="http://schemas.microsoft.com/office/drawing/2014/main" id="{DFC9DD28-56AF-4187-BE16-778B7BEA6DB1}"/>
              </a:ext>
            </a:extLst>
          </p:cNvPr>
          <p:cNvPicPr>
            <a:picLocks noChangeAspect="1"/>
          </p:cNvPicPr>
          <p:nvPr/>
        </p:nvPicPr>
        <p:blipFill>
          <a:blip r:embed="rId3"/>
          <a:stretch>
            <a:fillRect/>
          </a:stretch>
        </p:blipFill>
        <p:spPr>
          <a:xfrm>
            <a:off x="2322887" y="3637068"/>
            <a:ext cx="4498225" cy="2027609"/>
          </a:xfrm>
          <a:prstGeom prst="rect">
            <a:avLst/>
          </a:prstGeom>
        </p:spPr>
      </p:pic>
      <p:sp>
        <p:nvSpPr>
          <p:cNvPr id="4" name="投影片編號版面配置區 3">
            <a:extLst>
              <a:ext uri="{FF2B5EF4-FFF2-40B4-BE49-F238E27FC236}">
                <a16:creationId xmlns:a16="http://schemas.microsoft.com/office/drawing/2014/main" id="{1FF3582C-B80F-4151-B92F-7A9E67C2FB19}"/>
              </a:ext>
            </a:extLst>
          </p:cNvPr>
          <p:cNvSpPr>
            <a:spLocks noGrp="1"/>
          </p:cNvSpPr>
          <p:nvPr>
            <p:ph type="sldNum" sz="quarter" idx="12"/>
          </p:nvPr>
        </p:nvSpPr>
        <p:spPr/>
        <p:txBody>
          <a:bodyPr/>
          <a:lstStyle/>
          <a:p>
            <a:fld id="{AE4B70F8-4499-4EB5-A47F-9F74713612AE}" type="slidenum">
              <a:rPr lang="zh-TW" altLang="en-US" smtClean="0"/>
              <a:t>91</a:t>
            </a:fld>
            <a:endParaRPr lang="zh-TW" altLang="en-US" dirty="0"/>
          </a:p>
        </p:txBody>
      </p:sp>
    </p:spTree>
    <p:extLst>
      <p:ext uri="{BB962C8B-B14F-4D97-AF65-F5344CB8AC3E}">
        <p14:creationId xmlns:p14="http://schemas.microsoft.com/office/powerpoint/2010/main" val="413500982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35"/>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Times New Roman"/>
              <a:buNone/>
            </a:pPr>
            <a:r>
              <a:rPr lang="en-US"/>
              <a:t>Appendix</a:t>
            </a:r>
            <a:endParaRPr/>
          </a:p>
        </p:txBody>
      </p:sp>
      <p:sp>
        <p:nvSpPr>
          <p:cNvPr id="510" name="Google Shape;510;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511" name="Google Shape;511;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92</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36"/>
          <p:cNvSpPr txBox="1">
            <a:spLocks noGrp="1"/>
          </p:cNvSpPr>
          <p:nvPr>
            <p:ph type="ctrTitle"/>
          </p:nvPr>
        </p:nvSpPr>
        <p:spPr>
          <a:xfrm>
            <a:off x="685800" y="1895662"/>
            <a:ext cx="7772400" cy="382563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600"/>
              <a:buFont typeface="Times New Roman"/>
              <a:buNone/>
            </a:pPr>
            <a:r>
              <a:rPr lang="en-US" sz="3600" dirty="0">
                <a:latin typeface="Times New Roman"/>
                <a:ea typeface="Times New Roman"/>
                <a:cs typeface="Times New Roman"/>
                <a:sym typeface="Times New Roman"/>
              </a:rPr>
              <a:t>Appendix 1: Modifying PCIe</a:t>
            </a:r>
            <a:br>
              <a:rPr lang="en-US" sz="3600" dirty="0">
                <a:solidFill>
                  <a:srgbClr val="D8D8D8"/>
                </a:solidFill>
                <a:latin typeface="Times New Roman"/>
                <a:ea typeface="Times New Roman"/>
                <a:cs typeface="Times New Roman"/>
                <a:sym typeface="Times New Roman"/>
              </a:rPr>
            </a:br>
            <a:r>
              <a:rPr lang="en-US" sz="3600" dirty="0">
                <a:solidFill>
                  <a:srgbClr val="D8D8D8"/>
                </a:solidFill>
                <a:latin typeface="Times New Roman"/>
                <a:ea typeface="Times New Roman"/>
                <a:cs typeface="Times New Roman"/>
                <a:sym typeface="Times New Roman"/>
              </a:rPr>
              <a:t>Appendix 2</a:t>
            </a:r>
            <a:r>
              <a:rPr lang="en-US" sz="3600" dirty="0">
                <a:solidFill>
                  <a:srgbClr val="D8D8D8"/>
                </a:solidFill>
              </a:rPr>
              <a:t>: _CLK version</a:t>
            </a:r>
            <a:br>
              <a:rPr lang="en-US" sz="3600" dirty="0">
                <a:solidFill>
                  <a:srgbClr val="D8D8D8"/>
                </a:solidFill>
              </a:rPr>
            </a:br>
            <a:endParaRPr sz="3600" dirty="0">
              <a:solidFill>
                <a:srgbClr val="D8D8D8"/>
              </a:solidFill>
            </a:endParaRPr>
          </a:p>
        </p:txBody>
      </p:sp>
      <p:sp>
        <p:nvSpPr>
          <p:cNvPr id="517" name="Google Shape;517;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93</a:t>
            </a:fld>
            <a:endParaRPr/>
          </a:p>
        </p:txBody>
      </p:sp>
      <p:sp>
        <p:nvSpPr>
          <p:cNvPr id="518" name="Google Shape;518;p3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37"/>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Modifying the PCIE</a:t>
            </a:r>
            <a:endParaRPr>
              <a:latin typeface="Times New Roman"/>
              <a:ea typeface="Times New Roman"/>
              <a:cs typeface="Times New Roman"/>
              <a:sym typeface="Times New Roman"/>
            </a:endParaRPr>
          </a:p>
        </p:txBody>
      </p:sp>
      <p:sp>
        <p:nvSpPr>
          <p:cNvPr id="524" name="Google Shape;524;p37"/>
          <p:cNvSpPr txBox="1">
            <a:spLocks noGrp="1"/>
          </p:cNvSpPr>
          <p:nvPr>
            <p:ph type="body" idx="1"/>
          </p:nvPr>
        </p:nvSpPr>
        <p:spPr>
          <a:xfrm>
            <a:off x="477795" y="1252152"/>
            <a:ext cx="8254313" cy="49248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a:latin typeface="Times New Roman"/>
                <a:ea typeface="Times New Roman"/>
                <a:cs typeface="Times New Roman"/>
                <a:sym typeface="Times New Roman"/>
              </a:rPr>
              <a:t>GEN</a:t>
            </a:r>
            <a:endParaRPr/>
          </a:p>
          <a:p>
            <a:pPr marL="685800" lvl="1" indent="-228600" algn="l" rtl="0">
              <a:lnSpc>
                <a:spcPct val="90000"/>
              </a:lnSpc>
              <a:spcBef>
                <a:spcPts val="500"/>
              </a:spcBef>
              <a:spcAft>
                <a:spcPts val="0"/>
              </a:spcAft>
              <a:buClr>
                <a:schemeClr val="dk1"/>
              </a:buClr>
              <a:buSzPts val="1800"/>
              <a:buChar char="˗"/>
            </a:pPr>
            <a:r>
              <a:rPr lang="en-US">
                <a:latin typeface="Times New Roman"/>
                <a:ea typeface="Times New Roman"/>
                <a:cs typeface="Times New Roman"/>
                <a:sym typeface="Times New Roman"/>
              </a:rPr>
              <a:t>1/2/3</a:t>
            </a:r>
            <a:endParaRPr/>
          </a:p>
          <a:p>
            <a:pPr marL="228600" lvl="0" indent="-228600" algn="l" rtl="0">
              <a:lnSpc>
                <a:spcPct val="90000"/>
              </a:lnSpc>
              <a:spcBef>
                <a:spcPts val="1000"/>
              </a:spcBef>
              <a:spcAft>
                <a:spcPts val="0"/>
              </a:spcAft>
              <a:buClr>
                <a:schemeClr val="dk1"/>
              </a:buClr>
              <a:buSzPts val="2000"/>
              <a:buChar char="•"/>
            </a:pPr>
            <a:r>
              <a:rPr lang="en-US">
                <a:latin typeface="Times New Roman"/>
                <a:ea typeface="Times New Roman"/>
                <a:cs typeface="Times New Roman"/>
                <a:sym typeface="Times New Roman"/>
              </a:rPr>
              <a:t>LANE</a:t>
            </a:r>
            <a:endParaRPr/>
          </a:p>
          <a:p>
            <a:pPr marL="685800" lvl="1" indent="-228600" algn="l" rtl="0">
              <a:lnSpc>
                <a:spcPct val="90000"/>
              </a:lnSpc>
              <a:spcBef>
                <a:spcPts val="500"/>
              </a:spcBef>
              <a:spcAft>
                <a:spcPts val="0"/>
              </a:spcAft>
              <a:buClr>
                <a:schemeClr val="dk1"/>
              </a:buClr>
              <a:buSzPts val="1800"/>
              <a:buChar char="˗"/>
            </a:pPr>
            <a:r>
              <a:rPr lang="en-US">
                <a:latin typeface="Times New Roman"/>
                <a:ea typeface="Times New Roman"/>
                <a:cs typeface="Times New Roman"/>
                <a:sym typeface="Times New Roman"/>
              </a:rPr>
              <a:t>x1/x2/x4/x8/x16</a:t>
            </a:r>
            <a:endParaRPr/>
          </a:p>
          <a:p>
            <a:pPr marL="228600" lvl="0" indent="-228600" algn="l" rtl="0">
              <a:lnSpc>
                <a:spcPct val="90000"/>
              </a:lnSpc>
              <a:spcBef>
                <a:spcPts val="1000"/>
              </a:spcBef>
              <a:spcAft>
                <a:spcPts val="0"/>
              </a:spcAft>
              <a:buClr>
                <a:schemeClr val="dk1"/>
              </a:buClr>
              <a:buSzPts val="2000"/>
              <a:buChar char="•"/>
            </a:pPr>
            <a:r>
              <a:rPr lang="en-US">
                <a:latin typeface="Times New Roman"/>
                <a:ea typeface="Times New Roman"/>
                <a:cs typeface="Times New Roman"/>
                <a:sym typeface="Times New Roman"/>
              </a:rPr>
              <a:t>62.5 MHz:</a:t>
            </a:r>
            <a:endParaRPr/>
          </a:p>
          <a:p>
            <a:pPr marL="685800" lvl="1" indent="-228600" algn="l" rtl="0">
              <a:lnSpc>
                <a:spcPct val="90000"/>
              </a:lnSpc>
              <a:spcBef>
                <a:spcPts val="500"/>
              </a:spcBef>
              <a:spcAft>
                <a:spcPts val="0"/>
              </a:spcAft>
              <a:buClr>
                <a:schemeClr val="dk1"/>
              </a:buClr>
              <a:buSzPts val="1800"/>
              <a:buChar char="˗"/>
            </a:pPr>
            <a:r>
              <a:rPr lang="en-US">
                <a:latin typeface="Times New Roman"/>
                <a:ea typeface="Times New Roman"/>
                <a:cs typeface="Times New Roman"/>
                <a:sym typeface="Times New Roman"/>
              </a:rPr>
              <a:t>Gen1x1</a:t>
            </a:r>
            <a:endParaRPr/>
          </a:p>
          <a:p>
            <a:pPr marL="228600" lvl="0" indent="-228600" algn="l" rtl="0">
              <a:lnSpc>
                <a:spcPct val="90000"/>
              </a:lnSpc>
              <a:spcBef>
                <a:spcPts val="1000"/>
              </a:spcBef>
              <a:spcAft>
                <a:spcPts val="0"/>
              </a:spcAft>
              <a:buClr>
                <a:schemeClr val="dk1"/>
              </a:buClr>
              <a:buSzPts val="2000"/>
              <a:buChar char="•"/>
            </a:pPr>
            <a:r>
              <a:rPr lang="en-US">
                <a:latin typeface="Times New Roman"/>
                <a:ea typeface="Times New Roman"/>
                <a:cs typeface="Times New Roman"/>
                <a:sym typeface="Times New Roman"/>
              </a:rPr>
              <a:t>125 MHz:</a:t>
            </a:r>
            <a:endParaRPr/>
          </a:p>
          <a:p>
            <a:pPr marL="685800" lvl="1" indent="-228600" algn="l" rtl="0">
              <a:lnSpc>
                <a:spcPct val="90000"/>
              </a:lnSpc>
              <a:spcBef>
                <a:spcPts val="500"/>
              </a:spcBef>
              <a:spcAft>
                <a:spcPts val="0"/>
              </a:spcAft>
              <a:buClr>
                <a:schemeClr val="dk1"/>
              </a:buClr>
              <a:buSzPts val="1800"/>
              <a:buChar char="˗"/>
            </a:pPr>
            <a:r>
              <a:rPr lang="en-US">
                <a:latin typeface="Times New Roman"/>
                <a:ea typeface="Times New Roman"/>
                <a:cs typeface="Times New Roman"/>
                <a:sym typeface="Times New Roman"/>
              </a:rPr>
              <a:t>Gen1x2, Gen1x4 </a:t>
            </a:r>
            <a:endParaRPr/>
          </a:p>
          <a:p>
            <a:pPr marL="685800" lvl="1" indent="-228600" algn="l" rtl="0">
              <a:lnSpc>
                <a:spcPct val="90000"/>
              </a:lnSpc>
              <a:spcBef>
                <a:spcPts val="500"/>
              </a:spcBef>
              <a:spcAft>
                <a:spcPts val="0"/>
              </a:spcAft>
              <a:buClr>
                <a:schemeClr val="dk1"/>
              </a:buClr>
              <a:buSzPts val="1800"/>
              <a:buChar char="˗"/>
            </a:pPr>
            <a:r>
              <a:rPr lang="en-US">
                <a:latin typeface="Times New Roman"/>
                <a:ea typeface="Times New Roman"/>
                <a:cs typeface="Times New Roman"/>
                <a:sym typeface="Times New Roman"/>
              </a:rPr>
              <a:t>Gen2x1, Gen2x2, Gen2x4</a:t>
            </a:r>
            <a:endParaRPr>
              <a:latin typeface="Times New Roman"/>
              <a:ea typeface="Times New Roman"/>
              <a:cs typeface="Times New Roman"/>
              <a:sym typeface="Times New Roman"/>
            </a:endParaRPr>
          </a:p>
          <a:p>
            <a:pPr marL="685800" lvl="1" indent="-228600" algn="l" rtl="0">
              <a:lnSpc>
                <a:spcPct val="90000"/>
              </a:lnSpc>
              <a:spcBef>
                <a:spcPts val="500"/>
              </a:spcBef>
              <a:spcAft>
                <a:spcPts val="0"/>
              </a:spcAft>
              <a:buClr>
                <a:schemeClr val="dk1"/>
              </a:buClr>
              <a:buSzPts val="1800"/>
              <a:buChar char="˗"/>
            </a:pPr>
            <a:r>
              <a:rPr lang="en-US">
                <a:latin typeface="Times New Roman"/>
                <a:ea typeface="Times New Roman"/>
                <a:cs typeface="Times New Roman"/>
                <a:sym typeface="Times New Roman"/>
              </a:rPr>
              <a:t>Gen3x1, Gen3x2</a:t>
            </a:r>
            <a:endParaRPr/>
          </a:p>
          <a:p>
            <a:pPr marL="228600" lvl="0" indent="-228600" algn="l" rtl="0">
              <a:lnSpc>
                <a:spcPct val="90000"/>
              </a:lnSpc>
              <a:spcBef>
                <a:spcPts val="1000"/>
              </a:spcBef>
              <a:spcAft>
                <a:spcPts val="0"/>
              </a:spcAft>
              <a:buClr>
                <a:schemeClr val="dk1"/>
              </a:buClr>
              <a:buSzPts val="2000"/>
              <a:buChar char="•"/>
            </a:pPr>
            <a:r>
              <a:rPr lang="en-US">
                <a:latin typeface="Times New Roman"/>
                <a:ea typeface="Times New Roman"/>
                <a:cs typeface="Times New Roman"/>
                <a:sym typeface="Times New Roman"/>
              </a:rPr>
              <a:t>250 MHz:</a:t>
            </a:r>
            <a:endParaRPr/>
          </a:p>
          <a:p>
            <a:pPr marL="685800" lvl="1" indent="-228600" algn="l" rtl="0">
              <a:lnSpc>
                <a:spcPct val="90000"/>
              </a:lnSpc>
              <a:spcBef>
                <a:spcPts val="500"/>
              </a:spcBef>
              <a:spcAft>
                <a:spcPts val="0"/>
              </a:spcAft>
              <a:buClr>
                <a:schemeClr val="dk1"/>
              </a:buClr>
              <a:buSzPts val="1800"/>
              <a:buChar char="˗"/>
            </a:pPr>
            <a:r>
              <a:rPr lang="en-US">
                <a:latin typeface="Times New Roman"/>
                <a:ea typeface="Times New Roman"/>
                <a:cs typeface="Times New Roman"/>
                <a:sym typeface="Times New Roman"/>
              </a:rPr>
              <a:t>Gen2x8</a:t>
            </a:r>
            <a:endParaRPr/>
          </a:p>
          <a:p>
            <a:pPr marL="685800" lvl="1" indent="-228600" algn="l" rtl="0">
              <a:lnSpc>
                <a:spcPct val="90000"/>
              </a:lnSpc>
              <a:spcBef>
                <a:spcPts val="500"/>
              </a:spcBef>
              <a:spcAft>
                <a:spcPts val="0"/>
              </a:spcAft>
              <a:buClr>
                <a:schemeClr val="dk1"/>
              </a:buClr>
              <a:buSzPts val="1800"/>
              <a:buChar char="˗"/>
            </a:pPr>
            <a:r>
              <a:rPr lang="en-US">
                <a:latin typeface="Times New Roman"/>
                <a:ea typeface="Times New Roman"/>
                <a:cs typeface="Times New Roman"/>
                <a:sym typeface="Times New Roman"/>
              </a:rPr>
              <a:t>Gen3x4, Gen 3x8</a:t>
            </a:r>
            <a:endParaRPr>
              <a:latin typeface="Times New Roman"/>
              <a:ea typeface="Times New Roman"/>
              <a:cs typeface="Times New Roman"/>
              <a:sym typeface="Times New Roman"/>
            </a:endParaRPr>
          </a:p>
        </p:txBody>
      </p:sp>
      <p:sp>
        <p:nvSpPr>
          <p:cNvPr id="525" name="Google Shape;525;p37"/>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526" name="Google Shape;526;p37"/>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94</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38"/>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latin typeface="Times New Roman"/>
                <a:ea typeface="Times New Roman"/>
                <a:cs typeface="Times New Roman"/>
                <a:sym typeface="Times New Roman"/>
              </a:rPr>
              <a:t>Modifying the PCIe on the Qsys</a:t>
            </a:r>
            <a:endParaRPr dirty="0">
              <a:latin typeface="Times New Roman"/>
              <a:ea typeface="Times New Roman"/>
              <a:cs typeface="Times New Roman"/>
              <a:sym typeface="Times New Roman"/>
            </a:endParaRPr>
          </a:p>
        </p:txBody>
      </p:sp>
      <p:sp>
        <p:nvSpPr>
          <p:cNvPr id="532" name="Google Shape;532;p38"/>
          <p:cNvSpPr txBox="1">
            <a:spLocks noGrp="1"/>
          </p:cNvSpPr>
          <p:nvPr>
            <p:ph type="body" idx="1"/>
          </p:nvPr>
        </p:nvSpPr>
        <p:spPr>
          <a:xfrm>
            <a:off x="477796" y="1252152"/>
            <a:ext cx="8184512" cy="509454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600"/>
              <a:buChar char="•"/>
            </a:pPr>
            <a:r>
              <a:rPr lang="en-US" sz="1600">
                <a:latin typeface="Times New Roman"/>
                <a:ea typeface="Times New Roman"/>
                <a:cs typeface="Times New Roman"/>
                <a:sym typeface="Times New Roman"/>
              </a:rPr>
              <a:t>Double click on</a:t>
            </a:r>
            <a:endParaRPr/>
          </a:p>
          <a:p>
            <a:pPr marL="685800" lvl="1" indent="-228600" algn="l" rtl="0">
              <a:lnSpc>
                <a:spcPct val="90000"/>
              </a:lnSpc>
              <a:spcBef>
                <a:spcPts val="500"/>
              </a:spcBef>
              <a:spcAft>
                <a:spcPts val="0"/>
              </a:spcAft>
              <a:buClr>
                <a:schemeClr val="dk1"/>
              </a:buClr>
              <a:buSzPts val="1400"/>
              <a:buChar char="˗"/>
            </a:pPr>
            <a:r>
              <a:rPr lang="en-US" sz="1400">
                <a:latin typeface="Times New Roman"/>
                <a:ea typeface="Times New Roman"/>
                <a:cs typeface="Times New Roman"/>
                <a:sym typeface="Times New Roman"/>
              </a:rPr>
              <a:t>QSysDE#Gen#x#lf###:pcie_system_inst</a:t>
            </a:r>
            <a:endParaRPr sz="140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Areas to be edited are highlighted</a:t>
            </a:r>
            <a:endParaRPr/>
          </a:p>
          <a:p>
            <a:pPr marL="228600" lvl="0" indent="-228600" algn="l" rtl="0">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Edit settings in PCIeDE#Gen#x#If### first</a:t>
            </a:r>
            <a:endParaRPr/>
          </a:p>
          <a:p>
            <a:pPr marL="228600" lvl="0" indent="-228600" algn="l" rtl="0">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Then for XCVRCtrlGen#x#, and XDRVCtrlGen#x#</a:t>
            </a:r>
            <a:endParaRPr/>
          </a:p>
          <a:p>
            <a:pPr marL="685800" lvl="1" indent="-228600" algn="l" rtl="0">
              <a:lnSpc>
                <a:spcPct val="90000"/>
              </a:lnSpc>
              <a:spcBef>
                <a:spcPts val="500"/>
              </a:spcBef>
              <a:spcAft>
                <a:spcPts val="0"/>
              </a:spcAft>
              <a:buClr>
                <a:schemeClr val="dk1"/>
              </a:buClr>
              <a:buSzPts val="1400"/>
              <a:buChar char="˗"/>
            </a:pPr>
            <a:r>
              <a:rPr lang="en-US" sz="1400">
                <a:latin typeface="Times New Roman"/>
                <a:ea typeface="Times New Roman"/>
                <a:cs typeface="Times New Roman"/>
                <a:sym typeface="Times New Roman"/>
              </a:rPr>
              <a:t>Edit </a:t>
            </a:r>
            <a:r>
              <a:rPr lang="en-US" sz="1400" i="1">
                <a:latin typeface="Times New Roman"/>
                <a:ea typeface="Times New Roman"/>
                <a:cs typeface="Times New Roman"/>
                <a:sym typeface="Times New Roman"/>
              </a:rPr>
              <a:t>Number of reconfiguration interfaces</a:t>
            </a:r>
            <a:r>
              <a:rPr lang="en-US" sz="1400">
                <a:latin typeface="Times New Roman"/>
                <a:ea typeface="Times New Roman"/>
                <a:cs typeface="Times New Roman"/>
                <a:sym typeface="Times New Roman"/>
              </a:rPr>
              <a:t> accordingly</a:t>
            </a:r>
            <a:endParaRPr/>
          </a:p>
        </p:txBody>
      </p:sp>
      <p:sp>
        <p:nvSpPr>
          <p:cNvPr id="533" name="Google Shape;533;p38"/>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95</a:t>
            </a:fld>
            <a:endParaRPr/>
          </a:p>
        </p:txBody>
      </p:sp>
      <p:pic>
        <p:nvPicPr>
          <p:cNvPr id="534" name="Google Shape;534;p38"/>
          <p:cNvPicPr preferRelativeResize="0"/>
          <p:nvPr/>
        </p:nvPicPr>
        <p:blipFill rotWithShape="1">
          <a:blip r:embed="rId3">
            <a:alphaModFix/>
          </a:blip>
          <a:srcRect t="29203" b="15940"/>
          <a:stretch/>
        </p:blipFill>
        <p:spPr>
          <a:xfrm>
            <a:off x="6317539" y="1252152"/>
            <a:ext cx="2777158" cy="1500730"/>
          </a:xfrm>
          <a:prstGeom prst="rect">
            <a:avLst/>
          </a:prstGeom>
          <a:noFill/>
          <a:ln>
            <a:noFill/>
          </a:ln>
        </p:spPr>
      </p:pic>
      <p:pic>
        <p:nvPicPr>
          <p:cNvPr id="535" name="Google Shape;535;p38"/>
          <p:cNvPicPr preferRelativeResize="0"/>
          <p:nvPr/>
        </p:nvPicPr>
        <p:blipFill rotWithShape="1">
          <a:blip r:embed="rId4">
            <a:alphaModFix/>
          </a:blip>
          <a:srcRect/>
          <a:stretch/>
        </p:blipFill>
        <p:spPr>
          <a:xfrm>
            <a:off x="4127574" y="3164040"/>
            <a:ext cx="4840350" cy="3172666"/>
          </a:xfrm>
          <a:prstGeom prst="rect">
            <a:avLst/>
          </a:prstGeom>
          <a:noFill/>
          <a:ln>
            <a:noFill/>
          </a:ln>
        </p:spPr>
      </p:pic>
      <p:sp>
        <p:nvSpPr>
          <p:cNvPr id="536" name="Google Shape;536;p38"/>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537" name="Google Shape;537;p38"/>
          <p:cNvSpPr txBox="1"/>
          <p:nvPr/>
        </p:nvSpPr>
        <p:spPr>
          <a:xfrm>
            <a:off x="262289" y="3164040"/>
            <a:ext cx="3756212"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From 2x8 to 2x4 (250MHz 🡪 125MHz)</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Qsys</a:t>
            </a:r>
            <a:endParaRPr sz="1800" dirty="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PCI Express IP </a:t>
            </a:r>
            <a:r>
              <a:rPr lang="en-US" sz="1800" dirty="0">
                <a:solidFill>
                  <a:srgbClr val="FF0000"/>
                </a:solidFill>
                <a:latin typeface="Calibri"/>
                <a:ea typeface="Calibri"/>
                <a:cs typeface="Calibri"/>
                <a:sym typeface="Calibri"/>
              </a:rPr>
              <a:t>x8 🡪x4</a:t>
            </a:r>
            <a:endParaRPr sz="1800" dirty="0">
              <a:solidFill>
                <a:srgbClr val="FF0000"/>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Number of </a:t>
            </a:r>
            <a:r>
              <a:rPr lang="en-US" sz="1800" dirty="0" err="1">
                <a:solidFill>
                  <a:schemeClr val="dk1"/>
                </a:solidFill>
                <a:latin typeface="Calibri"/>
                <a:ea typeface="Calibri"/>
                <a:cs typeface="Calibri"/>
                <a:sym typeface="Calibri"/>
              </a:rPr>
              <a:t>XCVRCtrl</a:t>
            </a:r>
            <a:r>
              <a:rPr lang="en-US" sz="1800" dirty="0">
                <a:solidFill>
                  <a:schemeClr val="dk1"/>
                </a:solidFill>
                <a:latin typeface="Calibri"/>
                <a:ea typeface="Calibri"/>
                <a:cs typeface="Calibri"/>
                <a:sym typeface="Calibri"/>
              </a:rPr>
              <a:t> </a:t>
            </a:r>
            <a:r>
              <a:rPr lang="en-US" sz="1800" dirty="0">
                <a:solidFill>
                  <a:srgbClr val="FF0000"/>
                </a:solidFill>
                <a:latin typeface="Calibri"/>
                <a:ea typeface="Calibri"/>
                <a:cs typeface="Calibri"/>
                <a:sym typeface="Calibri"/>
              </a:rPr>
              <a:t>10 🡪 5</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Number of </a:t>
            </a:r>
            <a:r>
              <a:rPr lang="en-US" sz="1800" dirty="0" err="1">
                <a:solidFill>
                  <a:schemeClr val="dk1"/>
                </a:solidFill>
                <a:latin typeface="Calibri"/>
                <a:ea typeface="Calibri"/>
                <a:cs typeface="Calibri"/>
                <a:sym typeface="Calibri"/>
              </a:rPr>
              <a:t>XCVRDrv</a:t>
            </a:r>
            <a:r>
              <a:rPr lang="en-US" sz="1800" dirty="0">
                <a:solidFill>
                  <a:schemeClr val="dk1"/>
                </a:solidFill>
                <a:latin typeface="Calibri"/>
                <a:ea typeface="Calibri"/>
                <a:cs typeface="Calibri"/>
                <a:sym typeface="Calibri"/>
              </a:rPr>
              <a:t> </a:t>
            </a:r>
            <a:r>
              <a:rPr lang="en-US" sz="1800" dirty="0">
                <a:solidFill>
                  <a:srgbClr val="FF0000"/>
                </a:solidFill>
                <a:latin typeface="Calibri"/>
                <a:ea typeface="Calibri"/>
                <a:cs typeface="Calibri"/>
                <a:sym typeface="Calibri"/>
              </a:rPr>
              <a:t>10 🡪 5</a:t>
            </a:r>
            <a:endParaRPr dirty="0"/>
          </a:p>
          <a:p>
            <a:pPr marL="0" marR="0" lvl="0" indent="0" algn="l" rtl="0">
              <a:spcBef>
                <a:spcPts val="0"/>
              </a:spcBef>
              <a:spcAft>
                <a:spcPts val="0"/>
              </a:spcAft>
              <a:buNone/>
            </a:pPr>
            <a:r>
              <a:rPr lang="en-US" sz="1800" dirty="0">
                <a:solidFill>
                  <a:srgbClr val="FF0000"/>
                </a:solidFill>
                <a:latin typeface="Calibri"/>
                <a:ea typeface="Calibri"/>
                <a:cs typeface="Calibri"/>
                <a:sym typeface="Calibri"/>
              </a:rPr>
              <a:t>Top module file</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C_NUM_LANES 8 🡪 4</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Remove Qsys PCIE 4~7 channel for RX and TX</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Remove the setting for .qsf file for PCIE lane 4~7 (optional)</a:t>
            </a:r>
            <a:endParaRPr sz="1800" dirty="0">
              <a:solidFill>
                <a:schemeClr val="dk1"/>
              </a:solidFill>
              <a:latin typeface="Calibri"/>
              <a:ea typeface="Calibri"/>
              <a:cs typeface="Calibri"/>
              <a:sym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39"/>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Changing </a:t>
            </a:r>
            <a:r>
              <a:rPr lang="en-US">
                <a:solidFill>
                  <a:srgbClr val="FF0000"/>
                </a:solidFill>
                <a:latin typeface="Times New Roman"/>
                <a:ea typeface="Times New Roman"/>
                <a:cs typeface="Times New Roman"/>
                <a:sym typeface="Times New Roman"/>
              </a:rPr>
              <a:t>PCIe generation</a:t>
            </a:r>
            <a:endParaRPr>
              <a:latin typeface="Times New Roman"/>
              <a:ea typeface="Times New Roman"/>
              <a:cs typeface="Times New Roman"/>
              <a:sym typeface="Times New Roman"/>
            </a:endParaRPr>
          </a:p>
        </p:txBody>
      </p:sp>
      <p:sp>
        <p:nvSpPr>
          <p:cNvPr id="543" name="Google Shape;543;p39"/>
          <p:cNvSpPr txBox="1">
            <a:spLocks noGrp="1"/>
          </p:cNvSpPr>
          <p:nvPr>
            <p:ph type="body" idx="1"/>
          </p:nvPr>
        </p:nvSpPr>
        <p:spPr>
          <a:xfrm>
            <a:off x="477796" y="1252152"/>
            <a:ext cx="8184512" cy="509454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Go to assignment editor</a:t>
            </a:r>
            <a:endParaRPr/>
          </a:p>
          <a:p>
            <a:pPr marL="228600" lvl="0" indent="-228600" algn="l" rtl="0">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Change Values accordingly</a:t>
            </a:r>
            <a:endParaRPr/>
          </a:p>
          <a:p>
            <a:pPr marL="685800" lvl="1" indent="-228600" algn="l" rtl="0">
              <a:lnSpc>
                <a:spcPct val="90000"/>
              </a:lnSpc>
              <a:spcBef>
                <a:spcPts val="500"/>
              </a:spcBef>
              <a:spcAft>
                <a:spcPts val="0"/>
              </a:spcAft>
              <a:buClr>
                <a:schemeClr val="dk1"/>
              </a:buClr>
              <a:buSzPts val="1600"/>
              <a:buChar char="˗"/>
            </a:pPr>
            <a:r>
              <a:rPr lang="en-US" sz="1600">
                <a:latin typeface="Times New Roman"/>
                <a:ea typeface="Times New Roman"/>
                <a:cs typeface="Times New Roman"/>
                <a:sym typeface="Times New Roman"/>
              </a:rPr>
              <a:t>PCIE_GEN1</a:t>
            </a:r>
            <a:endParaRPr/>
          </a:p>
          <a:p>
            <a:pPr marL="685800" lvl="1" indent="-228600" algn="l" rtl="0">
              <a:lnSpc>
                <a:spcPct val="90000"/>
              </a:lnSpc>
              <a:spcBef>
                <a:spcPts val="500"/>
              </a:spcBef>
              <a:spcAft>
                <a:spcPts val="0"/>
              </a:spcAft>
              <a:buClr>
                <a:schemeClr val="dk1"/>
              </a:buClr>
              <a:buSzPts val="1600"/>
              <a:buChar char="˗"/>
            </a:pPr>
            <a:r>
              <a:rPr lang="en-US" sz="1600">
                <a:latin typeface="Times New Roman"/>
                <a:ea typeface="Times New Roman"/>
                <a:cs typeface="Times New Roman"/>
                <a:sym typeface="Times New Roman"/>
              </a:rPr>
              <a:t>PCIE_GEN2</a:t>
            </a:r>
            <a:endParaRPr/>
          </a:p>
          <a:p>
            <a:pPr marL="685800" lvl="1" indent="-228600" algn="l" rtl="0">
              <a:lnSpc>
                <a:spcPct val="90000"/>
              </a:lnSpc>
              <a:spcBef>
                <a:spcPts val="500"/>
              </a:spcBef>
              <a:spcAft>
                <a:spcPts val="0"/>
              </a:spcAft>
              <a:buClr>
                <a:schemeClr val="dk1"/>
              </a:buClr>
              <a:buSzPts val="1600"/>
              <a:buChar char="˗"/>
            </a:pPr>
            <a:r>
              <a:rPr lang="en-US" sz="1600">
                <a:latin typeface="Times New Roman"/>
                <a:ea typeface="Times New Roman"/>
                <a:cs typeface="Times New Roman"/>
                <a:sym typeface="Times New Roman"/>
              </a:rPr>
              <a:t>PCIE_GEN3</a:t>
            </a:r>
            <a:endParaRPr/>
          </a:p>
        </p:txBody>
      </p:sp>
      <p:sp>
        <p:nvSpPr>
          <p:cNvPr id="544" name="Google Shape;544;p39"/>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96</a:t>
            </a:fld>
            <a:endParaRPr/>
          </a:p>
        </p:txBody>
      </p:sp>
      <p:pic>
        <p:nvPicPr>
          <p:cNvPr id="545" name="Google Shape;545;p39"/>
          <p:cNvPicPr preferRelativeResize="0"/>
          <p:nvPr/>
        </p:nvPicPr>
        <p:blipFill rotWithShape="1">
          <a:blip r:embed="rId3">
            <a:alphaModFix/>
          </a:blip>
          <a:srcRect/>
          <a:stretch/>
        </p:blipFill>
        <p:spPr>
          <a:xfrm>
            <a:off x="1506495" y="2812562"/>
            <a:ext cx="6746554" cy="3716698"/>
          </a:xfrm>
          <a:prstGeom prst="rect">
            <a:avLst/>
          </a:prstGeom>
          <a:noFill/>
          <a:ln>
            <a:noFill/>
          </a:ln>
        </p:spPr>
      </p:pic>
      <p:sp>
        <p:nvSpPr>
          <p:cNvPr id="546" name="Google Shape;546;p39"/>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40"/>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Changing </a:t>
            </a:r>
            <a:r>
              <a:rPr lang="en-US">
                <a:solidFill>
                  <a:srgbClr val="FF0000"/>
                </a:solidFill>
                <a:latin typeface="Times New Roman"/>
                <a:ea typeface="Times New Roman"/>
                <a:cs typeface="Times New Roman"/>
                <a:sym typeface="Times New Roman"/>
              </a:rPr>
              <a:t>width</a:t>
            </a:r>
            <a:endParaRPr>
              <a:solidFill>
                <a:srgbClr val="FF0000"/>
              </a:solidFill>
              <a:latin typeface="Times New Roman"/>
              <a:ea typeface="Times New Roman"/>
              <a:cs typeface="Times New Roman"/>
              <a:sym typeface="Times New Roman"/>
            </a:endParaRPr>
          </a:p>
        </p:txBody>
      </p:sp>
      <p:sp>
        <p:nvSpPr>
          <p:cNvPr id="552" name="Google Shape;552;p40"/>
          <p:cNvSpPr txBox="1">
            <a:spLocks noGrp="1"/>
          </p:cNvSpPr>
          <p:nvPr>
            <p:ph type="body" idx="1"/>
          </p:nvPr>
        </p:nvSpPr>
        <p:spPr>
          <a:xfrm>
            <a:off x="477795" y="1252152"/>
            <a:ext cx="8254313" cy="49248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latin typeface="Times New Roman"/>
                <a:ea typeface="Times New Roman"/>
                <a:cs typeface="Times New Roman"/>
                <a:sym typeface="Times New Roman"/>
              </a:rPr>
              <a:t>Go to </a:t>
            </a:r>
            <a:r>
              <a:rPr lang="en-US" b="1" dirty="0" err="1">
                <a:latin typeface="Times New Roman"/>
                <a:ea typeface="Times New Roman"/>
                <a:cs typeface="Times New Roman"/>
                <a:sym typeface="Times New Roman"/>
              </a:rPr>
              <a:t>DE#Gen#x#lf</a:t>
            </a:r>
            <a:r>
              <a:rPr lang="en-US" b="1" dirty="0">
                <a:latin typeface="Times New Roman"/>
                <a:ea typeface="Times New Roman"/>
                <a:cs typeface="Times New Roman"/>
                <a:sym typeface="Times New Roman"/>
              </a:rPr>
              <a:t>###.v</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Change parameter </a:t>
            </a:r>
            <a:r>
              <a:rPr lang="en-US" i="1" dirty="0">
                <a:latin typeface="Times New Roman"/>
                <a:ea typeface="Times New Roman"/>
                <a:cs typeface="Times New Roman"/>
                <a:sym typeface="Times New Roman"/>
              </a:rPr>
              <a:t>C_PCI_DATA_WIDTH </a:t>
            </a:r>
            <a:r>
              <a:rPr lang="en-US" dirty="0">
                <a:latin typeface="Times New Roman"/>
                <a:ea typeface="Times New Roman"/>
                <a:cs typeface="Times New Roman"/>
                <a:sym typeface="Times New Roman"/>
              </a:rPr>
              <a:t>to </a:t>
            </a:r>
            <a:r>
              <a:rPr lang="en-US" i="1" dirty="0">
                <a:latin typeface="Times New Roman"/>
                <a:ea typeface="Times New Roman"/>
                <a:cs typeface="Times New Roman"/>
                <a:sym typeface="Times New Roman"/>
              </a:rPr>
              <a:t>width</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For IP </a:t>
            </a:r>
            <a:r>
              <a:rPr lang="en-US" dirty="0" err="1">
                <a:latin typeface="Times New Roman"/>
                <a:ea typeface="Times New Roman"/>
                <a:cs typeface="Times New Roman"/>
                <a:sym typeface="Times New Roman"/>
              </a:rPr>
              <a:t>QSysDE#Gen#x#If</a:t>
            </a:r>
            <a:r>
              <a:rPr lang="en-US" dirty="0">
                <a:latin typeface="Times New Roman"/>
                <a:ea typeface="Times New Roman"/>
                <a:cs typeface="Times New Roman"/>
                <a:sym typeface="Times New Roman"/>
              </a:rPr>
              <a:t>### </a:t>
            </a:r>
            <a:r>
              <a:rPr lang="en-US" i="1" dirty="0" err="1">
                <a:latin typeface="Times New Roman"/>
                <a:ea typeface="Times New Roman"/>
                <a:cs typeface="Times New Roman"/>
                <a:sym typeface="Times New Roman"/>
              </a:rPr>
              <a:t>pcie_system_inst</a:t>
            </a:r>
            <a:endParaRPr i="1" dirty="0">
              <a:latin typeface="Times New Roman"/>
              <a:ea typeface="Times New Roman"/>
              <a:cs typeface="Times New Roman"/>
              <a:sym typeface="Times New Roman"/>
            </a:endParaRPr>
          </a:p>
          <a:p>
            <a:pPr marL="1143000" lvl="2" indent="-228600" algn="l" rtl="0">
              <a:lnSpc>
                <a:spcPct val="90000"/>
              </a:lnSpc>
              <a:spcBef>
                <a:spcPts val="500"/>
              </a:spcBef>
              <a:spcAft>
                <a:spcPts val="0"/>
              </a:spcAft>
              <a:buClr>
                <a:schemeClr val="dk1"/>
              </a:buClr>
              <a:buSzPts val="1600"/>
              <a:buChar char="˗"/>
            </a:pP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rx_st_data</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rx_st_data</a:t>
            </a:r>
            <a:r>
              <a:rPr lang="en-US" dirty="0">
                <a:latin typeface="Times New Roman"/>
                <a:ea typeface="Times New Roman"/>
                <a:cs typeface="Times New Roman"/>
                <a:sym typeface="Times New Roman"/>
              </a:rPr>
              <a:t>[</a:t>
            </a:r>
            <a:r>
              <a:rPr lang="en-US" b="1" dirty="0">
                <a:latin typeface="Times New Roman"/>
                <a:ea typeface="Times New Roman"/>
                <a:cs typeface="Times New Roman"/>
                <a:sym typeface="Times New Roman"/>
              </a:rPr>
              <a:t>C_PCI_DATA_WIDTH</a:t>
            </a:r>
            <a:r>
              <a:rPr lang="en-US" dirty="0">
                <a:latin typeface="Times New Roman"/>
                <a:ea typeface="Times New Roman"/>
                <a:cs typeface="Times New Roman"/>
                <a:sym typeface="Times New Roman"/>
              </a:rPr>
              <a:t>-1:0]),</a:t>
            </a:r>
            <a:endParaRPr dirty="0"/>
          </a:p>
          <a:p>
            <a:pPr marL="1143000" lvl="2" indent="-228600" algn="l" rtl="0">
              <a:lnSpc>
                <a:spcPct val="90000"/>
              </a:lnSpc>
              <a:spcBef>
                <a:spcPts val="500"/>
              </a:spcBef>
              <a:spcAft>
                <a:spcPts val="0"/>
              </a:spcAft>
              <a:buClr>
                <a:schemeClr val="dk1"/>
              </a:buClr>
              <a:buSzPts val="1600"/>
              <a:buChar char="˗"/>
            </a:pP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tx_st_data</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tx_st_data</a:t>
            </a:r>
            <a:r>
              <a:rPr lang="en-US" dirty="0">
                <a:latin typeface="Times New Roman"/>
                <a:ea typeface="Times New Roman"/>
                <a:cs typeface="Times New Roman"/>
                <a:sym typeface="Times New Roman"/>
              </a:rPr>
              <a:t>[</a:t>
            </a:r>
            <a:r>
              <a:rPr lang="en-US" b="1" dirty="0">
                <a:latin typeface="Times New Roman"/>
                <a:ea typeface="Times New Roman"/>
                <a:cs typeface="Times New Roman"/>
                <a:sym typeface="Times New Roman"/>
              </a:rPr>
              <a:t>C_PCI_DATA_WIDTH</a:t>
            </a:r>
            <a:r>
              <a:rPr lang="en-US" dirty="0">
                <a:latin typeface="Times New Roman"/>
                <a:ea typeface="Times New Roman"/>
                <a:cs typeface="Times New Roman"/>
                <a:sym typeface="Times New Roman"/>
              </a:rPr>
              <a:t>-1:0]),</a:t>
            </a:r>
            <a:endParaRPr dirty="0"/>
          </a:p>
          <a:p>
            <a:pPr marL="685800" lvl="1" indent="-114300" algn="l" rtl="0">
              <a:lnSpc>
                <a:spcPct val="90000"/>
              </a:lnSpc>
              <a:spcBef>
                <a:spcPts val="500"/>
              </a:spcBef>
              <a:spcAft>
                <a:spcPts val="0"/>
              </a:spcAft>
              <a:buClr>
                <a:schemeClr val="dk1"/>
              </a:buClr>
              <a:buSzPts val="1800"/>
              <a:buNone/>
            </a:pPr>
            <a:endParaRPr i="1" dirty="0"/>
          </a:p>
          <a:p>
            <a:pPr marL="228600" lvl="0" indent="-101600" algn="l" rtl="0">
              <a:lnSpc>
                <a:spcPct val="90000"/>
              </a:lnSpc>
              <a:spcBef>
                <a:spcPts val="1000"/>
              </a:spcBef>
              <a:spcAft>
                <a:spcPts val="0"/>
              </a:spcAft>
              <a:buClr>
                <a:schemeClr val="dk1"/>
              </a:buClr>
              <a:buSzPts val="2000"/>
              <a:buNone/>
            </a:pPr>
            <a:endParaRPr dirty="0"/>
          </a:p>
        </p:txBody>
      </p:sp>
      <p:sp>
        <p:nvSpPr>
          <p:cNvPr id="553" name="Google Shape;553;p40"/>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554" name="Google Shape;554;p40"/>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97</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41"/>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Changing </a:t>
            </a:r>
            <a:r>
              <a:rPr lang="en-US">
                <a:solidFill>
                  <a:srgbClr val="FF0000"/>
                </a:solidFill>
                <a:latin typeface="Times New Roman"/>
                <a:ea typeface="Times New Roman"/>
                <a:cs typeface="Times New Roman"/>
                <a:sym typeface="Times New Roman"/>
              </a:rPr>
              <a:t>number of lanes</a:t>
            </a:r>
            <a:endParaRPr>
              <a:solidFill>
                <a:srgbClr val="FF0000"/>
              </a:solidFill>
              <a:latin typeface="Times New Roman"/>
              <a:ea typeface="Times New Roman"/>
              <a:cs typeface="Times New Roman"/>
              <a:sym typeface="Times New Roman"/>
            </a:endParaRPr>
          </a:p>
        </p:txBody>
      </p:sp>
      <p:sp>
        <p:nvSpPr>
          <p:cNvPr id="560" name="Google Shape;560;p41"/>
          <p:cNvSpPr txBox="1">
            <a:spLocks noGrp="1"/>
          </p:cNvSpPr>
          <p:nvPr>
            <p:ph type="body" idx="1"/>
          </p:nvPr>
        </p:nvSpPr>
        <p:spPr>
          <a:xfrm>
            <a:off x="477795" y="1252152"/>
            <a:ext cx="8254313" cy="49248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latin typeface="Times New Roman"/>
                <a:ea typeface="Times New Roman"/>
                <a:cs typeface="Times New Roman"/>
                <a:sym typeface="Times New Roman"/>
              </a:rPr>
              <a:t>Go to </a:t>
            </a:r>
            <a:r>
              <a:rPr lang="en-US" b="1" dirty="0" err="1">
                <a:latin typeface="Times New Roman"/>
                <a:ea typeface="Times New Roman"/>
                <a:cs typeface="Times New Roman"/>
                <a:sym typeface="Times New Roman"/>
              </a:rPr>
              <a:t>DE#Gen#x#lf</a:t>
            </a:r>
            <a:r>
              <a:rPr lang="en-US" b="1" dirty="0">
                <a:latin typeface="Times New Roman"/>
                <a:ea typeface="Times New Roman"/>
                <a:cs typeface="Times New Roman"/>
                <a:sym typeface="Times New Roman"/>
              </a:rPr>
              <a:t>###.v</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Change parameter </a:t>
            </a:r>
            <a:r>
              <a:rPr lang="en-US" i="1" dirty="0">
                <a:latin typeface="Times New Roman"/>
                <a:ea typeface="Times New Roman"/>
                <a:cs typeface="Times New Roman"/>
                <a:sym typeface="Times New Roman"/>
              </a:rPr>
              <a:t>C_NUM_LANES</a:t>
            </a:r>
            <a:r>
              <a:rPr lang="en-US" dirty="0">
                <a:latin typeface="Times New Roman"/>
                <a:ea typeface="Times New Roman"/>
                <a:cs typeface="Times New Roman"/>
                <a:sym typeface="Times New Roman"/>
              </a:rPr>
              <a:t> to </a:t>
            </a:r>
            <a:r>
              <a:rPr lang="en-US" i="1" dirty="0">
                <a:latin typeface="Times New Roman"/>
                <a:ea typeface="Times New Roman"/>
                <a:cs typeface="Times New Roman"/>
                <a:sym typeface="Times New Roman"/>
              </a:rPr>
              <a:t>number of lanes</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For IP </a:t>
            </a:r>
            <a:r>
              <a:rPr lang="en-US" dirty="0" err="1">
                <a:latin typeface="Times New Roman"/>
                <a:ea typeface="Times New Roman"/>
                <a:cs typeface="Times New Roman"/>
                <a:sym typeface="Times New Roman"/>
              </a:rPr>
              <a:t>QSysDE#Gen#x#If</a:t>
            </a:r>
            <a:r>
              <a:rPr lang="en-US" dirty="0">
                <a:latin typeface="Times New Roman"/>
                <a:ea typeface="Times New Roman"/>
                <a:cs typeface="Times New Roman"/>
                <a:sym typeface="Times New Roman"/>
              </a:rPr>
              <a:t>### </a:t>
            </a:r>
            <a:r>
              <a:rPr lang="en-US" i="1" dirty="0" err="1">
                <a:latin typeface="Times New Roman"/>
                <a:ea typeface="Times New Roman"/>
                <a:cs typeface="Times New Roman"/>
                <a:sym typeface="Times New Roman"/>
              </a:rPr>
              <a:t>pcie_system_inst</a:t>
            </a:r>
            <a:endParaRPr i="1" dirty="0">
              <a:latin typeface="Times New Roman"/>
              <a:ea typeface="Times New Roman"/>
              <a:cs typeface="Times New Roman"/>
              <a:sym typeface="Times New Roman"/>
            </a:endParaRPr>
          </a:p>
          <a:p>
            <a:pPr marL="1143000" lvl="2" indent="-228600" algn="l" rtl="0">
              <a:lnSpc>
                <a:spcPct val="90000"/>
              </a:lnSpc>
              <a:spcBef>
                <a:spcPts val="500"/>
              </a:spcBef>
              <a:spcAft>
                <a:spcPts val="0"/>
              </a:spcAft>
              <a:buClr>
                <a:schemeClr val="dk1"/>
              </a:buClr>
              <a:buSzPts val="1600"/>
              <a:buChar char="˗"/>
            </a:pPr>
            <a:r>
              <a:rPr lang="en-US" dirty="0">
                <a:latin typeface="Times New Roman"/>
                <a:ea typeface="Times New Roman"/>
                <a:cs typeface="Times New Roman"/>
                <a:sym typeface="Times New Roman"/>
              </a:rPr>
              <a:t>      .pcieserial_tx_out0 (PCIE_TX_OUT[0]),</a:t>
            </a:r>
            <a:endParaRPr dirty="0"/>
          </a:p>
          <a:p>
            <a:pPr marL="1143000" lvl="2" indent="-228600" algn="l" rtl="0">
              <a:lnSpc>
                <a:spcPct val="90000"/>
              </a:lnSpc>
              <a:spcBef>
                <a:spcPts val="500"/>
              </a:spcBef>
              <a:spcAft>
                <a:spcPts val="0"/>
              </a:spcAft>
              <a:buClr>
                <a:schemeClr val="dk1"/>
              </a:buClr>
              <a:buSzPts val="1600"/>
              <a:buChar char="˗"/>
            </a:pPr>
            <a:r>
              <a:rPr lang="en-US" dirty="0">
                <a:latin typeface="Times New Roman"/>
                <a:ea typeface="Times New Roman"/>
                <a:cs typeface="Times New Roman"/>
                <a:sym typeface="Times New Roman"/>
              </a:rPr>
              <a:t>      .pcieserial_tx_out1 (PCIE_TX_OUT[1]),</a:t>
            </a:r>
            <a:endParaRPr dirty="0"/>
          </a:p>
          <a:p>
            <a:pPr marL="1143000" lvl="2" indent="-228600" algn="l" rtl="0">
              <a:lnSpc>
                <a:spcPct val="90000"/>
              </a:lnSpc>
              <a:spcBef>
                <a:spcPts val="500"/>
              </a:spcBef>
              <a:spcAft>
                <a:spcPts val="0"/>
              </a:spcAft>
              <a:buClr>
                <a:schemeClr val="dk1"/>
              </a:buClr>
              <a:buSzPts val="1600"/>
              <a:buChar char="˗"/>
            </a:pPr>
            <a:r>
              <a:rPr lang="en-US" dirty="0">
                <a:latin typeface="Times New Roman"/>
                <a:ea typeface="Times New Roman"/>
                <a:cs typeface="Times New Roman"/>
                <a:sym typeface="Times New Roman"/>
              </a:rPr>
              <a:t>      ...</a:t>
            </a:r>
            <a:endParaRPr dirty="0"/>
          </a:p>
          <a:p>
            <a:pPr marL="1143000" lvl="2" indent="-228600" algn="l" rtl="0">
              <a:lnSpc>
                <a:spcPct val="90000"/>
              </a:lnSpc>
              <a:spcBef>
                <a:spcPts val="500"/>
              </a:spcBef>
              <a:spcAft>
                <a:spcPts val="0"/>
              </a:spcAft>
              <a:buClr>
                <a:schemeClr val="dk1"/>
              </a:buClr>
              <a:buSzPts val="1600"/>
              <a:buChar char="˗"/>
            </a:pP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pcieserial_tx_out</a:t>
            </a:r>
            <a:r>
              <a:rPr lang="en-US" dirty="0">
                <a:latin typeface="Times New Roman"/>
                <a:ea typeface="Times New Roman"/>
                <a:cs typeface="Times New Roman"/>
                <a:sym typeface="Times New Roman"/>
              </a:rPr>
              <a:t># (PCIE_TX_OUT[#]),</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AND</a:t>
            </a:r>
            <a:endParaRPr dirty="0"/>
          </a:p>
          <a:p>
            <a:pPr marL="1143000" lvl="2" indent="-228600" algn="l" rtl="0">
              <a:lnSpc>
                <a:spcPct val="90000"/>
              </a:lnSpc>
              <a:spcBef>
                <a:spcPts val="500"/>
              </a:spcBef>
              <a:spcAft>
                <a:spcPts val="0"/>
              </a:spcAft>
              <a:buClr>
                <a:schemeClr val="dk1"/>
              </a:buClr>
              <a:buSzPts val="1600"/>
              <a:buChar char="˗"/>
            </a:pPr>
            <a:r>
              <a:rPr lang="en-US" dirty="0">
                <a:latin typeface="Times New Roman"/>
                <a:ea typeface="Times New Roman"/>
                <a:cs typeface="Times New Roman"/>
                <a:sym typeface="Times New Roman"/>
              </a:rPr>
              <a:t>      .pcieserial_rx_in0  (PCIE_RX_IN[0]),</a:t>
            </a:r>
            <a:endParaRPr dirty="0"/>
          </a:p>
          <a:p>
            <a:pPr marL="1143000" lvl="2" indent="-228600" algn="l" rtl="0">
              <a:lnSpc>
                <a:spcPct val="90000"/>
              </a:lnSpc>
              <a:spcBef>
                <a:spcPts val="500"/>
              </a:spcBef>
              <a:spcAft>
                <a:spcPts val="0"/>
              </a:spcAft>
              <a:buClr>
                <a:schemeClr val="dk1"/>
              </a:buClr>
              <a:buSzPts val="1600"/>
              <a:buChar char="˗"/>
            </a:pPr>
            <a:r>
              <a:rPr lang="en-US" dirty="0">
                <a:latin typeface="Times New Roman"/>
                <a:ea typeface="Times New Roman"/>
                <a:cs typeface="Times New Roman"/>
                <a:sym typeface="Times New Roman"/>
              </a:rPr>
              <a:t>      .pcieserial_rx_in1  (PCIE_RX_IN[1]),</a:t>
            </a:r>
            <a:endParaRPr dirty="0"/>
          </a:p>
          <a:p>
            <a:pPr marL="1143000" lvl="2" indent="-228600" algn="l" rtl="0">
              <a:lnSpc>
                <a:spcPct val="90000"/>
              </a:lnSpc>
              <a:spcBef>
                <a:spcPts val="500"/>
              </a:spcBef>
              <a:spcAft>
                <a:spcPts val="0"/>
              </a:spcAft>
              <a:buClr>
                <a:schemeClr val="dk1"/>
              </a:buClr>
              <a:buSzPts val="1600"/>
              <a:buChar char="˗"/>
            </a:pPr>
            <a:r>
              <a:rPr lang="en-US" dirty="0">
                <a:latin typeface="Times New Roman"/>
                <a:ea typeface="Times New Roman"/>
                <a:cs typeface="Times New Roman"/>
                <a:sym typeface="Times New Roman"/>
              </a:rPr>
              <a:t>      ...</a:t>
            </a:r>
            <a:endParaRPr dirty="0"/>
          </a:p>
          <a:p>
            <a:pPr marL="1143000" lvl="2" indent="-228600" algn="l" rtl="0">
              <a:lnSpc>
                <a:spcPct val="90000"/>
              </a:lnSpc>
              <a:spcBef>
                <a:spcPts val="500"/>
              </a:spcBef>
              <a:spcAft>
                <a:spcPts val="0"/>
              </a:spcAft>
              <a:buClr>
                <a:schemeClr val="dk1"/>
              </a:buClr>
              <a:buSzPts val="1600"/>
              <a:buChar char="˗"/>
            </a:pP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pcieserial_rx_in</a:t>
            </a:r>
            <a:r>
              <a:rPr lang="en-US" dirty="0">
                <a:latin typeface="Times New Roman"/>
                <a:ea typeface="Times New Roman"/>
                <a:cs typeface="Times New Roman"/>
                <a:sym typeface="Times New Roman"/>
              </a:rPr>
              <a:t>#  (PCIE_RX_IN[#]),</a:t>
            </a:r>
            <a:endParaRPr dirty="0"/>
          </a:p>
          <a:p>
            <a:pPr marL="1600200" lvl="3" indent="-228600" algn="l" rtl="0">
              <a:lnSpc>
                <a:spcPct val="90000"/>
              </a:lnSpc>
              <a:spcBef>
                <a:spcPts val="500"/>
              </a:spcBef>
              <a:spcAft>
                <a:spcPts val="0"/>
              </a:spcAft>
              <a:buClr>
                <a:schemeClr val="dk1"/>
              </a:buClr>
              <a:buSzPts val="1400"/>
              <a:buChar char="˗"/>
            </a:pPr>
            <a:r>
              <a:rPr lang="en-US" dirty="0">
                <a:latin typeface="Times New Roman"/>
                <a:ea typeface="Times New Roman"/>
                <a:cs typeface="Times New Roman"/>
                <a:sym typeface="Times New Roman"/>
              </a:rPr>
              <a:t># = C_NUM_LANES - 1</a:t>
            </a:r>
            <a:endParaRPr dirty="0"/>
          </a:p>
          <a:p>
            <a:pPr marL="228600" lvl="0" indent="-228600" algn="l" rtl="0">
              <a:lnSpc>
                <a:spcPct val="90000"/>
              </a:lnSpc>
              <a:spcBef>
                <a:spcPts val="1000"/>
              </a:spcBef>
              <a:spcAft>
                <a:spcPts val="0"/>
              </a:spcAft>
              <a:buClr>
                <a:schemeClr val="dk1"/>
              </a:buClr>
              <a:buSzPts val="2000"/>
              <a:buChar char="•"/>
            </a:pPr>
            <a:r>
              <a:rPr lang="en-US" dirty="0">
                <a:latin typeface="Times New Roman"/>
                <a:ea typeface="Times New Roman"/>
                <a:cs typeface="Times New Roman"/>
                <a:sym typeface="Times New Roman"/>
              </a:rPr>
              <a:t>Go to assignment editor</a:t>
            </a:r>
            <a:endParaRPr dirty="0"/>
          </a:p>
          <a:p>
            <a:pPr marL="685800" lvl="1" indent="-228600" algn="l" rtl="0">
              <a:lnSpc>
                <a:spcPct val="90000"/>
              </a:lnSpc>
              <a:spcBef>
                <a:spcPts val="500"/>
              </a:spcBef>
              <a:spcAft>
                <a:spcPts val="0"/>
              </a:spcAft>
              <a:buClr>
                <a:schemeClr val="dk1"/>
              </a:buClr>
              <a:buSzPts val="1800"/>
              <a:buChar char="˗"/>
            </a:pPr>
            <a:r>
              <a:rPr lang="en-US" dirty="0">
                <a:latin typeface="Times New Roman"/>
                <a:ea typeface="Times New Roman"/>
                <a:cs typeface="Times New Roman"/>
                <a:sym typeface="Times New Roman"/>
              </a:rPr>
              <a:t>Add PCIE_RX_IN[#], PCIE_RX_IN[#](n), </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        PCIE_TX_OUT[#], PCIE_TX_OUT[#](n),</a:t>
            </a:r>
            <a:endParaRPr dirty="0"/>
          </a:p>
        </p:txBody>
      </p:sp>
      <p:pic>
        <p:nvPicPr>
          <p:cNvPr id="561" name="Google Shape;561;p41"/>
          <p:cNvPicPr preferRelativeResize="0"/>
          <p:nvPr/>
        </p:nvPicPr>
        <p:blipFill rotWithShape="1">
          <a:blip r:embed="rId3">
            <a:alphaModFix/>
          </a:blip>
          <a:srcRect/>
          <a:stretch/>
        </p:blipFill>
        <p:spPr>
          <a:xfrm>
            <a:off x="5636079" y="2325262"/>
            <a:ext cx="3200400" cy="3333750"/>
          </a:xfrm>
          <a:prstGeom prst="rect">
            <a:avLst/>
          </a:prstGeom>
          <a:noFill/>
          <a:ln>
            <a:noFill/>
          </a:ln>
        </p:spPr>
      </p:pic>
      <p:sp>
        <p:nvSpPr>
          <p:cNvPr id="562" name="Google Shape;562;p41"/>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563" name="Google Shape;563;p41"/>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98</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45"/>
          <p:cNvSpPr txBox="1">
            <a:spLocks noGrp="1"/>
          </p:cNvSpPr>
          <p:nvPr>
            <p:ph type="ctrTitle"/>
          </p:nvPr>
        </p:nvSpPr>
        <p:spPr>
          <a:xfrm>
            <a:off x="685800" y="1895662"/>
            <a:ext cx="7772400" cy="382563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D8D8D8"/>
              </a:buClr>
              <a:buSzPts val="3600"/>
              <a:buFont typeface="Times New Roman"/>
              <a:buNone/>
            </a:pPr>
            <a:r>
              <a:rPr lang="en-US" sz="3600" dirty="0">
                <a:solidFill>
                  <a:srgbClr val="D8D8D8"/>
                </a:solidFill>
                <a:latin typeface="Times New Roman"/>
                <a:ea typeface="Times New Roman"/>
                <a:cs typeface="Times New Roman"/>
                <a:sym typeface="Times New Roman"/>
              </a:rPr>
              <a:t>Appendix 1: Modifying PCIe</a:t>
            </a:r>
            <a:br>
              <a:rPr lang="en-US" sz="3600" dirty="0">
                <a:solidFill>
                  <a:srgbClr val="D8D8D8"/>
                </a:solidFill>
                <a:latin typeface="Times New Roman"/>
                <a:ea typeface="Times New Roman"/>
                <a:cs typeface="Times New Roman"/>
                <a:sym typeface="Times New Roman"/>
              </a:rPr>
            </a:br>
            <a:r>
              <a:rPr lang="en-US" sz="3600" dirty="0">
                <a:latin typeface="Times New Roman"/>
                <a:ea typeface="Times New Roman"/>
                <a:cs typeface="Times New Roman"/>
                <a:sym typeface="Times New Roman"/>
              </a:rPr>
              <a:t>Appendix 2</a:t>
            </a:r>
            <a:r>
              <a:rPr lang="en-US" sz="3600" dirty="0"/>
              <a:t>: _CLK version</a:t>
            </a:r>
            <a:br>
              <a:rPr lang="en-US" sz="3600" dirty="0"/>
            </a:br>
            <a:endParaRPr sz="3600" dirty="0">
              <a:solidFill>
                <a:srgbClr val="D8D8D8"/>
              </a:solidFill>
            </a:endParaRPr>
          </a:p>
        </p:txBody>
      </p:sp>
      <p:sp>
        <p:nvSpPr>
          <p:cNvPr id="595" name="Google Shape;595;p4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99</a:t>
            </a:fld>
            <a:endParaRPr/>
          </a:p>
        </p:txBody>
      </p:sp>
      <p:sp>
        <p:nvSpPr>
          <p:cNvPr id="596" name="Google Shape;596;p4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46"/>
          <p:cNvSpPr txBox="1">
            <a:spLocks noGrp="1"/>
          </p:cNvSpPr>
          <p:nvPr>
            <p:ph type="title"/>
          </p:nvPr>
        </p:nvSpPr>
        <p:spPr>
          <a:xfrm>
            <a:off x="477795" y="365126"/>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t>DE5QGen2x8If128_CLK</a:t>
            </a:r>
            <a:endParaRPr dirty="0"/>
          </a:p>
        </p:txBody>
      </p:sp>
      <p:sp>
        <p:nvSpPr>
          <p:cNvPr id="602" name="Google Shape;602;p46"/>
          <p:cNvSpPr txBox="1">
            <a:spLocks noGrp="1"/>
          </p:cNvSpPr>
          <p:nvPr>
            <p:ph type="body" idx="1"/>
          </p:nvPr>
        </p:nvSpPr>
        <p:spPr>
          <a:xfrm>
            <a:off x="477795" y="1252152"/>
            <a:ext cx="8254313" cy="49248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t>In </a:t>
            </a:r>
            <a:r>
              <a:rPr lang="en-US" dirty="0" err="1"/>
              <a:t>hdl</a:t>
            </a:r>
            <a:r>
              <a:rPr lang="en-US" dirty="0"/>
              <a:t> file</a:t>
            </a:r>
            <a:endParaRPr dirty="0"/>
          </a:p>
          <a:p>
            <a:pPr marL="685800" lvl="1" indent="-228600" algn="l" rtl="0">
              <a:lnSpc>
                <a:spcPct val="90000"/>
              </a:lnSpc>
              <a:spcBef>
                <a:spcPts val="500"/>
              </a:spcBef>
              <a:spcAft>
                <a:spcPts val="0"/>
              </a:spcAft>
              <a:buClr>
                <a:schemeClr val="dk1"/>
              </a:buClr>
              <a:buSzPts val="1800"/>
              <a:buChar char="˗"/>
            </a:pPr>
            <a:r>
              <a:rPr lang="en-US" dirty="0"/>
              <a:t>Top module</a:t>
            </a:r>
            <a:endParaRPr dirty="0"/>
          </a:p>
          <a:p>
            <a:pPr marL="685800" lvl="1" indent="-228600" algn="l" rtl="0">
              <a:lnSpc>
                <a:spcPct val="90000"/>
              </a:lnSpc>
              <a:spcBef>
                <a:spcPts val="500"/>
              </a:spcBef>
              <a:spcAft>
                <a:spcPts val="0"/>
              </a:spcAft>
              <a:buClr>
                <a:schemeClr val="dk1"/>
              </a:buClr>
              <a:buSzPts val="1800"/>
              <a:buChar char="˗"/>
            </a:pPr>
            <a:r>
              <a:rPr lang="en-US" dirty="0"/>
              <a:t>Use </a:t>
            </a:r>
            <a:r>
              <a:rPr lang="en-US" dirty="0" err="1"/>
              <a:t>QSys</a:t>
            </a:r>
            <a:r>
              <a:rPr lang="en-US" dirty="0"/>
              <a:t> to generate different clock</a:t>
            </a:r>
            <a:endParaRPr dirty="0"/>
          </a:p>
          <a:p>
            <a:pPr marL="1143000" lvl="2" indent="-228600" algn="l" rtl="0">
              <a:lnSpc>
                <a:spcPct val="90000"/>
              </a:lnSpc>
              <a:spcBef>
                <a:spcPts val="500"/>
              </a:spcBef>
              <a:spcAft>
                <a:spcPts val="0"/>
              </a:spcAft>
              <a:buClr>
                <a:schemeClr val="dk1"/>
              </a:buClr>
              <a:buSzPts val="1600"/>
              <a:buChar char="˗"/>
            </a:pPr>
            <a:r>
              <a:rPr lang="en-US" dirty="0"/>
              <a:t>Open </a:t>
            </a:r>
            <a:r>
              <a:rPr lang="en-US" dirty="0" err="1"/>
              <a:t>QSys</a:t>
            </a:r>
            <a:r>
              <a:rPr lang="en-US" dirty="0"/>
              <a:t> file in ip directory</a:t>
            </a:r>
            <a:endParaRPr dirty="0"/>
          </a:p>
          <a:p>
            <a:pPr marL="1143000" lvl="2" indent="-228600" algn="l" rtl="0">
              <a:lnSpc>
                <a:spcPct val="90000"/>
              </a:lnSpc>
              <a:spcBef>
                <a:spcPts val="500"/>
              </a:spcBef>
              <a:spcAft>
                <a:spcPts val="0"/>
              </a:spcAft>
              <a:buClr>
                <a:schemeClr val="dk1"/>
              </a:buClr>
              <a:buSzPts val="1600"/>
              <a:buChar char="˗"/>
            </a:pPr>
            <a:r>
              <a:rPr lang="en-US" dirty="0"/>
              <a:t>Modify the pll_0 IP for different clock</a:t>
            </a:r>
            <a:endParaRPr dirty="0"/>
          </a:p>
          <a:p>
            <a:pPr marL="1143000" lvl="2" indent="-228600" algn="l" rtl="0">
              <a:lnSpc>
                <a:spcPct val="90000"/>
              </a:lnSpc>
              <a:spcBef>
                <a:spcPts val="500"/>
              </a:spcBef>
              <a:spcAft>
                <a:spcPts val="0"/>
              </a:spcAft>
              <a:buClr>
                <a:schemeClr val="dk1"/>
              </a:buClr>
              <a:buSzPts val="1600"/>
              <a:buChar char="˗"/>
            </a:pPr>
            <a:r>
              <a:rPr lang="en-US" dirty="0"/>
              <a:t>You can change the export name</a:t>
            </a:r>
            <a:endParaRPr dirty="0"/>
          </a:p>
          <a:p>
            <a:pPr marL="1143000" lvl="2" indent="-228600" algn="l" rtl="0">
              <a:lnSpc>
                <a:spcPct val="90000"/>
              </a:lnSpc>
              <a:spcBef>
                <a:spcPts val="500"/>
              </a:spcBef>
              <a:spcAft>
                <a:spcPts val="0"/>
              </a:spcAft>
              <a:buClr>
                <a:schemeClr val="dk1"/>
              </a:buClr>
              <a:buSzPts val="1600"/>
              <a:buChar char="˗"/>
            </a:pPr>
            <a:r>
              <a:rPr lang="en-US" dirty="0"/>
              <a:t>Ensure consistency on </a:t>
            </a:r>
            <a:r>
              <a:rPr lang="en-US" dirty="0" err="1"/>
              <a:t>QSys</a:t>
            </a:r>
            <a:r>
              <a:rPr lang="en-US" dirty="0"/>
              <a:t> and Top module Qsys definition</a:t>
            </a:r>
            <a:endParaRPr dirty="0"/>
          </a:p>
          <a:p>
            <a:pPr marL="685800" lvl="1" indent="-228600" algn="l" rtl="0">
              <a:lnSpc>
                <a:spcPct val="90000"/>
              </a:lnSpc>
              <a:spcBef>
                <a:spcPts val="500"/>
              </a:spcBef>
              <a:spcAft>
                <a:spcPts val="0"/>
              </a:spcAft>
              <a:buClr>
                <a:schemeClr val="dk1"/>
              </a:buClr>
              <a:buSzPts val="1800"/>
              <a:buChar char="˗"/>
            </a:pPr>
            <a:r>
              <a:rPr lang="en-US" dirty="0"/>
              <a:t>There are twelve clock in RIFFA example, just delete some of them.</a:t>
            </a:r>
            <a:endParaRPr dirty="0"/>
          </a:p>
          <a:p>
            <a:pPr marL="1143000" lvl="2" indent="-127000" algn="l" rtl="0">
              <a:lnSpc>
                <a:spcPct val="90000"/>
              </a:lnSpc>
              <a:spcBef>
                <a:spcPts val="500"/>
              </a:spcBef>
              <a:spcAft>
                <a:spcPts val="0"/>
              </a:spcAft>
              <a:buClr>
                <a:schemeClr val="dk1"/>
              </a:buClr>
              <a:buSzPts val="1600"/>
              <a:buNone/>
            </a:pPr>
            <a:endParaRPr dirty="0"/>
          </a:p>
          <a:p>
            <a:pPr marL="1143000" lvl="2" indent="-127000" algn="l" rtl="0">
              <a:lnSpc>
                <a:spcPct val="90000"/>
              </a:lnSpc>
              <a:spcBef>
                <a:spcPts val="500"/>
              </a:spcBef>
              <a:spcAft>
                <a:spcPts val="0"/>
              </a:spcAft>
              <a:buClr>
                <a:schemeClr val="dk1"/>
              </a:buClr>
              <a:buSzPts val="1600"/>
              <a:buNone/>
            </a:pPr>
            <a:endParaRPr dirty="0"/>
          </a:p>
          <a:p>
            <a:pPr marL="685800" lvl="1" indent="-114300" algn="l" rtl="0">
              <a:lnSpc>
                <a:spcPct val="90000"/>
              </a:lnSpc>
              <a:spcBef>
                <a:spcPts val="500"/>
              </a:spcBef>
              <a:spcAft>
                <a:spcPts val="0"/>
              </a:spcAft>
              <a:buClr>
                <a:schemeClr val="dk1"/>
              </a:buClr>
              <a:buSzPts val="1800"/>
              <a:buNone/>
            </a:pPr>
            <a:endParaRPr dirty="0"/>
          </a:p>
        </p:txBody>
      </p:sp>
      <p:sp>
        <p:nvSpPr>
          <p:cNvPr id="603" name="Google Shape;603;p46"/>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604" name="Google Shape;604;p46"/>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100</a:t>
            </a:fld>
            <a:endParaRPr/>
          </a:p>
        </p:txBody>
      </p:sp>
      <p:pic>
        <p:nvPicPr>
          <p:cNvPr id="605" name="Google Shape;605;p46"/>
          <p:cNvPicPr preferRelativeResize="0"/>
          <p:nvPr/>
        </p:nvPicPr>
        <p:blipFill rotWithShape="1">
          <a:blip r:embed="rId3">
            <a:alphaModFix/>
          </a:blip>
          <a:srcRect/>
          <a:stretch/>
        </p:blipFill>
        <p:spPr>
          <a:xfrm>
            <a:off x="0" y="3925301"/>
            <a:ext cx="9144000" cy="2246385"/>
          </a:xfrm>
          <a:prstGeom prst="rect">
            <a:avLst/>
          </a:prstGeom>
          <a:noFill/>
          <a:ln>
            <a:noFill/>
          </a:ln>
        </p:spPr>
      </p:pic>
      <p:pic>
        <p:nvPicPr>
          <p:cNvPr id="606" name="Google Shape;606;p46"/>
          <p:cNvPicPr preferRelativeResize="0"/>
          <p:nvPr/>
        </p:nvPicPr>
        <p:blipFill rotWithShape="1">
          <a:blip r:embed="rId4">
            <a:alphaModFix/>
          </a:blip>
          <a:srcRect/>
          <a:stretch/>
        </p:blipFill>
        <p:spPr>
          <a:xfrm>
            <a:off x="5024976" y="1103126"/>
            <a:ext cx="3590877" cy="1824872"/>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47"/>
          <p:cNvSpPr txBox="1">
            <a:spLocks noGrp="1"/>
          </p:cNvSpPr>
          <p:nvPr>
            <p:ph type="title"/>
          </p:nvPr>
        </p:nvSpPr>
        <p:spPr>
          <a:xfrm>
            <a:off x="468403" y="13898"/>
            <a:ext cx="8254313" cy="7914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dirty="0"/>
              <a:t>Using _CLK version</a:t>
            </a:r>
            <a:endParaRPr dirty="0"/>
          </a:p>
        </p:txBody>
      </p:sp>
      <p:sp>
        <p:nvSpPr>
          <p:cNvPr id="612" name="Google Shape;612;p47"/>
          <p:cNvSpPr txBox="1">
            <a:spLocks noGrp="1"/>
          </p:cNvSpPr>
          <p:nvPr>
            <p:ph type="body" idx="1"/>
          </p:nvPr>
        </p:nvSpPr>
        <p:spPr>
          <a:xfrm>
            <a:off x="477795" y="681035"/>
            <a:ext cx="8254313" cy="49248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dirty="0"/>
              <a:t>Open riffa_2.2.2/source/fpga/altera/de5/</a:t>
            </a:r>
            <a:r>
              <a:rPr lang="en-US" dirty="0">
                <a:solidFill>
                  <a:srgbClr val="FF0000"/>
                </a:solidFill>
              </a:rPr>
              <a:t>DE5QGen2x8If128_CLK</a:t>
            </a:r>
            <a:r>
              <a:rPr lang="en-US" dirty="0"/>
              <a:t>/</a:t>
            </a:r>
            <a:r>
              <a:rPr lang="en-US" dirty="0" err="1"/>
              <a:t>hdl</a:t>
            </a:r>
            <a:r>
              <a:rPr lang="en-US" dirty="0"/>
              <a:t>/DE5QGen2x8If128_CLK.v“</a:t>
            </a:r>
            <a:endParaRPr dirty="0"/>
          </a:p>
          <a:p>
            <a:pPr marL="228600" lvl="0" indent="-228600" algn="l" rtl="0">
              <a:lnSpc>
                <a:spcPct val="90000"/>
              </a:lnSpc>
              <a:spcBef>
                <a:spcPts val="1000"/>
              </a:spcBef>
              <a:spcAft>
                <a:spcPts val="0"/>
              </a:spcAft>
              <a:buClr>
                <a:schemeClr val="dk1"/>
              </a:buClr>
              <a:buSzPts val="2000"/>
              <a:buChar char="•"/>
            </a:pPr>
            <a:r>
              <a:rPr lang="en-US" dirty="0"/>
              <a:t>Change module parameter: C_NUM_CHNL to 1</a:t>
            </a:r>
            <a:endParaRPr dirty="0"/>
          </a:p>
          <a:p>
            <a:pPr marL="228600" lvl="0" indent="-228600" algn="l" rtl="0">
              <a:lnSpc>
                <a:spcPct val="90000"/>
              </a:lnSpc>
              <a:spcBef>
                <a:spcPts val="1000"/>
              </a:spcBef>
              <a:spcAft>
                <a:spcPts val="0"/>
              </a:spcAft>
              <a:buClr>
                <a:schemeClr val="dk1"/>
              </a:buClr>
              <a:buSzPts val="2000"/>
              <a:buChar char="•"/>
            </a:pPr>
            <a:r>
              <a:rPr lang="en-US" dirty="0">
                <a:latin typeface="DFKai-SB"/>
                <a:ea typeface="DFKai-SB"/>
                <a:cs typeface="DFKai-SB"/>
                <a:sym typeface="DFKai-SB"/>
              </a:rPr>
              <a:t>底下會有12個chnl_tester的instance，只留下你想要用的那個clk頻率的instance就好，其餘刪掉，並記得修改好線路編號</a:t>
            </a:r>
            <a:endParaRPr dirty="0">
              <a:latin typeface="DFKai-SB"/>
              <a:ea typeface="DFKai-SB"/>
              <a:cs typeface="DFKai-SB"/>
              <a:sym typeface="DFKai-SB"/>
            </a:endParaRPr>
          </a:p>
          <a:p>
            <a:pPr marL="228600" lvl="0" indent="-228600" algn="l" rtl="0">
              <a:lnSpc>
                <a:spcPct val="90000"/>
              </a:lnSpc>
              <a:spcBef>
                <a:spcPts val="1000"/>
              </a:spcBef>
              <a:spcAft>
                <a:spcPts val="0"/>
              </a:spcAft>
              <a:buClr>
                <a:schemeClr val="dk1"/>
              </a:buClr>
              <a:buSzPts val="2000"/>
              <a:buChar char="•"/>
            </a:pPr>
            <a:r>
              <a:rPr lang="en-US" dirty="0">
                <a:latin typeface="DFKai-SB"/>
                <a:ea typeface="DFKai-SB"/>
                <a:cs typeface="DFKai-SB"/>
                <a:sym typeface="DFKai-SB"/>
              </a:rPr>
              <a:t>可參考雲端硬碟中的</a:t>
            </a:r>
            <a:r>
              <a:rPr lang="en-US" dirty="0"/>
              <a:t>DE5QGen2x8If128_CLK.v </a:t>
            </a:r>
            <a:r>
              <a:rPr lang="en-US" dirty="0" err="1"/>
              <a:t>範例</a:t>
            </a:r>
            <a:endParaRPr dirty="0">
              <a:latin typeface="DFKai-SB"/>
              <a:ea typeface="DFKai-SB"/>
              <a:cs typeface="DFKai-SB"/>
              <a:sym typeface="DFKai-SB"/>
            </a:endParaRPr>
          </a:p>
          <a:p>
            <a:pPr marL="228600" lvl="0" indent="-228600" algn="l" rtl="0">
              <a:lnSpc>
                <a:spcPct val="90000"/>
              </a:lnSpc>
              <a:spcBef>
                <a:spcPts val="1000"/>
              </a:spcBef>
              <a:spcAft>
                <a:spcPts val="0"/>
              </a:spcAft>
              <a:buClr>
                <a:schemeClr val="dk1"/>
              </a:buClr>
              <a:buSzPts val="2000"/>
              <a:buChar char="•"/>
            </a:pPr>
            <a:r>
              <a:rPr lang="en-US" dirty="0">
                <a:latin typeface="DFKai-SB"/>
                <a:ea typeface="DFKai-SB"/>
                <a:cs typeface="DFKai-SB"/>
                <a:sym typeface="DFKai-SB"/>
              </a:rPr>
              <a:t>quartus開啟project時記得打開_CLK版本的資料夾，燒到FPGA上時也是記得用_CLK版本的資料夾，接下來所有步驟相同，.sdc部分其實本來就已經設定好了，不用特意修改</a:t>
            </a:r>
            <a:endParaRPr dirty="0"/>
          </a:p>
        </p:txBody>
      </p:sp>
      <p:sp>
        <p:nvSpPr>
          <p:cNvPr id="613" name="Google Shape;613;p47"/>
          <p:cNvSpPr txBox="1">
            <a:spLocks noGrp="1"/>
          </p:cNvSpPr>
          <p:nvPr>
            <p:ph type="dt" idx="10"/>
          </p:nvPr>
        </p:nvSpPr>
        <p:spPr>
          <a:xfrm>
            <a:off x="477795" y="6356351"/>
            <a:ext cx="20574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2021/07/30</a:t>
            </a:r>
            <a:endParaRPr/>
          </a:p>
        </p:txBody>
      </p:sp>
      <p:sp>
        <p:nvSpPr>
          <p:cNvPr id="614" name="Google Shape;614;p47"/>
          <p:cNvSpPr txBox="1">
            <a:spLocks noGrp="1"/>
          </p:cNvSpPr>
          <p:nvPr>
            <p:ph type="sldNum" idx="12"/>
          </p:nvPr>
        </p:nvSpPr>
        <p:spPr>
          <a:xfrm>
            <a:off x="6820415" y="6346698"/>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101</a:t>
            </a:fld>
            <a:endParaRPr/>
          </a:p>
        </p:txBody>
      </p:sp>
      <p:pic>
        <p:nvPicPr>
          <p:cNvPr id="615" name="Google Shape;615;p47"/>
          <p:cNvPicPr preferRelativeResize="0"/>
          <p:nvPr/>
        </p:nvPicPr>
        <p:blipFill rotWithShape="1">
          <a:blip r:embed="rId3">
            <a:alphaModFix/>
          </a:blip>
          <a:srcRect/>
          <a:stretch/>
        </p:blipFill>
        <p:spPr>
          <a:xfrm>
            <a:off x="-24654" y="4251175"/>
            <a:ext cx="4696480" cy="2353003"/>
          </a:xfrm>
          <a:prstGeom prst="rect">
            <a:avLst/>
          </a:prstGeom>
          <a:noFill/>
          <a:ln>
            <a:noFill/>
          </a:ln>
        </p:spPr>
      </p:pic>
      <p:pic>
        <p:nvPicPr>
          <p:cNvPr id="616" name="Google Shape;616;p47"/>
          <p:cNvPicPr preferRelativeResize="0"/>
          <p:nvPr/>
        </p:nvPicPr>
        <p:blipFill rotWithShape="1">
          <a:blip r:embed="rId4">
            <a:alphaModFix/>
          </a:blip>
          <a:srcRect/>
          <a:stretch/>
        </p:blipFill>
        <p:spPr>
          <a:xfrm>
            <a:off x="4572000" y="4053840"/>
            <a:ext cx="4496499" cy="2728509"/>
          </a:xfrm>
          <a:prstGeom prst="rect">
            <a:avLst/>
          </a:prstGeom>
          <a:noFill/>
          <a:ln>
            <a:noFill/>
          </a:ln>
        </p:spPr>
      </p:pic>
      <p:sp>
        <p:nvSpPr>
          <p:cNvPr id="617" name="Google Shape;617;p47"/>
          <p:cNvSpPr/>
          <p:nvPr/>
        </p:nvSpPr>
        <p:spPr>
          <a:xfrm>
            <a:off x="3137483" y="4941116"/>
            <a:ext cx="184557" cy="285225"/>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8" name="Google Shape;618;p47"/>
          <p:cNvSpPr/>
          <p:nvPr/>
        </p:nvSpPr>
        <p:spPr>
          <a:xfrm>
            <a:off x="5486401" y="5226341"/>
            <a:ext cx="763398" cy="201336"/>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佈景主題">
  <a:themeElements>
    <a:clrScheme name="Office 佈景主題">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35507</TotalTime>
  <Words>6117</Words>
  <Application>Microsoft Office PowerPoint</Application>
  <PresentationFormat>如螢幕大小 (4:3)</PresentationFormat>
  <Paragraphs>967</Paragraphs>
  <Slides>101</Slides>
  <Notes>83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101</vt:i4>
      </vt:variant>
    </vt:vector>
  </HeadingPairs>
  <TitlesOfParts>
    <vt:vector size="108" baseType="lpstr">
      <vt:lpstr>DFKai-SB</vt:lpstr>
      <vt:lpstr>DFKai-SB</vt:lpstr>
      <vt:lpstr>Arial</vt:lpstr>
      <vt:lpstr>Calibri</vt:lpstr>
      <vt:lpstr>Times New Roman</vt:lpstr>
      <vt:lpstr>Wingdings</vt:lpstr>
      <vt:lpstr>Office 佈景主題</vt:lpstr>
      <vt:lpstr>RIFFA 2.2.2 for dummy</vt:lpstr>
      <vt:lpstr>Outline</vt:lpstr>
      <vt:lpstr>Outline</vt:lpstr>
      <vt:lpstr>Terasic FPGA (Intel)</vt:lpstr>
      <vt:lpstr>Terasic FPGA</vt:lpstr>
      <vt:lpstr>Terasic FPGA</vt:lpstr>
      <vt:lpstr>notion</vt:lpstr>
      <vt:lpstr>Server list</vt:lpstr>
      <vt:lpstr>Outline</vt:lpstr>
      <vt:lpstr>What is RIFFA</vt:lpstr>
      <vt:lpstr>What is RIFFA</vt:lpstr>
      <vt:lpstr>What is RIFFA</vt:lpstr>
      <vt:lpstr>What is RIFFA</vt:lpstr>
      <vt:lpstr>RIFFA Package</vt:lpstr>
      <vt:lpstr>Example: How .qsf file looks like</vt:lpstr>
      <vt:lpstr>Top module file</vt:lpstr>
      <vt:lpstr>Software Interface</vt:lpstr>
      <vt:lpstr>Software Interface</vt:lpstr>
      <vt:lpstr>Sample usage</vt:lpstr>
      <vt:lpstr>PowerPoint 簡報</vt:lpstr>
      <vt:lpstr>PowerPoint 簡報</vt:lpstr>
      <vt:lpstr>PowerPoint 簡報</vt:lpstr>
      <vt:lpstr>TX protocol</vt:lpstr>
      <vt:lpstr>RX protocol</vt:lpstr>
      <vt:lpstr>Sample usage</vt:lpstr>
      <vt:lpstr>tb_chnl_tester.v -&gt; RX</vt:lpstr>
      <vt:lpstr>tb_chnl_tester.v -&gt; TX</vt:lpstr>
      <vt:lpstr>Some hints</vt:lpstr>
      <vt:lpstr>Signal Tap</vt:lpstr>
      <vt:lpstr>FPU IP</vt:lpstr>
      <vt:lpstr>Adventure time</vt:lpstr>
      <vt:lpstr>Outline</vt:lpstr>
      <vt:lpstr>Recommended design flow</vt:lpstr>
      <vt:lpstr>Practice time</vt:lpstr>
      <vt:lpstr>Practice time</vt:lpstr>
      <vt:lpstr>Practice time</vt:lpstr>
      <vt:lpstr>Step-by-step guide - RTL simulation</vt:lpstr>
      <vt:lpstr>Step-by-step guide - FPGA simulation</vt:lpstr>
      <vt:lpstr>Step-by-step guide</vt:lpstr>
      <vt:lpstr>Step-by-step guide</vt:lpstr>
      <vt:lpstr>Step-by-step guide</vt:lpstr>
      <vt:lpstr>Step-by-step guide</vt:lpstr>
      <vt:lpstr>Step-by-step guide</vt:lpstr>
      <vt:lpstr>Step-by-step guide</vt:lpstr>
      <vt:lpstr>Step-by-step guide</vt:lpstr>
      <vt:lpstr>Step-by-step guide</vt:lpstr>
      <vt:lpstr>Step-by-step guide</vt:lpstr>
      <vt:lpstr>Step-by-step guide</vt:lpstr>
      <vt:lpstr>Step-by-step guide</vt:lpstr>
      <vt:lpstr>Step-by-step guide</vt:lpstr>
      <vt:lpstr>Step-by-step guide</vt:lpstr>
      <vt:lpstr>TODOs</vt:lpstr>
      <vt:lpstr>DRAM Tutorial</vt:lpstr>
      <vt:lpstr>DRAM tutorial</vt:lpstr>
      <vt:lpstr>DRAM tutorial</vt:lpstr>
      <vt:lpstr>Avalon Memory-Mapped Protocol</vt:lpstr>
      <vt:lpstr>External Memory Interface IP</vt:lpstr>
      <vt:lpstr>PowerPoint 簡報</vt:lpstr>
      <vt:lpstr>Avalon MM-Master </vt:lpstr>
      <vt:lpstr>PowerPoint 簡報</vt:lpstr>
      <vt:lpstr>PowerPoint 簡報</vt:lpstr>
      <vt:lpstr>Avalon MM Basic Signals</vt:lpstr>
      <vt:lpstr>Avalon MM Basic Waveform – Read No wait</vt:lpstr>
      <vt:lpstr>Avalon MM Basic Waveform – Read Wait</vt:lpstr>
      <vt:lpstr>Basic Avalon MM Operation in the Example</vt:lpstr>
      <vt:lpstr>Avalon MM Basic Waveform – Write No wait</vt:lpstr>
      <vt:lpstr>Avalon MM Basic Waveform – Write wait</vt:lpstr>
      <vt:lpstr>Basic Avalon MM Operation in the example</vt:lpstr>
      <vt:lpstr>Avalon MM Slave Transfer Types</vt:lpstr>
      <vt:lpstr>Avalon Master – Pipelined</vt:lpstr>
      <vt:lpstr>Avalon Master – Write Burst</vt:lpstr>
      <vt:lpstr>Avalon Master – Read Burst</vt:lpstr>
      <vt:lpstr>DRAM tutorial</vt:lpstr>
      <vt:lpstr>Example Code</vt:lpstr>
      <vt:lpstr>Example Code Reproduce</vt:lpstr>
      <vt:lpstr>Example Code Reproduce</vt:lpstr>
      <vt:lpstr>Example Code Reproduce – Qsys tool</vt:lpstr>
      <vt:lpstr>Example Code Reproduce – You might occur</vt:lpstr>
      <vt:lpstr>Example Code Reproduce</vt:lpstr>
      <vt:lpstr>DRAM tutorial</vt:lpstr>
      <vt:lpstr>Quartus Project Settings</vt:lpstr>
      <vt:lpstr>DDR4 Qsys IP Design</vt:lpstr>
      <vt:lpstr>DDR4 Qsys IP Design</vt:lpstr>
      <vt:lpstr>Quartus Top Module</vt:lpstr>
      <vt:lpstr>SDC File</vt:lpstr>
      <vt:lpstr>Timing</vt:lpstr>
      <vt:lpstr>DRAM tutorial</vt:lpstr>
      <vt:lpstr>PowerPoint 簡報</vt:lpstr>
      <vt:lpstr>PowerPoint 簡報</vt:lpstr>
      <vt:lpstr>Memory IP Simulation Example Code</vt:lpstr>
      <vt:lpstr>RTL simulation with Qsys IP</vt:lpstr>
      <vt:lpstr>Appendix</vt:lpstr>
      <vt:lpstr>Appendix 1: Modifying PCIe Appendix 2: _CLK version </vt:lpstr>
      <vt:lpstr>Modifying the PCIE</vt:lpstr>
      <vt:lpstr>Modifying the PCIe on the Qsys</vt:lpstr>
      <vt:lpstr>Changing PCIe generation</vt:lpstr>
      <vt:lpstr>Changing width</vt:lpstr>
      <vt:lpstr>Changing number of lanes</vt:lpstr>
      <vt:lpstr>Appendix 1: Modifying PCIe Appendix 2: _CLK version </vt:lpstr>
      <vt:lpstr>DE5QGen2x8If128_CLK</vt:lpstr>
      <vt:lpstr>Using _CLK version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RIFFA 2.2.2 for dummy</dc:title>
  <dc:creator>Jeff</dc:creator>
  <cp:lastModifiedBy>User</cp:lastModifiedBy>
  <cp:revision>108</cp:revision>
  <dcterms:created xsi:type="dcterms:W3CDTF">2018-10-28T09:48:40Z</dcterms:created>
  <dcterms:modified xsi:type="dcterms:W3CDTF">2025-08-01T03:44:38Z</dcterms:modified>
</cp:coreProperties>
</file>